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drawing3.xml" ContentType="application/vnd.ms-office.drawingml.diagramDrawing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28" r:id="rId2"/>
    <p:sldId id="306" r:id="rId3"/>
    <p:sldId id="307" r:id="rId4"/>
    <p:sldId id="308" r:id="rId5"/>
    <p:sldId id="329" r:id="rId6"/>
    <p:sldId id="332" r:id="rId7"/>
    <p:sldId id="338" r:id="rId17"/>
    <p:sldId id="339" r:id="rId18"/>
    <p:sldId id="333" r:id="rId8"/>
    <p:sldId id="335" r:id="rId9"/>
    <p:sldId id="337" r:id="rId10"/>
    <p:sldId id="30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C208"/>
    <a:srgbClr val="FFCC00"/>
    <a:srgbClr val="F8ED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Fixed pipeline</c:v>
                </c:pt>
              </c:strCache>
            </c:strRef>
          </c:tx>
          <c:spPr>
            <a:solidFill>
              <a:srgbClr val="A6B4C0"/>
            </a:solidFill>
          </c:spPr>
          <c:cat>
            <c:strRef>
              <c:f>Sheet1!$A$2:$A$4</c:f>
              <c:strCache>
                <c:ptCount val="3"/>
                <c:pt idx="0">
                  <c:v>Seconds / scan</c:v>
                </c:pt>
                <c:pt idx="1">
                  <c:v>Modules / scan</c:v>
                </c:pt>
                <c:pt idx="2">
                  <c:v>Model calls ÷ 10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3.2</c:v>
                </c:pt>
                <c:pt idx="1">
                  <c:v>3.5</c:v>
                </c:pt>
                <c:pt idx="2">
                  <c:v>1.76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Adaptive routing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Sheet1!$A$2:$A$4</c:f>
              <c:strCache>
                <c:ptCount val="3"/>
                <c:pt idx="0">
                  <c:v>Seconds / scan</c:v>
                </c:pt>
                <c:pt idx="1">
                  <c:v>Modules / scan</c:v>
                </c:pt>
                <c:pt idx="2">
                  <c:v>Model calls ÷ 10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1.6</c:v>
                </c:pt>
                <c:pt idx="1">
                  <c:v>0.88</c:v>
                </c:pt>
                <c:pt idx="2">
                  <c:v>0.44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C13D67-FB7B-46B8-A9F8-8950376A6C11}">
      <dsp:nvSpPr>
        <dsp:cNvPr id="0" name=""/>
        <dsp:cNvSpPr/>
      </dsp:nvSpPr>
      <dsp:spPr>
        <a:xfrm>
          <a:off x="1236334" y="1471"/>
          <a:ext cx="1327500" cy="5571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900" b="1" kern="1200"/>
            <a:t>Python </a:t>
          </a:r>
          <a:endParaRPr lang="en-IN" sz="2900" kern="1200"/>
        </a:p>
      </dsp:txBody>
      <dsp:txXfrm>
        <a:off x="1236334" y="1471"/>
        <a:ext cx="1327500" cy="557196"/>
      </dsp:txXfrm>
    </dsp:sp>
    <dsp:sp modelId="{A061CA51-1B4E-4F27-973E-5870DA556E1C}">
      <dsp:nvSpPr>
        <dsp:cNvPr id="0" name=""/>
        <dsp:cNvSpPr/>
      </dsp:nvSpPr>
      <dsp:spPr>
        <a:xfrm>
          <a:off x="1157584" y="586528"/>
          <a:ext cx="1485000" cy="5571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900" b="1" kern="1200"/>
            <a:t>PyTorch </a:t>
          </a:r>
          <a:endParaRPr lang="en-IN" sz="2900" kern="1200"/>
        </a:p>
      </dsp:txBody>
      <dsp:txXfrm>
        <a:off x="1157584" y="586528"/>
        <a:ext cx="1485000" cy="557196"/>
      </dsp:txXfrm>
    </dsp:sp>
    <dsp:sp modelId="{B04807EC-975A-4F6D-93B7-6FF9A407A17F}">
      <dsp:nvSpPr>
        <dsp:cNvPr id="0" name=""/>
        <dsp:cNvSpPr/>
      </dsp:nvSpPr>
      <dsp:spPr>
        <a:xfrm>
          <a:off x="1112584" y="1171584"/>
          <a:ext cx="1575000" cy="5571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900" b="1" kern="1200"/>
            <a:t>OpenCV </a:t>
          </a:r>
          <a:endParaRPr lang="en-IN" sz="2900" kern="1200"/>
        </a:p>
      </dsp:txBody>
      <dsp:txXfrm>
        <a:off x="1112584" y="1171584"/>
        <a:ext cx="1575000" cy="557196"/>
      </dsp:txXfrm>
    </dsp:sp>
    <dsp:sp modelId="{763C83AF-C78A-4DF5-AF43-3CD62CC2C3CC}">
      <dsp:nvSpPr>
        <dsp:cNvPr id="0" name=""/>
        <dsp:cNvSpPr/>
      </dsp:nvSpPr>
      <dsp:spPr>
        <a:xfrm>
          <a:off x="1180084" y="1756641"/>
          <a:ext cx="1440000" cy="5571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900" b="1" kern="1200"/>
            <a:t>FastAPI </a:t>
          </a:r>
          <a:endParaRPr lang="en-IN" sz="2900" kern="1200"/>
        </a:p>
      </dsp:txBody>
      <dsp:txXfrm>
        <a:off x="1180084" y="1756641"/>
        <a:ext cx="1440000" cy="557196"/>
      </dsp:txXfrm>
    </dsp:sp>
    <dsp:sp modelId="{EB4FAA8F-7ACB-42F8-BE4B-A51640E6B499}">
      <dsp:nvSpPr>
        <dsp:cNvPr id="0" name=""/>
        <dsp:cNvSpPr/>
      </dsp:nvSpPr>
      <dsp:spPr>
        <a:xfrm>
          <a:off x="44078" y="2341698"/>
          <a:ext cx="3712011" cy="5571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900" b="1" kern="1200" dirty="0"/>
            <a:t>Medical Vision Model </a:t>
          </a:r>
          <a:endParaRPr lang="en-IN" sz="2900" kern="1200" dirty="0"/>
        </a:p>
      </dsp:txBody>
      <dsp:txXfrm>
        <a:off x="44078" y="2341698"/>
        <a:ext cx="3712011" cy="557196"/>
      </dsp:txXfrm>
    </dsp:sp>
    <dsp:sp modelId="{9FBFD6B4-0E43-46F4-A001-437C490824A0}">
      <dsp:nvSpPr>
        <dsp:cNvPr id="0" name=""/>
        <dsp:cNvSpPr/>
      </dsp:nvSpPr>
      <dsp:spPr>
        <a:xfrm>
          <a:off x="1461334" y="2926754"/>
          <a:ext cx="877500" cy="5571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900" b="1" kern="1200"/>
            <a:t>RAG </a:t>
          </a:r>
          <a:endParaRPr lang="en-IN" sz="2900" kern="1200"/>
        </a:p>
      </dsp:txBody>
      <dsp:txXfrm>
        <a:off x="1461334" y="2926754"/>
        <a:ext cx="877500" cy="557196"/>
      </dsp:txXfrm>
    </dsp:sp>
    <dsp:sp modelId="{6061054B-C5F4-4B0D-8D12-1BF52687F8ED}">
      <dsp:nvSpPr>
        <dsp:cNvPr id="0" name=""/>
        <dsp:cNvSpPr/>
      </dsp:nvSpPr>
      <dsp:spPr>
        <a:xfrm>
          <a:off x="1483834" y="3511811"/>
          <a:ext cx="832500" cy="5571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900" b="1" kern="1200"/>
            <a:t>LLM </a:t>
          </a:r>
          <a:endParaRPr lang="en-IN" sz="2900" kern="1200"/>
        </a:p>
      </dsp:txBody>
      <dsp:txXfrm>
        <a:off x="1483834" y="3511811"/>
        <a:ext cx="832500" cy="557196"/>
      </dsp:txXfrm>
    </dsp:sp>
    <dsp:sp modelId="{4DEA881E-0944-4BD0-9972-4F2B2F0E7C58}">
      <dsp:nvSpPr>
        <dsp:cNvPr id="0" name=""/>
        <dsp:cNvSpPr/>
      </dsp:nvSpPr>
      <dsp:spPr>
        <a:xfrm>
          <a:off x="1337584" y="4096868"/>
          <a:ext cx="1125000" cy="5571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900" b="1" kern="1200"/>
            <a:t>React </a:t>
          </a:r>
          <a:endParaRPr lang="en-IN" sz="2900" kern="1200"/>
        </a:p>
      </dsp:txBody>
      <dsp:txXfrm>
        <a:off x="1337584" y="4096868"/>
        <a:ext cx="1125000" cy="557196"/>
      </dsp:txXfrm>
    </dsp:sp>
    <dsp:sp modelId="{2CFCA415-584B-439C-A42B-6BFDADACADAC}">
      <dsp:nvSpPr>
        <dsp:cNvPr id="0" name=""/>
        <dsp:cNvSpPr/>
      </dsp:nvSpPr>
      <dsp:spPr>
        <a:xfrm>
          <a:off x="842584" y="4681924"/>
          <a:ext cx="2115000" cy="5571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381000" contourW="38100" prstMaterial="matte">
          <a:contourClr>
            <a:schemeClr val="lt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900" b="1" kern="1200"/>
            <a:t>PostgreSQL</a:t>
          </a:r>
          <a:endParaRPr lang="en-IN" sz="2900" kern="1200"/>
        </a:p>
      </dsp:txBody>
      <dsp:txXfrm>
        <a:off x="842584" y="4681924"/>
        <a:ext cx="2115000" cy="55719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921850-60B8-4456-98F7-CD7851152A5D}">
      <dsp:nvSpPr>
        <dsp:cNvPr id="0" name=""/>
        <dsp:cNvSpPr/>
      </dsp:nvSpPr>
      <dsp:spPr>
        <a:xfrm>
          <a:off x="0" y="5509643"/>
          <a:ext cx="7303484" cy="0"/>
        </a:xfrm>
        <a:prstGeom prst="line">
          <a:avLst/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F3ABCDD-B702-49F6-84F8-9A627EE0571B}">
      <dsp:nvSpPr>
        <dsp:cNvPr id="0" name=""/>
        <dsp:cNvSpPr/>
      </dsp:nvSpPr>
      <dsp:spPr>
        <a:xfrm>
          <a:off x="0" y="4817229"/>
          <a:ext cx="7303484" cy="0"/>
        </a:xfrm>
        <a:prstGeom prst="line">
          <a:avLst/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A721A74-5EC6-420E-9B6A-58B30AD74E67}">
      <dsp:nvSpPr>
        <dsp:cNvPr id="0" name=""/>
        <dsp:cNvSpPr/>
      </dsp:nvSpPr>
      <dsp:spPr>
        <a:xfrm>
          <a:off x="0" y="4124815"/>
          <a:ext cx="7303484" cy="0"/>
        </a:xfrm>
        <a:prstGeom prst="line">
          <a:avLst/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98A1F25-8954-4D5F-8619-63E8886B2835}">
      <dsp:nvSpPr>
        <dsp:cNvPr id="0" name=""/>
        <dsp:cNvSpPr/>
      </dsp:nvSpPr>
      <dsp:spPr>
        <a:xfrm>
          <a:off x="0" y="3432401"/>
          <a:ext cx="7303484" cy="0"/>
        </a:xfrm>
        <a:prstGeom prst="line">
          <a:avLst/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A510649-6292-4642-BF18-212ED03D63DF}">
      <dsp:nvSpPr>
        <dsp:cNvPr id="0" name=""/>
        <dsp:cNvSpPr/>
      </dsp:nvSpPr>
      <dsp:spPr>
        <a:xfrm>
          <a:off x="0" y="2739987"/>
          <a:ext cx="7303484" cy="0"/>
        </a:xfrm>
        <a:prstGeom prst="line">
          <a:avLst/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A8673E1-70E7-4304-8FEF-8DC464E074CA}">
      <dsp:nvSpPr>
        <dsp:cNvPr id="0" name=""/>
        <dsp:cNvSpPr/>
      </dsp:nvSpPr>
      <dsp:spPr>
        <a:xfrm>
          <a:off x="0" y="2047573"/>
          <a:ext cx="7303484" cy="0"/>
        </a:xfrm>
        <a:prstGeom prst="line">
          <a:avLst/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5D3A9A2-7076-404C-8340-6DF02A83F682}">
      <dsp:nvSpPr>
        <dsp:cNvPr id="0" name=""/>
        <dsp:cNvSpPr/>
      </dsp:nvSpPr>
      <dsp:spPr>
        <a:xfrm>
          <a:off x="0" y="1355159"/>
          <a:ext cx="7303484" cy="0"/>
        </a:xfrm>
        <a:prstGeom prst="line">
          <a:avLst/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9FAA65A-294C-4309-9D90-A9BA05DBADAE}">
      <dsp:nvSpPr>
        <dsp:cNvPr id="0" name=""/>
        <dsp:cNvSpPr/>
      </dsp:nvSpPr>
      <dsp:spPr>
        <a:xfrm>
          <a:off x="0" y="662745"/>
          <a:ext cx="7303484" cy="0"/>
        </a:xfrm>
        <a:prstGeom prst="line">
          <a:avLst/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80BB44-9316-4BA3-A035-C97CF0E82E85}">
      <dsp:nvSpPr>
        <dsp:cNvPr id="0" name=""/>
        <dsp:cNvSpPr/>
      </dsp:nvSpPr>
      <dsp:spPr>
        <a:xfrm>
          <a:off x="1898905" y="3303"/>
          <a:ext cx="5404578" cy="6594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28575" rIns="28575" bIns="28575" numCol="1" spcCol="1270" anchor="b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Resize, normalize and prepare chest X-rays.</a:t>
          </a:r>
        </a:p>
      </dsp:txBody>
      <dsp:txXfrm>
        <a:off x="1898905" y="3303"/>
        <a:ext cx="5404578" cy="659441"/>
      </dsp:txXfrm>
    </dsp:sp>
    <dsp:sp modelId="{5E84AA05-EF61-42BC-BD28-8BCF1C70DFF8}">
      <dsp:nvSpPr>
        <dsp:cNvPr id="0" name=""/>
        <dsp:cNvSpPr/>
      </dsp:nvSpPr>
      <dsp:spPr>
        <a:xfrm>
          <a:off x="0" y="3303"/>
          <a:ext cx="1898905" cy="659441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575" tIns="28575" rIns="28575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/>
            <a:t>1. Image Preprocessing</a:t>
          </a:r>
          <a:endParaRPr lang="en-IN" sz="1500" kern="1200"/>
        </a:p>
      </dsp:txBody>
      <dsp:txXfrm>
        <a:off x="32197" y="35500"/>
        <a:ext cx="1834511" cy="627244"/>
      </dsp:txXfrm>
    </dsp:sp>
    <dsp:sp modelId="{092CC0B8-C4A4-442F-B3D9-BB5078933622}">
      <dsp:nvSpPr>
        <dsp:cNvPr id="0" name=""/>
        <dsp:cNvSpPr/>
      </dsp:nvSpPr>
      <dsp:spPr>
        <a:xfrm>
          <a:off x="1898905" y="695717"/>
          <a:ext cx="5404578" cy="6594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28575" rIns="28575" bIns="28575" numCol="1" spcCol="1270" anchor="b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Detect blur, artifacts, poor contrast and positioning issues.</a:t>
          </a:r>
        </a:p>
      </dsp:txBody>
      <dsp:txXfrm>
        <a:off x="1898905" y="695717"/>
        <a:ext cx="5404578" cy="659441"/>
      </dsp:txXfrm>
    </dsp:sp>
    <dsp:sp modelId="{C0B27E91-DB5E-4901-A790-12FE7F659B06}">
      <dsp:nvSpPr>
        <dsp:cNvPr id="0" name=""/>
        <dsp:cNvSpPr/>
      </dsp:nvSpPr>
      <dsp:spPr>
        <a:xfrm>
          <a:off x="0" y="695717"/>
          <a:ext cx="1898905" cy="659441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575" tIns="28575" rIns="28575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/>
            <a:t>2. Scan Quality Assessment</a:t>
          </a:r>
          <a:endParaRPr lang="en-IN" sz="1500" kern="1200"/>
        </a:p>
      </dsp:txBody>
      <dsp:txXfrm>
        <a:off x="32197" y="727914"/>
        <a:ext cx="1834511" cy="627244"/>
      </dsp:txXfrm>
    </dsp:sp>
    <dsp:sp modelId="{8402763E-02F9-4E93-922C-5673A9CCD49C}">
      <dsp:nvSpPr>
        <dsp:cNvPr id="0" name=""/>
        <dsp:cNvSpPr/>
      </dsp:nvSpPr>
      <dsp:spPr>
        <a:xfrm>
          <a:off x="1898905" y="1388131"/>
          <a:ext cx="5404578" cy="6594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28575" rIns="28575" bIns="28575" numCol="1" spcCol="1270" anchor="b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Perform fast preliminary abnormality detection.</a:t>
          </a:r>
        </a:p>
      </dsp:txBody>
      <dsp:txXfrm>
        <a:off x="1898905" y="1388131"/>
        <a:ext cx="5404578" cy="659441"/>
      </dsp:txXfrm>
    </dsp:sp>
    <dsp:sp modelId="{D1DC31D9-374B-4A84-91A2-EC5D75F8A248}">
      <dsp:nvSpPr>
        <dsp:cNvPr id="0" name=""/>
        <dsp:cNvSpPr/>
      </dsp:nvSpPr>
      <dsp:spPr>
        <a:xfrm>
          <a:off x="0" y="1388131"/>
          <a:ext cx="1898905" cy="659441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575" tIns="28575" rIns="28575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/>
            <a:t>3. Initial Screening</a:t>
          </a:r>
          <a:endParaRPr lang="en-IN" sz="1500" kern="1200"/>
        </a:p>
      </dsp:txBody>
      <dsp:txXfrm>
        <a:off x="32197" y="1420328"/>
        <a:ext cx="1834511" cy="627244"/>
      </dsp:txXfrm>
    </dsp:sp>
    <dsp:sp modelId="{3F3A3054-2963-4765-A22E-26AD7A491F4E}">
      <dsp:nvSpPr>
        <dsp:cNvPr id="0" name=""/>
        <dsp:cNvSpPr/>
      </dsp:nvSpPr>
      <dsp:spPr>
        <a:xfrm>
          <a:off x="1898905" y="2080545"/>
          <a:ext cx="5404578" cy="6594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28575" rIns="28575" bIns="28575" numCol="1" spcCol="1270" anchor="b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Determine which specialist analysis modules are required.</a:t>
          </a:r>
        </a:p>
      </dsp:txBody>
      <dsp:txXfrm>
        <a:off x="1898905" y="2080545"/>
        <a:ext cx="5404578" cy="659441"/>
      </dsp:txXfrm>
    </dsp:sp>
    <dsp:sp modelId="{1B777D33-21BF-49CD-A934-E09BC948D98D}">
      <dsp:nvSpPr>
        <dsp:cNvPr id="0" name=""/>
        <dsp:cNvSpPr/>
      </dsp:nvSpPr>
      <dsp:spPr>
        <a:xfrm>
          <a:off x="0" y="2080545"/>
          <a:ext cx="1898905" cy="659441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575" tIns="28575" rIns="28575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/>
            <a:t>4. Adaptive Analysis Router</a:t>
          </a:r>
          <a:endParaRPr lang="en-IN" sz="1500" kern="1200"/>
        </a:p>
      </dsp:txBody>
      <dsp:txXfrm>
        <a:off x="32197" y="2112742"/>
        <a:ext cx="1834511" cy="627244"/>
      </dsp:txXfrm>
    </dsp:sp>
    <dsp:sp modelId="{922EC8B5-0BBE-4676-9318-874D7F3ABFA8}">
      <dsp:nvSpPr>
        <dsp:cNvPr id="0" name=""/>
        <dsp:cNvSpPr/>
      </dsp:nvSpPr>
      <dsp:spPr>
        <a:xfrm>
          <a:off x="1898905" y="2772959"/>
          <a:ext cx="5404578" cy="6594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28575" rIns="28575" bIns="28575" numCol="1" spcCol="1270" anchor="b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 dirty="0" err="1"/>
            <a:t>Analyze</a:t>
          </a:r>
          <a:r>
            <a:rPr lang="en-IN" sz="1500" kern="1200" dirty="0"/>
            <a:t> suspicious regions using relevant specialist models.</a:t>
          </a:r>
        </a:p>
      </dsp:txBody>
      <dsp:txXfrm>
        <a:off x="1898905" y="2772959"/>
        <a:ext cx="5404578" cy="659441"/>
      </dsp:txXfrm>
    </dsp:sp>
    <dsp:sp modelId="{2F7FE4AA-A40A-4CA5-A690-E7A346D98733}">
      <dsp:nvSpPr>
        <dsp:cNvPr id="0" name=""/>
        <dsp:cNvSpPr/>
      </dsp:nvSpPr>
      <dsp:spPr>
        <a:xfrm>
          <a:off x="0" y="2772959"/>
          <a:ext cx="1898905" cy="659441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575" tIns="28575" rIns="28575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/>
            <a:t>5. Region-Specific Analysis</a:t>
          </a:r>
          <a:endParaRPr lang="en-IN" sz="1500" kern="1200"/>
        </a:p>
      </dsp:txBody>
      <dsp:txXfrm>
        <a:off x="32197" y="2805156"/>
        <a:ext cx="1834511" cy="627244"/>
      </dsp:txXfrm>
    </dsp:sp>
    <dsp:sp modelId="{00774E1D-557C-43D0-BBB9-E200D8D7BFA2}">
      <dsp:nvSpPr>
        <dsp:cNvPr id="0" name=""/>
        <dsp:cNvSpPr/>
      </dsp:nvSpPr>
      <dsp:spPr>
        <a:xfrm>
          <a:off x="1898905" y="3465373"/>
          <a:ext cx="5404578" cy="6594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28575" rIns="28575" bIns="28575" numCol="1" spcCol="1270" anchor="b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Estimate reliability and verify findings against medical evidence.</a:t>
          </a:r>
        </a:p>
      </dsp:txBody>
      <dsp:txXfrm>
        <a:off x="1898905" y="3465373"/>
        <a:ext cx="5404578" cy="659441"/>
      </dsp:txXfrm>
    </dsp:sp>
    <dsp:sp modelId="{826F6EF1-B5E5-43A8-B0C5-023E26146FBF}">
      <dsp:nvSpPr>
        <dsp:cNvPr id="0" name=""/>
        <dsp:cNvSpPr/>
      </dsp:nvSpPr>
      <dsp:spPr>
        <a:xfrm>
          <a:off x="0" y="3465373"/>
          <a:ext cx="1898905" cy="659441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575" tIns="28575" rIns="28575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/>
            <a:t>6. Confidence &amp; Verification</a:t>
          </a:r>
          <a:endParaRPr lang="en-IN" sz="1500" kern="1200"/>
        </a:p>
      </dsp:txBody>
      <dsp:txXfrm>
        <a:off x="32197" y="3497570"/>
        <a:ext cx="1834511" cy="627244"/>
      </dsp:txXfrm>
    </dsp:sp>
    <dsp:sp modelId="{6996300D-A757-4F77-AC5C-AC6A77858DA6}">
      <dsp:nvSpPr>
        <dsp:cNvPr id="0" name=""/>
        <dsp:cNvSpPr/>
      </dsp:nvSpPr>
      <dsp:spPr>
        <a:xfrm>
          <a:off x="1898905" y="4157787"/>
          <a:ext cx="5404578" cy="6594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28575" rIns="28575" bIns="28575" numCol="1" spcCol="1270" anchor="b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Generate an appropriate evidence-based explanation.</a:t>
          </a:r>
        </a:p>
      </dsp:txBody>
      <dsp:txXfrm>
        <a:off x="1898905" y="4157787"/>
        <a:ext cx="5404578" cy="659441"/>
      </dsp:txXfrm>
    </dsp:sp>
    <dsp:sp modelId="{CECA6B68-0272-46C4-BB06-03441EDF2D97}">
      <dsp:nvSpPr>
        <dsp:cNvPr id="0" name=""/>
        <dsp:cNvSpPr/>
      </dsp:nvSpPr>
      <dsp:spPr>
        <a:xfrm>
          <a:off x="0" y="4157787"/>
          <a:ext cx="1898905" cy="659441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575" tIns="28575" rIns="28575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/>
            <a:t>7. Adaptive Explanation</a:t>
          </a:r>
          <a:endParaRPr lang="en-IN" sz="1500" kern="1200"/>
        </a:p>
      </dsp:txBody>
      <dsp:txXfrm>
        <a:off x="32197" y="4189984"/>
        <a:ext cx="1834511" cy="627244"/>
      </dsp:txXfrm>
    </dsp:sp>
    <dsp:sp modelId="{C8D1FF76-ACE0-4C6D-919E-DE53D4F395CE}">
      <dsp:nvSpPr>
        <dsp:cNvPr id="0" name=""/>
        <dsp:cNvSpPr/>
      </dsp:nvSpPr>
      <dsp:spPr>
        <a:xfrm>
          <a:off x="1898905" y="4850201"/>
          <a:ext cx="5404578" cy="6594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28575" rIns="28575" bIns="28575" numCol="1" spcCol="1270" anchor="b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Accept / Correct / Reject / Question → store feedback.</a:t>
          </a:r>
        </a:p>
      </dsp:txBody>
      <dsp:txXfrm>
        <a:off x="1898905" y="4850201"/>
        <a:ext cx="5404578" cy="659441"/>
      </dsp:txXfrm>
    </dsp:sp>
    <dsp:sp modelId="{0E51B2CB-8D65-4AE0-AACC-C264BF7B1475}">
      <dsp:nvSpPr>
        <dsp:cNvPr id="0" name=""/>
        <dsp:cNvSpPr/>
      </dsp:nvSpPr>
      <dsp:spPr>
        <a:xfrm>
          <a:off x="0" y="4850201"/>
          <a:ext cx="1898905" cy="659441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575" tIns="28575" rIns="28575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/>
            <a:t>8. Doctor Interaction &amp; Feedback</a:t>
          </a:r>
          <a:endParaRPr lang="en-IN" sz="1500" kern="1200"/>
        </a:p>
      </dsp:txBody>
      <dsp:txXfrm>
        <a:off x="32197" y="4882398"/>
        <a:ext cx="1834511" cy="62724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5335E3-78EE-410C-B2A9-32F99D963686}">
      <dsp:nvSpPr>
        <dsp:cNvPr id="0" name=""/>
        <dsp:cNvSpPr/>
      </dsp:nvSpPr>
      <dsp:spPr>
        <a:xfrm>
          <a:off x="0" y="390292"/>
          <a:ext cx="3483717" cy="209023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b="1" kern="1200"/>
            <a:t>Phase 1 — Data Preparation</a:t>
          </a:r>
          <a:endParaRPr lang="en-IN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/>
            <a:t>Collect and preprocess chest X-ray datasets.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/>
            <a:t>Perform image quality checks.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 dirty="0"/>
            <a:t>Split into training, validation and testing sets. </a:t>
          </a:r>
        </a:p>
      </dsp:txBody>
      <dsp:txXfrm>
        <a:off x="0" y="390292"/>
        <a:ext cx="3483717" cy="2090230"/>
      </dsp:txXfrm>
    </dsp:sp>
    <dsp:sp modelId="{5B7ED610-094E-4AB8-B089-3B4DC764F5AE}">
      <dsp:nvSpPr>
        <dsp:cNvPr id="0" name=""/>
        <dsp:cNvSpPr/>
      </dsp:nvSpPr>
      <dsp:spPr>
        <a:xfrm>
          <a:off x="3832089" y="390292"/>
          <a:ext cx="3483717" cy="209023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b="1" kern="1200" dirty="0"/>
            <a:t>Phase 2 — Initial AI Models</a:t>
          </a:r>
          <a:endParaRPr lang="en-IN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/>
            <a:t>Develop initial screening model.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 dirty="0"/>
            <a:t>Develop abnormality localization.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 dirty="0"/>
            <a:t>Develop specialist analysis modules. </a:t>
          </a:r>
        </a:p>
      </dsp:txBody>
      <dsp:txXfrm>
        <a:off x="3832089" y="390292"/>
        <a:ext cx="3483717" cy="2090230"/>
      </dsp:txXfrm>
    </dsp:sp>
    <dsp:sp modelId="{23649F54-C672-4449-8D0B-71D95C2C16A0}">
      <dsp:nvSpPr>
        <dsp:cNvPr id="0" name=""/>
        <dsp:cNvSpPr/>
      </dsp:nvSpPr>
      <dsp:spPr>
        <a:xfrm>
          <a:off x="7664179" y="390292"/>
          <a:ext cx="3483717" cy="209023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b="1" kern="1200"/>
            <a:t>Phase 3 — Adaptive Routing</a:t>
          </a:r>
          <a:endParaRPr lang="en-IN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/>
            <a:t>Develop routing logic.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/>
            <a:t>Route suspicious regions to relevant specialist models.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 dirty="0"/>
            <a:t>Implement progressive analysis.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 dirty="0"/>
            <a:t>Add confidence and uncertainty estimation. </a:t>
          </a:r>
        </a:p>
      </dsp:txBody>
      <dsp:txXfrm>
        <a:off x="7664179" y="390292"/>
        <a:ext cx="3483717" cy="2090230"/>
      </dsp:txXfrm>
    </dsp:sp>
    <dsp:sp modelId="{1C58E14E-1B99-494A-B04E-5E8C9FA8C142}">
      <dsp:nvSpPr>
        <dsp:cNvPr id="0" name=""/>
        <dsp:cNvSpPr/>
      </dsp:nvSpPr>
      <dsp:spPr>
        <a:xfrm>
          <a:off x="1916044" y="2828895"/>
          <a:ext cx="3483717" cy="209023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b="1" kern="1200"/>
            <a:t>Phase 4 — Evidence &amp; Doctor Interface</a:t>
          </a:r>
          <a:endParaRPr lang="en-IN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/>
            <a:t>Integrate Medical RAG.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 dirty="0"/>
            <a:t>Generate structured explanations.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/>
            <a:t>Display findings and evidence.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 dirty="0"/>
            <a:t>Add Accept / Correct / Reject / Question. </a:t>
          </a:r>
        </a:p>
      </dsp:txBody>
      <dsp:txXfrm>
        <a:off x="1916044" y="2828895"/>
        <a:ext cx="3483717" cy="2090230"/>
      </dsp:txXfrm>
    </dsp:sp>
    <dsp:sp modelId="{13A1695A-762C-48BB-828A-517A652CA790}">
      <dsp:nvSpPr>
        <dsp:cNvPr id="0" name=""/>
        <dsp:cNvSpPr/>
      </dsp:nvSpPr>
      <dsp:spPr>
        <a:xfrm>
          <a:off x="5748134" y="2828895"/>
          <a:ext cx="3483717" cy="209023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b="1" kern="1200"/>
            <a:t>Phase 5 — Evaluation</a:t>
          </a:r>
          <a:endParaRPr lang="en-IN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 dirty="0"/>
            <a:t>Detection performance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/>
            <a:t>Inference time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 dirty="0"/>
            <a:t>Computational usage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/>
            <a:t>Number of activated models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1700" kern="1200" dirty="0"/>
            <a:t>Doctor decision time</a:t>
          </a:r>
        </a:p>
      </dsp:txBody>
      <dsp:txXfrm>
        <a:off x="5748134" y="2828895"/>
        <a:ext cx="3483717" cy="2090230"/>
      </dsp:txXfrm>
    </dsp:sp>
  </dsp:spTree>
</dsp:drawing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CE6CC3-1C13-434A-B16C-611DE7717B8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DFC361-C30A-4AED-87EA-348118094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612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6B5317-EDBC-4155-87F5-41E4E6A99DE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57074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svg"/><Relationship Id="rId4" Type="http://schemas.openxmlformats.org/officeDocument/2006/relationships/image" Target="../media/image3.svg"/><Relationship Id="rId5" Type="http://schemas.openxmlformats.org/officeDocument/2006/relationships/image" Target="../media/image4.svg"/><Relationship Id="rId6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svg"/><Relationship Id="rId4" Type="http://schemas.openxmlformats.org/officeDocument/2006/relationships/image" Target="../media/image3.svg"/><Relationship Id="rId5" Type="http://schemas.openxmlformats.org/officeDocument/2006/relationships/image" Target="../media/image4.svg"/><Relationship Id="rId6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50CA7-A890-BC0D-44BD-6B67203AF5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460673-A9B5-CD59-A2CC-8CE741C00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8539D-0687-ECBB-AB5D-8333E209A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22A25-8408-4B8D-A5AD-AF80CE80425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A8B5B-FB28-D786-CEFE-858812BAA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CA0ED6-3AED-6780-A6EA-61F241528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AD56AB-075C-42DA-8EAB-2A4FF705D1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711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4D321-EB8C-729D-0253-F4E3C8F5C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30355-1EE0-AF69-47F6-F837F4F8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81C7C-CF50-7E3E-7E0C-DF9A69033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22A25-8408-4B8D-A5AD-AF80CE80425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60F1B-6B0E-147F-215A-C9B254A8B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E8893F-4366-960F-C73C-DDC2C4006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AD56AB-075C-42DA-8EAB-2A4FF705D1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95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46D75-85FB-CDE1-1B84-E9E5B8D00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F3298C-27DD-C096-4478-25DF24C0F0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0874E-01BA-1CC2-5F91-D59931A57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22A25-8408-4B8D-A5AD-AF80CE80425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9E3461-7CC9-5C4D-D52B-CB6135E10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85F49F-0795-810B-0D65-7F3A6B61B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AD56AB-075C-42DA-8EAB-2A4FF705D1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329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B9051-D728-0416-EF18-F1AFF5703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8AB7F-8BAC-CA5F-30EF-42EE15E7CB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3FD7A1-C203-AABE-B3A9-0EC136AAAB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4C789F-5C09-60FC-845F-120D1E826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22A25-8408-4B8D-A5AD-AF80CE80425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E28DE-CA84-F3D0-016B-08EBD6091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04570-A6D0-6370-8DE6-0BB990FF7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AD56AB-075C-42DA-8EAB-2A4FF705D1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229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781FB-A93A-55EC-66D7-EE1D1A603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B519B-B0A9-4153-41C7-F9310E7C5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D47EE0-0554-2821-1927-EA19BAF8E6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F83B81-0569-670C-C8B7-E8C8FD1B86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00CD65-0B66-1D2E-42A2-93E1F6986F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57E581-777D-A463-C1F3-3C3C3311C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22A25-8408-4B8D-A5AD-AF80CE80425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DE5D0B-1EBE-FEF9-281B-906803BA6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20F2EF-F2BD-1114-956A-8C78686FB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AD56AB-075C-42DA-8EAB-2A4FF705D1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427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3506D-7DFA-1FF6-D289-D51E40863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36DDFE-5DA6-6C22-95FC-2139A935F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22A25-8408-4B8D-A5AD-AF80CE80425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B5F9EF-4D9D-3849-5342-0407D8C9D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3C0037-8991-E8DE-7049-C3CC3D1A1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AD56AB-075C-42DA-8EAB-2A4FF705D1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690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47F2DB-04C2-2550-E486-17334E41D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22A25-8408-4B8D-A5AD-AF80CE80425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73F6EF-6819-718F-4646-CB180D63F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BCEBC4-1A6B-DE18-3898-48A9C2015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AD56AB-075C-42DA-8EAB-2A4FF705D1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123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7E121-8421-1BBD-CAC0-5C2153C3C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F94D5-17D3-3DBB-DC29-A6A623909B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458CB4-63AA-1512-81ED-1E428107D5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04019E-7C8E-1A7B-4E8B-876E32B31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22A25-8408-4B8D-A5AD-AF80CE80425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268578-C6E0-A3EB-32E1-926BEFDC9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2C4D59-BFE2-F51D-CCCB-2B42A3166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AD56AB-075C-42DA-8EAB-2A4FF705D1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8662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8E2D9-0DC6-4A0A-DB0D-046A88D55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89F085-DFDF-56E1-8BF0-411EF30103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670298-DFC2-BA3D-F01B-41710C02FA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C544E0-3D52-6379-9094-834A3D174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22A25-8408-4B8D-A5AD-AF80CE80425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5602E-D910-02D1-DCBB-11E8AA87C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98C61-02EC-04BE-173F-0B4A9B6BA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AD56AB-075C-42DA-8EAB-2A4FF705D1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0172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5AD4F-E9B4-64F0-D6DD-737D5AAD5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EB2408-D904-FD7E-5A8F-16D3CCC990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5EE91-BAB8-2F44-DBB2-F1328FE4E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22A25-8408-4B8D-A5AD-AF80CE80425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5E460-17EB-182E-5A42-901C31D7E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ABDEE-A22E-4E6C-99A7-507BD73C5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AD56AB-075C-42DA-8EAB-2A4FF705D1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411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72D89E-4B25-6904-9879-AED2AD5CE1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23D1BA-49F1-B86E-C66F-0B8F8450F3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85F90C-4701-C192-642D-AAF932702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22A25-8408-4B8D-A5AD-AF80CE80425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CC239-6BC6-FBE7-B3A1-98BBB1195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2D777-7D7B-6587-E463-04473396F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AD56AB-075C-42DA-8EAB-2A4FF705D1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643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748CF3F-C310-A798-3FC5-A1091EC24F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020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6440974-A0F0-F14F-D260-E09DA671DC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2412" r="2103"/>
          <a:stretch/>
        </p:blipFill>
        <p:spPr>
          <a:xfrm flipH="1">
            <a:off x="1133473" y="657276"/>
            <a:ext cx="11058523" cy="6200724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1A0F37DD-1BE1-1AE7-5545-AEDAA9BD32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273" y="334878"/>
            <a:ext cx="3276600" cy="4914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1F3F5F4-3820-5854-232F-CF1E10F6076E}"/>
              </a:ext>
            </a:extLst>
          </p:cNvPr>
          <p:cNvSpPr/>
          <p:nvPr userDrawn="1"/>
        </p:nvSpPr>
        <p:spPr>
          <a:xfrm>
            <a:off x="0" y="5356860"/>
            <a:ext cx="6316980" cy="1501139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87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7ABC60-1015-CA7D-6165-EAB4CE2A7F00}"/>
              </a:ext>
            </a:extLst>
          </p:cNvPr>
          <p:cNvGrpSpPr/>
          <p:nvPr userDrawn="1"/>
        </p:nvGrpSpPr>
        <p:grpSpPr>
          <a:xfrm>
            <a:off x="445174" y="2002465"/>
            <a:ext cx="3741293" cy="2851865"/>
            <a:chOff x="435649" y="2002465"/>
            <a:chExt cx="3741293" cy="285186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D3AC36E-B320-78DD-E691-BE855821E7FE}"/>
                </a:ext>
              </a:extLst>
            </p:cNvPr>
            <p:cNvSpPr txBox="1"/>
            <p:nvPr userDrawn="1"/>
          </p:nvSpPr>
          <p:spPr>
            <a:xfrm>
              <a:off x="2111803" y="2805752"/>
              <a:ext cx="2065139" cy="12464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IN" sz="2500" dirty="0">
                  <a:solidFill>
                    <a:schemeClr val="bg1"/>
                  </a:solidFill>
                </a:rPr>
                <a:t>Purposeful. </a:t>
              </a:r>
            </a:p>
            <a:p>
              <a:r>
                <a:rPr lang="en-IN" sz="2500" dirty="0">
                  <a:solidFill>
                    <a:schemeClr val="bg1"/>
                  </a:solidFill>
                </a:rPr>
                <a:t>Agile.</a:t>
              </a:r>
            </a:p>
            <a:p>
              <a:r>
                <a:rPr lang="en-IN" sz="2500" dirty="0">
                  <a:solidFill>
                    <a:schemeClr val="bg1"/>
                  </a:solidFill>
                </a:rPr>
                <a:t>Innovation.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F5173B0F-EFDF-09D6-E856-07569D6567B1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p:blipFill>
          <p:spPr>
            <a:xfrm>
              <a:off x="435649" y="2002465"/>
              <a:ext cx="3074351" cy="2851865"/>
            </a:xfrm>
            <a:custGeom>
              <a:avLst/>
              <a:gdLst>
                <a:gd name="connsiteX0" fmla="*/ 0 w 3074351"/>
                <a:gd name="connsiteY0" fmla="*/ 0 h 2851865"/>
                <a:gd name="connsiteX1" fmla="*/ 3074351 w 3074351"/>
                <a:gd name="connsiteY1" fmla="*/ 0 h 2851865"/>
                <a:gd name="connsiteX2" fmla="*/ 3074351 w 3074351"/>
                <a:gd name="connsiteY2" fmla="*/ 883610 h 2851865"/>
                <a:gd name="connsiteX3" fmla="*/ 1603216 w 3074351"/>
                <a:gd name="connsiteY3" fmla="*/ 883610 h 2851865"/>
                <a:gd name="connsiteX4" fmla="*/ 1603216 w 3074351"/>
                <a:gd name="connsiteY4" fmla="*/ 2030732 h 2851865"/>
                <a:gd name="connsiteX5" fmla="*/ 3074351 w 3074351"/>
                <a:gd name="connsiteY5" fmla="*/ 2030732 h 2851865"/>
                <a:gd name="connsiteX6" fmla="*/ 3074351 w 3074351"/>
                <a:gd name="connsiteY6" fmla="*/ 2851865 h 2851865"/>
                <a:gd name="connsiteX7" fmla="*/ 0 w 3074351"/>
                <a:gd name="connsiteY7" fmla="*/ 2851865 h 2851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74351" h="2851865">
                  <a:moveTo>
                    <a:pt x="0" y="0"/>
                  </a:moveTo>
                  <a:lnTo>
                    <a:pt x="3074351" y="0"/>
                  </a:lnTo>
                  <a:lnTo>
                    <a:pt x="3074351" y="883610"/>
                  </a:lnTo>
                  <a:lnTo>
                    <a:pt x="1603216" y="883610"/>
                  </a:lnTo>
                  <a:lnTo>
                    <a:pt x="1603216" y="2030732"/>
                  </a:lnTo>
                  <a:lnTo>
                    <a:pt x="3074351" y="2030732"/>
                  </a:lnTo>
                  <a:lnTo>
                    <a:pt x="3074351" y="2851865"/>
                  </a:lnTo>
                  <a:lnTo>
                    <a:pt x="0" y="2851865"/>
                  </a:lnTo>
                  <a:close/>
                </a:path>
              </a:pathLst>
            </a:custGeom>
          </p:spPr>
        </p:pic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1814E23E-283E-C440-5866-CADE5F53B92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85124" y="503024"/>
            <a:ext cx="2776539" cy="154252"/>
          </a:xfrm>
          <a:prstGeom prst="rect">
            <a:avLst/>
          </a:prstGeom>
        </p:spPr>
      </p:pic>
      <p:pic>
        <p:nvPicPr>
          <p:cNvPr id="8" name="Picture 7" descr="A black background with white text and yellow light bulb&#10;&#10;AI-generated content may be incorrect.">
            <a:extLst>
              <a:ext uri="{FF2B5EF4-FFF2-40B4-BE49-F238E27FC236}">
                <a16:creationId xmlns:a16="http://schemas.microsoft.com/office/drawing/2014/main" id="{C83B51A8-2F44-A251-020A-443601ABFB84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3" r="2375"/>
          <a:stretch/>
        </p:blipFill>
        <p:spPr>
          <a:xfrm>
            <a:off x="439273" y="5968064"/>
            <a:ext cx="1741620" cy="746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017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3BBF3F82-3C53-C5AA-C727-A678218BE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64000" y="243840"/>
            <a:ext cx="11270800" cy="546360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3200" b="1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en-US" dirty="0"/>
              <a:t>Click to edit title text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AF73541-B415-9FCA-5C11-836A8EFE11C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99379" y="1240151"/>
            <a:ext cx="11235421" cy="47339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2B1CFF-1E57-3907-DE1F-902FF92453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12008146" y="0"/>
            <a:ext cx="183854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7FB8498-7694-6564-5B20-A2BAE2DBB53F}"/>
              </a:ext>
            </a:extLst>
          </p:cNvPr>
          <p:cNvSpPr/>
          <p:nvPr userDrawn="1"/>
        </p:nvSpPr>
        <p:spPr>
          <a:xfrm>
            <a:off x="460600" y="830469"/>
            <a:ext cx="11270800" cy="36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058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_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748CF3F-C310-A798-3FC5-A1091EC24F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020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6440974-A0F0-F14F-D260-E09DA671DC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2412" r="2103"/>
          <a:stretch/>
        </p:blipFill>
        <p:spPr>
          <a:xfrm flipH="1">
            <a:off x="1133473" y="657276"/>
            <a:ext cx="11058523" cy="6200724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1A0F37DD-1BE1-1AE7-5545-AEDAA9BD32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273" y="334878"/>
            <a:ext cx="3276600" cy="4914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1F3F5F4-3820-5854-232F-CF1E10F6076E}"/>
              </a:ext>
            </a:extLst>
          </p:cNvPr>
          <p:cNvSpPr/>
          <p:nvPr userDrawn="1"/>
        </p:nvSpPr>
        <p:spPr>
          <a:xfrm>
            <a:off x="0" y="5356860"/>
            <a:ext cx="6316980" cy="1501139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87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D8F65E62-9E12-E8D7-865F-63444E099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94882" y="2772942"/>
            <a:ext cx="3340981" cy="132556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0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defRPr>
            </a:lvl1pPr>
          </a:lstStyle>
          <a:p>
            <a:r>
              <a:rPr lang="en-US" dirty="0"/>
              <a:t>Thank You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56F3D45-5EAC-4C21-F481-6DE499569FED}"/>
              </a:ext>
            </a:extLst>
          </p:cNvPr>
          <p:cNvGrpSpPr/>
          <p:nvPr userDrawn="1"/>
        </p:nvGrpSpPr>
        <p:grpSpPr>
          <a:xfrm>
            <a:off x="445174" y="2002465"/>
            <a:ext cx="3741293" cy="2851865"/>
            <a:chOff x="435649" y="2002465"/>
            <a:chExt cx="3741293" cy="285186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BBC4C9-BF64-FF98-1BA8-5D5E88D82874}"/>
                </a:ext>
              </a:extLst>
            </p:cNvPr>
            <p:cNvSpPr txBox="1"/>
            <p:nvPr userDrawn="1"/>
          </p:nvSpPr>
          <p:spPr>
            <a:xfrm>
              <a:off x="2111803" y="2805752"/>
              <a:ext cx="2065139" cy="12464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IN" sz="2500" dirty="0">
                  <a:solidFill>
                    <a:schemeClr val="bg1"/>
                  </a:solidFill>
                </a:rPr>
                <a:t>Purposeful. </a:t>
              </a:r>
            </a:p>
            <a:p>
              <a:r>
                <a:rPr lang="en-IN" sz="2500" dirty="0">
                  <a:solidFill>
                    <a:schemeClr val="bg1"/>
                  </a:solidFill>
                </a:rPr>
                <a:t>Agile.</a:t>
              </a:r>
            </a:p>
            <a:p>
              <a:r>
                <a:rPr lang="en-IN" sz="2500" dirty="0">
                  <a:solidFill>
                    <a:schemeClr val="bg1"/>
                  </a:solidFill>
                </a:rPr>
                <a:t>Innovation.</a:t>
              </a:r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F7F503BC-179B-60BB-18AE-1BF86005C2C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p:blipFill>
          <p:spPr>
            <a:xfrm>
              <a:off x="435649" y="2002465"/>
              <a:ext cx="3074351" cy="2851865"/>
            </a:xfrm>
            <a:custGeom>
              <a:avLst/>
              <a:gdLst>
                <a:gd name="connsiteX0" fmla="*/ 0 w 3074351"/>
                <a:gd name="connsiteY0" fmla="*/ 0 h 2851865"/>
                <a:gd name="connsiteX1" fmla="*/ 3074351 w 3074351"/>
                <a:gd name="connsiteY1" fmla="*/ 0 h 2851865"/>
                <a:gd name="connsiteX2" fmla="*/ 3074351 w 3074351"/>
                <a:gd name="connsiteY2" fmla="*/ 883610 h 2851865"/>
                <a:gd name="connsiteX3" fmla="*/ 1603216 w 3074351"/>
                <a:gd name="connsiteY3" fmla="*/ 883610 h 2851865"/>
                <a:gd name="connsiteX4" fmla="*/ 1603216 w 3074351"/>
                <a:gd name="connsiteY4" fmla="*/ 2030732 h 2851865"/>
                <a:gd name="connsiteX5" fmla="*/ 3074351 w 3074351"/>
                <a:gd name="connsiteY5" fmla="*/ 2030732 h 2851865"/>
                <a:gd name="connsiteX6" fmla="*/ 3074351 w 3074351"/>
                <a:gd name="connsiteY6" fmla="*/ 2851865 h 2851865"/>
                <a:gd name="connsiteX7" fmla="*/ 0 w 3074351"/>
                <a:gd name="connsiteY7" fmla="*/ 2851865 h 2851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74351" h="2851865">
                  <a:moveTo>
                    <a:pt x="0" y="0"/>
                  </a:moveTo>
                  <a:lnTo>
                    <a:pt x="3074351" y="0"/>
                  </a:lnTo>
                  <a:lnTo>
                    <a:pt x="3074351" y="883610"/>
                  </a:lnTo>
                  <a:lnTo>
                    <a:pt x="1603216" y="883610"/>
                  </a:lnTo>
                  <a:lnTo>
                    <a:pt x="1603216" y="2030732"/>
                  </a:lnTo>
                  <a:lnTo>
                    <a:pt x="3074351" y="2030732"/>
                  </a:lnTo>
                  <a:lnTo>
                    <a:pt x="3074351" y="2851865"/>
                  </a:lnTo>
                  <a:lnTo>
                    <a:pt x="0" y="2851865"/>
                  </a:lnTo>
                  <a:close/>
                </a:path>
              </a:pathLst>
            </a:custGeom>
          </p:spPr>
        </p:pic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AA79BA81-1C3F-8CAB-7C8C-8EF04F666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85124" y="503024"/>
            <a:ext cx="2776539" cy="154252"/>
          </a:xfrm>
          <a:prstGeom prst="rect">
            <a:avLst/>
          </a:prstGeom>
        </p:spPr>
      </p:pic>
      <p:pic>
        <p:nvPicPr>
          <p:cNvPr id="6" name="Picture 5" descr="A black background with white text and yellow light bulb&#10;&#10;AI-generated content may be incorrect.">
            <a:extLst>
              <a:ext uri="{FF2B5EF4-FFF2-40B4-BE49-F238E27FC236}">
                <a16:creationId xmlns:a16="http://schemas.microsoft.com/office/drawing/2014/main" id="{56FED5E7-28F6-C45A-E68F-B163B9DC208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3" r="2375"/>
          <a:stretch/>
        </p:blipFill>
        <p:spPr>
          <a:xfrm>
            <a:off x="439273" y="5968064"/>
            <a:ext cx="1741620" cy="746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5455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1833BA-8A81-3887-28F9-5475D6EB8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A9D88B-10A0-7400-39A5-A9C8C720D0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C59DB5-94B9-63B2-44EC-29DF79273C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B22A25-8408-4B8D-A5AD-AF80CE804250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FCF47-7EDF-52F6-A01D-69F25C1E1C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C8414-4408-8873-F0C7-6DE0754DD2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AD56AB-075C-42DA-8EAB-2A4FF705D1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336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7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Relationship Id="rId7" Type="http://schemas.microsoft.com/office/2007/relationships/diagramDrawing" Target="../diagrams/drawing1.xml"/><Relationship Id="rId12" Type="http://schemas.microsoft.com/office/2007/relationships/diagramDrawing" Target="../diagrams/drawing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Relationship Id="rId7" Type="http://schemas.microsoft.com/office/2007/relationships/diagramDrawing" Target="../diagrams/drawing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hyperlink" Target="https://stanfordmlgroup.github.io/competitions/chexpert/?utm_source=chatgpt.com" TargetMode="External"/><Relationship Id="rId3" Type="http://schemas.openxmlformats.org/officeDocument/2006/relationships/hyperlink" Target="https://pmc.ncbi.nlm.nih.gov/articles/PMC10831473/?utm_source=chatgpt.com" TargetMode="External"/><Relationship Id="rId4" Type="http://schemas.openxmlformats.org/officeDocument/2006/relationships/hyperlink" Target="https://pmc.ncbi.nlm.nih.gov/articles/PMC6861262/?utm_source=chatgpt.com" TargetMode="External"/><Relationship Id="rId5" Type="http://schemas.openxmlformats.org/officeDocument/2006/relationships/hyperlink" Target="https://pmc.ncbi.nlm.nih.gov/articles/PMC11605106/?utm_source=chatgpt.com" TargetMode="External"/><Relationship Id="rId6" Type="http://schemas.openxmlformats.org/officeDocument/2006/relationships/hyperlink" Target="https://pmc.ncbi.nlm.nih.gov/articles/PMC8755769/?utm_source=chatgpt.com" TargetMode="External"/><Relationship Id="rId7" Type="http://schemas.openxmlformats.org/officeDocument/2006/relationships/image" Target="../media/image7.png"/><Relationship Id="rId8" Type="http://schemas.openxmlformats.org/officeDocument/2006/relationships/hyperlink" Target="https://github.com/mlmed/torchxrayvision" TargetMode="External"/><Relationship Id="rId9" Type="http://schemas.openxmlformats.org/officeDocument/2006/relationships/hyperlink" Target="https://pubs.rsna.org/doi/10.1148/radiol.2017161659" TargetMode="External"/><Relationship Id="rId10" Type="http://schemas.openxmlformats.org/officeDocument/2006/relationships/hyperlink" Target="https://www.nature.com/articles/s41591-021-01595-0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F9F59622-4AB4-45CD-6311-DE109EFF7F7A}"/>
              </a:ext>
            </a:extLst>
          </p:cNvPr>
          <p:cNvSpPr txBox="1">
            <a:spLocks/>
          </p:cNvSpPr>
          <p:nvPr/>
        </p:nvSpPr>
        <p:spPr>
          <a:xfrm>
            <a:off x="3150308" y="1028474"/>
            <a:ext cx="6434725" cy="101653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defTabSz="914354">
              <a:buNone/>
              <a:defRPr/>
            </a:pPr>
            <a:r>
              <a:rPr lang="en-US" sz="3400" b="1" dirty="0">
                <a:solidFill>
                  <a:srgbClr val="EEC208"/>
                </a:solidFill>
                <a:latin typeface="Calibri"/>
              </a:rPr>
              <a:t>10</a:t>
            </a:r>
            <a:r>
              <a:rPr lang="en-US" sz="3400" b="1" baseline="30000" dirty="0">
                <a:solidFill>
                  <a:srgbClr val="EEC208"/>
                </a:solidFill>
                <a:latin typeface="Calibri"/>
              </a:rPr>
              <a:t>th</a:t>
            </a:r>
            <a:r>
              <a:rPr lang="en-US" sz="3400" b="1" dirty="0">
                <a:solidFill>
                  <a:srgbClr val="EEC208"/>
                </a:solidFill>
                <a:latin typeface="Calibri"/>
              </a:rPr>
              <a:t> Edition TECHgium</a:t>
            </a:r>
            <a:r>
              <a:rPr lang="en-US" sz="3400" baseline="30000" dirty="0">
                <a:solidFill>
                  <a:srgbClr val="EEC208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</a:rPr>
              <a:t>®</a:t>
            </a:r>
            <a:endParaRPr lang="en-US" sz="3400" b="1" dirty="0">
              <a:solidFill>
                <a:srgbClr val="EEC208"/>
              </a:solidFill>
              <a:latin typeface="Calibri"/>
            </a:endParaRP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0BD592B8-B975-5EF7-D697-B70B88CC8767}"/>
              </a:ext>
            </a:extLst>
          </p:cNvPr>
          <p:cNvSpPr txBox="1">
            <a:spLocks/>
          </p:cNvSpPr>
          <p:nvPr/>
        </p:nvSpPr>
        <p:spPr>
          <a:xfrm>
            <a:off x="3092853" y="1675503"/>
            <a:ext cx="6434725" cy="59139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defTabSz="914354">
              <a:buNone/>
              <a:defRPr/>
            </a:pPr>
            <a:r>
              <a:rPr lang="en-US" sz="3200" b="1" dirty="0">
                <a:solidFill>
                  <a:schemeClr val="bg1"/>
                </a:solidFill>
                <a:latin typeface="Calibri"/>
              </a:rPr>
              <a:t>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DEC026-D205-683E-D4DC-C4254CB8B8C5}"/>
              </a:ext>
            </a:extLst>
          </p:cNvPr>
          <p:cNvSpPr/>
          <p:nvPr/>
        </p:nvSpPr>
        <p:spPr>
          <a:xfrm>
            <a:off x="3720130" y="4149512"/>
            <a:ext cx="1113837" cy="109878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Author 1 </a:t>
            </a:r>
          </a:p>
          <a:p>
            <a:pPr algn="ctr"/>
            <a:r>
              <a:rPr lang="en-IN" sz="2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Photo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CCEEB3-F52B-A8AF-16BD-BC8064DE6CC5}"/>
              </a:ext>
            </a:extLst>
          </p:cNvPr>
          <p:cNvSpPr/>
          <p:nvPr/>
        </p:nvSpPr>
        <p:spPr>
          <a:xfrm>
            <a:off x="4958338" y="4157753"/>
            <a:ext cx="1113837" cy="109878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Author 2 </a:t>
            </a:r>
          </a:p>
          <a:p>
            <a:pPr algn="ctr"/>
            <a:r>
              <a:rPr lang="en-IN" sz="2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Photo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5FE6148-4469-6D3E-4B39-6FA4609AD859}"/>
              </a:ext>
            </a:extLst>
          </p:cNvPr>
          <p:cNvSpPr/>
          <p:nvPr/>
        </p:nvSpPr>
        <p:spPr>
          <a:xfrm>
            <a:off x="6207642" y="4157754"/>
            <a:ext cx="1113837" cy="11138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Author 3 </a:t>
            </a:r>
          </a:p>
          <a:p>
            <a:pPr algn="ctr"/>
            <a:r>
              <a:rPr lang="en-IN" sz="2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Photo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38503C-3DE1-467C-01CE-1A52D85C4B52}"/>
              </a:ext>
            </a:extLst>
          </p:cNvPr>
          <p:cNvSpPr/>
          <p:nvPr/>
        </p:nvSpPr>
        <p:spPr>
          <a:xfrm>
            <a:off x="7487048" y="4157753"/>
            <a:ext cx="1113837" cy="11138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Author 4 </a:t>
            </a:r>
          </a:p>
          <a:p>
            <a:pPr algn="ctr"/>
            <a:r>
              <a:rPr lang="en-IN" sz="2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Photo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5F3BFF-962D-0A13-9BCA-16D0F09AE77F}"/>
              </a:ext>
            </a:extLst>
          </p:cNvPr>
          <p:cNvSpPr txBox="1"/>
          <p:nvPr/>
        </p:nvSpPr>
        <p:spPr>
          <a:xfrm>
            <a:off x="3701703" y="5450618"/>
            <a:ext cx="1113837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900" dirty="0">
                <a:solidFill>
                  <a:srgbClr val="FFCC00"/>
                </a:solidFill>
              </a:rPr>
              <a:t>Name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444718-3350-8A09-956C-402AE34C6C55}"/>
              </a:ext>
            </a:extLst>
          </p:cNvPr>
          <p:cNvSpPr txBox="1"/>
          <p:nvPr/>
        </p:nvSpPr>
        <p:spPr>
          <a:xfrm>
            <a:off x="5013349" y="5456224"/>
            <a:ext cx="1113837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900" dirty="0">
                <a:solidFill>
                  <a:srgbClr val="FFCC00"/>
                </a:solidFill>
              </a:rPr>
              <a:t>Name 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466F03-0030-07A5-9EE8-103B3588F928}"/>
              </a:ext>
            </a:extLst>
          </p:cNvPr>
          <p:cNvSpPr txBox="1"/>
          <p:nvPr/>
        </p:nvSpPr>
        <p:spPr>
          <a:xfrm>
            <a:off x="6216602" y="5450618"/>
            <a:ext cx="1113837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900" dirty="0">
                <a:solidFill>
                  <a:srgbClr val="FFCC00"/>
                </a:solidFill>
              </a:rPr>
              <a:t>Name 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CD0BD5-E0A7-523D-4F0E-107977133CF8}"/>
              </a:ext>
            </a:extLst>
          </p:cNvPr>
          <p:cNvSpPr txBox="1"/>
          <p:nvPr/>
        </p:nvSpPr>
        <p:spPr>
          <a:xfrm>
            <a:off x="7528248" y="5450618"/>
            <a:ext cx="1113837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900" dirty="0">
                <a:solidFill>
                  <a:srgbClr val="FFCC00"/>
                </a:solidFill>
              </a:rPr>
              <a:t>Name 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8663B6-BD0C-AF61-851F-468CE64E802F}"/>
              </a:ext>
            </a:extLst>
          </p:cNvPr>
          <p:cNvSpPr txBox="1"/>
          <p:nvPr/>
        </p:nvSpPr>
        <p:spPr>
          <a:xfrm>
            <a:off x="4258621" y="6035025"/>
            <a:ext cx="3987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CC00"/>
                </a:solidFill>
              </a:rPr>
              <a:t>College name, City, State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E0BDF6-6781-6F26-4DB9-F8283E6ABAB9}"/>
              </a:ext>
            </a:extLst>
          </p:cNvPr>
          <p:cNvSpPr txBox="1"/>
          <p:nvPr/>
        </p:nvSpPr>
        <p:spPr>
          <a:xfrm>
            <a:off x="4052610" y="2433192"/>
            <a:ext cx="43100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CC00"/>
                </a:solidFill>
              </a:rPr>
              <a:t>MEDSCAN – Adaptive AI for Chest X-ray Analysis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A18B2D-AF73-3975-8650-9B00EE2CFC81}"/>
              </a:ext>
            </a:extLst>
          </p:cNvPr>
          <p:cNvSpPr txBox="1"/>
          <p:nvPr/>
        </p:nvSpPr>
        <p:spPr>
          <a:xfrm>
            <a:off x="-491997" y="1324547"/>
            <a:ext cx="43100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CC00"/>
                </a:solidFill>
              </a:rPr>
              <a:t>PID No. </a:t>
            </a:r>
          </a:p>
        </p:txBody>
      </p:sp>
    </p:spTree>
    <p:extLst>
      <p:ext uri="{BB962C8B-B14F-4D97-AF65-F5344CB8AC3E}">
        <p14:creationId xmlns:p14="http://schemas.microsoft.com/office/powerpoint/2010/main" val="3625214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FACC1-B807-E199-91AC-AD058066C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Statement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22E93-CA75-8D67-4478-EEE1A746BB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9379" y="1240151"/>
            <a:ext cx="11235421" cy="5374009"/>
          </a:xfrm>
        </p:spPr>
        <p:txBody>
          <a:bodyPr>
            <a:normAutofit/>
          </a:bodyPr>
          <a:lstStyle/>
          <a:p>
            <a:pPr lvl="0"/>
            <a:r>
              <a:rPr lang="en-IN" sz="2400" dirty="0"/>
              <a:t>Develop an AI-based system to support doctors in </a:t>
            </a:r>
            <a:r>
              <a:rPr lang="en-IN" sz="2400" dirty="0" err="1"/>
              <a:t>analyzing</a:t>
            </a:r>
            <a:r>
              <a:rPr lang="en-IN" sz="2400" dirty="0"/>
              <a:t> chest X-rays. </a:t>
            </a:r>
          </a:p>
          <a:p>
            <a:pPr lvl="0"/>
            <a:r>
              <a:rPr lang="en-IN" sz="2400" dirty="0"/>
              <a:t>Identify and highlight potential abnormalities in medical scans. </a:t>
            </a:r>
          </a:p>
          <a:p>
            <a:pPr lvl="0"/>
            <a:r>
              <a:rPr lang="en-IN" sz="2400" dirty="0"/>
              <a:t>Adapt the level of explanation, evidence, and guidance according to the clinical situation. </a:t>
            </a:r>
          </a:p>
          <a:p>
            <a:pPr lvl="0"/>
            <a:r>
              <a:rPr lang="en-IN" sz="2400" dirty="0"/>
              <a:t>Provide confidence scores and limitations for every AI finding. </a:t>
            </a:r>
          </a:p>
          <a:p>
            <a:pPr lvl="0"/>
            <a:r>
              <a:rPr lang="en-IN" sz="2400" dirty="0"/>
              <a:t>Detect poor-quality or incomplete scans and request human review instead of producing unreliable results. </a:t>
            </a:r>
          </a:p>
          <a:p>
            <a:pPr lvl="0"/>
            <a:r>
              <a:rPr lang="en-IN" sz="2400" dirty="0"/>
              <a:t>Allow doctors to question, correct, or reject AI-generated findings. </a:t>
            </a:r>
          </a:p>
          <a:p>
            <a:pPr lvl="0"/>
            <a:r>
              <a:rPr lang="en-IN" sz="2400" dirty="0"/>
              <a:t>Evaluate whether Doctor + AI collaboration improves decision-making compared with either alone. </a:t>
            </a:r>
          </a:p>
          <a:p>
            <a:pPr lvl="0"/>
            <a:r>
              <a:rPr lang="en-IN" sz="2400" dirty="0"/>
              <a:t>Ensure patient privacy, bias monitoring, and decision traceability.</a:t>
            </a:r>
          </a:p>
          <a:p>
            <a:endParaRPr lang="en-US" sz="2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241F3A-4CF6-34E8-7F7F-C199B1AC2E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7301" y="243840"/>
            <a:ext cx="1790699" cy="488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312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9AFC5-699D-64A0-0719-F172E59D9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05C55-8623-350C-533F-7AB4A0F63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Concept / Proposed Solution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1473BD-D668-64B3-A45F-14C4BDDFC0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9379" y="1269648"/>
            <a:ext cx="11235421" cy="55146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dirty="0" b="1"/>
              <a:t>MEDSCAN</a:t>
            </a:r>
            <a:r>
              <a:rPr lang="en-IN" sz="2400" dirty="0"/>
              <a:t> is a working desktop prototype: a human-in-the-loop chest X-ray assistant built around an </a:t>
            </a:r>
            <a:r>
              <a:rPr lang="en-IN" sz="2400" dirty="0" b="1"/>
              <a:t>Adaptive Analysis Routing layer</a:t>
            </a:r>
            <a:r>
              <a:rPr lang="en-IN" sz="2400" dirty="0"/>
              <a:t>.</a:t>
            </a:r>
          </a:p>
          <a:p>
            <a:pPr lvl="0"/>
            <a:r>
              <a:rPr lang="en-IN" sz="2400" dirty="0" b="1"/>
              <a:t>Scan Quality Gate</a:t>
            </a:r>
            <a:r>
              <a:rPr lang="en-IN" sz="2400" dirty="0"/>
              <a:t> – 7 checks; a failed scan stops with “human review” and no findings.</a:t>
            </a:r>
          </a:p>
          <a:p>
            <a:pPr lvl="0"/>
            <a:r>
              <a:rPr lang="en-IN" sz="2400" dirty="0" b="1"/>
              <a:t>Fast Screen</a:t>
            </a:r>
            <a:r>
              <a:rPr lang="en-IN" sz="2400" dirty="0"/>
              <a:t> – built-in measurements + DenseNet-121 score 4 abnormality groups.</a:t>
            </a:r>
          </a:p>
          <a:p>
            <a:pPr lvl="0"/>
            <a:r>
              <a:rPr lang="en-IN" sz="2400" dirty="0" b="1"/>
              <a:t>Adaptive Router</a:t>
            </a:r>
            <a:r>
              <a:rPr lang="en-IN" sz="2400" dirty="0"/>
              <a:t> – runs only the specialists a scan needs; normal scans exit early.</a:t>
            </a:r>
          </a:p>
          <a:p>
            <a:pPr lvl="0"/>
            <a:r>
              <a:rPr lang="en-IN" sz="2400" dirty="0" b="1"/>
              <a:t>Specialist Modules</a:t>
            </a:r>
            <a:r>
              <a:rPr lang="en-IN" sz="2400" dirty="0"/>
              <a:t> – Cardiac (CTR), Pleural, Parenchyma (6 zones), Nodule / Mass.</a:t>
            </a:r>
          </a:p>
          <a:p>
            <a:pPr lvl="0"/>
            <a:r>
              <a:rPr lang="en-IN" sz="2400" dirty="0" b="1"/>
              <a:t>Confidence Engine</a:t>
            </a:r>
            <a:r>
              <a:rPr lang="en-IN" sz="2400" dirty="0"/>
              <a:t> – stability, model–measurement agreement, quality; abstains when unsure.</a:t>
            </a:r>
          </a:p>
          <a:p>
            <a:pPr lvl="0"/>
            <a:r>
              <a:rPr lang="en-IN" sz="2400" dirty="0" b="1"/>
              <a:t>Medical RAG</a:t>
            </a:r>
            <a:r>
              <a:rPr lang="en-IN" sz="2400" dirty="0"/>
              <a:t> – cited guideline evidence; depth adapts to context and uncertainty.</a:t>
            </a:r>
          </a:p>
          <a:p>
            <a:pPr lvl="0"/>
            <a:r>
              <a:rPr lang="en-IN" sz="2400" dirty="0" b="1"/>
              <a:t>Doctor in Control</a:t>
            </a:r>
            <a:r>
              <a:rPr lang="en-IN" sz="2400" dirty="0"/>
              <a:t> – Accept, Correct, Reject or Question; blinded first read.</a:t>
            </a:r>
          </a:p>
          <a:p>
            <a:pPr lvl="0"/>
            <a:r>
              <a:rPr lang="en-IN" sz="2400" dirty="0" b="1"/>
              <a:t>Audit &amp; Bias</a:t>
            </a:r>
            <a:r>
              <a:rPr lang="en-IN" sz="2400" dirty="0"/>
              <a:t> – SHA-256 hash-chained trail; subgroup bias monitoring.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B73C1F-9563-1280-FE2D-53B03B00978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7301" y="243840"/>
            <a:ext cx="1790699" cy="488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157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F2643-D9C1-CABC-75D7-3D21F193A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CAB2C-C3FA-C909-F2FE-13898A090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Pros and Cons of the solution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F45893-6EEE-0FE0-F4AB-D5A244DB152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7301" y="243840"/>
            <a:ext cx="1790699" cy="488373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DB806C1-7E08-A12F-A891-3778E46E34A5}"/>
              </a:ext>
            </a:extLst>
          </p:cNvPr>
          <p:cNvSpPr/>
          <p:nvPr/>
        </p:nvSpPr>
        <p:spPr>
          <a:xfrm>
            <a:off x="499379" y="1150374"/>
            <a:ext cx="5242660" cy="5463786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3A5FE71-ECD9-6916-98DF-078FCAB94A8F}"/>
              </a:ext>
            </a:extLst>
          </p:cNvPr>
          <p:cNvSpPr/>
          <p:nvPr/>
        </p:nvSpPr>
        <p:spPr>
          <a:xfrm>
            <a:off x="6297561" y="1150374"/>
            <a:ext cx="5242660" cy="5463786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4762A-D116-1D08-99DD-596A700F4EB6}"/>
              </a:ext>
            </a:extLst>
          </p:cNvPr>
          <p:cNvSpPr txBox="1"/>
          <p:nvPr/>
        </p:nvSpPr>
        <p:spPr>
          <a:xfrm>
            <a:off x="651779" y="1681664"/>
            <a:ext cx="509026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IN" sz="2000" dirty="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ADVANTAGES</a:t>
            </a:r>
          </a:p>
          <a:p>
            <a:pPr lvl="0" algn="ctr"/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/>
            </a:r>
          </a:p>
          <a:p>
            <a:pPr lvl="0"/>
            <a:r>
              <a:rPr lang="en-IN" sz="1600" dirty="0" b="1"/>
              <a:t>Adaptive Routing</a:t>
            </a:r>
            <a:r>
              <a:rPr lang="en-IN" sz="1600" dirty="0"/>
              <a:t> – 50% less time, 75% fewer modules on our benchmark.</a:t>
            </a:r>
          </a:p>
          <a:p>
            <a:pPr lvl="0"/>
            <a:r>
              <a:rPr lang="en-IN" sz="1600" dirty="0" b="1"/>
              <a:t>Progressive Analysis</a:t>
            </a:r>
            <a:r>
              <a:rPr lang="en-IN" sz="1600" dirty="0"/>
              <a:t> – normal scans exit early; complex ones go deeper.</a:t>
            </a:r>
          </a:p>
          <a:p>
            <a:pPr lvl="0"/>
            <a:r>
              <a:rPr lang="en-IN" sz="1600" dirty="0" b="1"/>
              <a:t>Explainable</a:t>
            </a:r>
            <a:r>
              <a:rPr lang="en-IN" sz="1600" dirty="0"/>
              <a:t> – heatmap, regions, measurements and cited evidence.</a:t>
            </a:r>
          </a:p>
          <a:p>
            <a:pPr lvl="0"/>
            <a:r>
              <a:rPr lang="en-IN" sz="1600" dirty="0" b="1"/>
              <a:t>Honest Uncertainty</a:t>
            </a:r>
            <a:r>
              <a:rPr lang="en-IN" sz="1600" dirty="0"/>
              <a:t> – confidence per finding; abstains instead of guessing.</a:t>
            </a:r>
          </a:p>
          <a:p>
            <a:pPr lvl="0"/>
            <a:r>
              <a:rPr lang="en-IN" sz="1600" dirty="0" b="1"/>
              <a:t>Doctor in Control</a:t>
            </a:r>
            <a:r>
              <a:rPr lang="en-IN" sz="1600" dirty="0"/>
              <a:t> – AI suggests; the doctor decides and signs.</a:t>
            </a:r>
          </a:p>
          <a:p>
            <a:pPr lvl="0"/>
            <a:r>
              <a:rPr lang="en-IN" sz="1600" dirty="0" b="1"/>
              <a:t>Traceable &amp; Private</a:t>
            </a:r>
            <a:r>
              <a:rPr lang="en-IN" sz="1600" dirty="0"/>
              <a:t> – hash-chained audit, DICOM de-identification.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D28014-BB52-DF2A-1729-5203702B8281}"/>
              </a:ext>
            </a:extLst>
          </p:cNvPr>
          <p:cNvSpPr txBox="1"/>
          <p:nvPr/>
        </p:nvSpPr>
        <p:spPr>
          <a:xfrm>
            <a:off x="6396917" y="1681663"/>
            <a:ext cx="504394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000" dirty="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LIMITATIONS</a:t>
            </a:r>
          </a:p>
          <a:p>
            <a:r>
              <a:rPr lang="en-IN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/>
            </a:r>
          </a:p>
          <a:p>
            <a:pPr lvl="0"/>
            <a:r>
              <a:rPr lang="en-IN" sz="1600" dirty="0" b="1"/>
              <a:t>Data Dependent</a:t>
            </a:r>
            <a:r>
              <a:rPr lang="en-IN" sz="1600" dirty="0"/>
              <a:t> – tested on synthetic phantoms; needs CheXpert / hospital data.</a:t>
            </a:r>
          </a:p>
          <a:p>
            <a:pPr lvl="0"/>
            <a:r>
              <a:rPr lang="en-IN" sz="1600" dirty="0" b="1"/>
              <a:t>False Results</a:t>
            </a:r>
            <a:r>
              <a:rPr lang="en-IN" sz="1600" dirty="0"/>
              <a:t> – false positives (e.g. vessels as nodules) still occur.</a:t>
            </a:r>
          </a:p>
          <a:p>
            <a:pPr lvl="0"/>
            <a:r>
              <a:rPr lang="en-IN" sz="1600" dirty="0" b="1"/>
              <a:t>Generalization</a:t>
            </a:r>
            <a:r>
              <a:rPr lang="en-IN" sz="1600" dirty="0"/>
              <a:t> – performance may vary across hospitals and devices.</a:t>
            </a:r>
          </a:p>
          <a:p>
            <a:pPr lvl="0"/>
            <a:r>
              <a:rPr lang="en-IN" sz="1600" dirty="0" b="1"/>
              <a:t>Routing Complexity</a:t>
            </a:r>
            <a:r>
              <a:rPr lang="en-IN" sz="1600" dirty="0"/>
              <a:t> – thresholds must be tuned per clinical context.</a:t>
            </a:r>
          </a:p>
          <a:p>
            <a:pPr lvl="0"/>
            <a:r>
              <a:rPr lang="en-IN" sz="1600" dirty="0" b="1"/>
              <a:t>Hallucination Risk</a:t>
            </a:r>
            <a:r>
              <a:rPr lang="en-IN" sz="1600" dirty="0"/>
              <a:t> – LLM text is fact-checked, but still needs review.</a:t>
            </a:r>
          </a:p>
          <a:p>
            <a:pPr lvl="0"/>
            <a:r>
              <a:rPr lang="en-IN" sz="1600" dirty="0" b="1"/>
              <a:t>Clinical Validation</a:t>
            </a:r>
            <a:r>
              <a:rPr lang="en-IN" sz="1600" dirty="0"/>
              <a:t> – a radiologist reader study is still required.</a:t>
            </a:r>
          </a:p>
        </p:txBody>
      </p:sp>
    </p:spTree>
    <p:extLst>
      <p:ext uri="{BB962C8B-B14F-4D97-AF65-F5344CB8AC3E}">
        <p14:creationId xmlns:p14="http://schemas.microsoft.com/office/powerpoint/2010/main" val="3730457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9BA6A-09CC-0731-361B-6ADB738C0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DE32B-6BB2-05B2-AD9D-EFF630252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Technical Description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C7C73E-5C60-6F4F-0D03-B5D5DD07E0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7301" y="243840"/>
            <a:ext cx="1790699" cy="488373"/>
          </a:xfrm>
          <a:prstGeom prst="rect">
            <a:avLst/>
          </a:prstGeom>
        </p:spPr>
      </p:pic>
      <p:sp>
        <p:nvSpPr>
          <p:cNvPr id="5" name="Stage 1"/>
          <p:cNvSpPr/>
          <p:nvPr/>
        </p:nvSpPr>
        <p:spPr>
          <a:xfrm>
            <a:off x="502920" y="1188720"/>
            <a:ext cx="1874519" cy="603504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1. Preprocess</a:t>
            </a:r>
          </a:p>
        </p:txBody>
      </p:sp>
      <p:sp>
        <p:nvSpPr>
          <p:cNvPr id="6" name="Stage 1 text"/>
          <p:cNvSpPr/>
          <p:nvPr/>
        </p:nvSpPr>
        <p:spPr>
          <a:xfrm>
            <a:off x="2468880" y="1188720"/>
            <a:ext cx="4846320" cy="6035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/>
            <a:r>
              <a:rPr sz="1300" b="0">
                <a:solidFill>
                  <a:srgbClr val="0E2841"/>
                </a:solidFill>
              </a:rPr>
              <a:t>Load PNG / DICOM, strip identifiers, find the lungs</a:t>
            </a:r>
          </a:p>
        </p:txBody>
      </p:sp>
      <p:sp>
        <p:nvSpPr>
          <p:cNvPr id="7" name="Stage 2"/>
          <p:cNvSpPr/>
          <p:nvPr/>
        </p:nvSpPr>
        <p:spPr>
          <a:xfrm>
            <a:off x="502920" y="1856232"/>
            <a:ext cx="1874519" cy="603504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2. Quality Gate</a:t>
            </a:r>
          </a:p>
        </p:txBody>
      </p:sp>
      <p:sp>
        <p:nvSpPr>
          <p:cNvPr id="8" name="Stage 2 text"/>
          <p:cNvSpPr/>
          <p:nvPr/>
        </p:nvSpPr>
        <p:spPr>
          <a:xfrm>
            <a:off x="2468880" y="1856232"/>
            <a:ext cx="4846320" cy="6035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/>
            <a:r>
              <a:rPr sz="1300" b="0">
                <a:solidFill>
                  <a:srgbClr val="0E2841"/>
                </a:solidFill>
              </a:rPr>
              <a:t>Blur, contrast, exposure, coverage – fail → human review</a:t>
            </a:r>
          </a:p>
        </p:txBody>
      </p:sp>
      <p:sp>
        <p:nvSpPr>
          <p:cNvPr id="9" name="Stage 3"/>
          <p:cNvSpPr/>
          <p:nvPr/>
        </p:nvSpPr>
        <p:spPr>
          <a:xfrm>
            <a:off x="502920" y="2523744"/>
            <a:ext cx="1874519" cy="603504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3. Fast Screen</a:t>
            </a:r>
          </a:p>
        </p:txBody>
      </p:sp>
      <p:sp>
        <p:nvSpPr>
          <p:cNvPr id="10" name="Stage 3 text"/>
          <p:cNvSpPr/>
          <p:nvPr/>
        </p:nvSpPr>
        <p:spPr>
          <a:xfrm>
            <a:off x="2468880" y="2523744"/>
            <a:ext cx="4846320" cy="6035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/>
            <a:r>
              <a:rPr sz="1300" b="0">
                <a:solidFill>
                  <a:srgbClr val="0E2841"/>
                </a:solidFill>
              </a:rPr>
              <a:t>Measurements + DenseNet-121 → 4 group scores</a:t>
            </a:r>
          </a:p>
        </p:txBody>
      </p:sp>
      <p:sp>
        <p:nvSpPr>
          <p:cNvPr id="11" name="Stage 4"/>
          <p:cNvSpPr/>
          <p:nvPr/>
        </p:nvSpPr>
        <p:spPr>
          <a:xfrm>
            <a:off x="502920" y="3191256"/>
            <a:ext cx="1874519" cy="603504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4. Adaptive Router</a:t>
            </a:r>
          </a:p>
        </p:txBody>
      </p:sp>
      <p:sp>
        <p:nvSpPr>
          <p:cNvPr id="12" name="Stage 4 text"/>
          <p:cNvSpPr/>
          <p:nvPr/>
        </p:nvSpPr>
        <p:spPr>
          <a:xfrm>
            <a:off x="2468880" y="3191256"/>
            <a:ext cx="4846320" cy="6035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/>
            <a:r>
              <a:rPr sz="1300" b="0">
                <a:solidFill>
                  <a:srgbClr val="0E2841"/>
                </a:solidFill>
              </a:rPr>
              <a:t>Context thresholds, early exit, borderline band</a:t>
            </a:r>
          </a:p>
        </p:txBody>
      </p:sp>
      <p:sp>
        <p:nvSpPr>
          <p:cNvPr id="13" name="Stage 5"/>
          <p:cNvSpPr/>
          <p:nvPr/>
        </p:nvSpPr>
        <p:spPr>
          <a:xfrm>
            <a:off x="502920" y="3858768"/>
            <a:ext cx="1874519" cy="603504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5. Specialists</a:t>
            </a:r>
          </a:p>
        </p:txBody>
      </p:sp>
      <p:sp>
        <p:nvSpPr>
          <p:cNvPr id="14" name="Stage 5 text"/>
          <p:cNvSpPr/>
          <p:nvPr/>
        </p:nvSpPr>
        <p:spPr>
          <a:xfrm>
            <a:off x="2468880" y="3858768"/>
            <a:ext cx="4846320" cy="6035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/>
            <a:r>
              <a:rPr sz="1300" b="0">
                <a:solidFill>
                  <a:srgbClr val="0E2841"/>
                </a:solidFill>
              </a:rPr>
              <a:t>Cardiac · Pleural · Parenchyma · Nodule (+ Grad-CAM)</a:t>
            </a:r>
          </a:p>
        </p:txBody>
      </p:sp>
      <p:sp>
        <p:nvSpPr>
          <p:cNvPr id="15" name="Stage 6"/>
          <p:cNvSpPr/>
          <p:nvPr/>
        </p:nvSpPr>
        <p:spPr>
          <a:xfrm>
            <a:off x="502920" y="4526280"/>
            <a:ext cx="1874519" cy="603504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6. Confidence</a:t>
            </a:r>
          </a:p>
        </p:txBody>
      </p:sp>
      <p:sp>
        <p:nvSpPr>
          <p:cNvPr id="16" name="Stage 6 text"/>
          <p:cNvSpPr/>
          <p:nvPr/>
        </p:nvSpPr>
        <p:spPr>
          <a:xfrm>
            <a:off x="2468880" y="4526280"/>
            <a:ext cx="4846320" cy="6035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/>
            <a:r>
              <a:rPr sz="1300" b="0">
                <a:solidFill>
                  <a:srgbClr val="0E2841"/>
                </a:solidFill>
              </a:rPr>
              <a:t>TTA stability · agreement · quality · abstain</a:t>
            </a:r>
          </a:p>
        </p:txBody>
      </p:sp>
      <p:sp>
        <p:nvSpPr>
          <p:cNvPr id="17" name="Stage 7"/>
          <p:cNvSpPr/>
          <p:nvPr/>
        </p:nvSpPr>
        <p:spPr>
          <a:xfrm>
            <a:off x="502920" y="5193792"/>
            <a:ext cx="1874519" cy="603504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7. Explain (RAG)</a:t>
            </a:r>
          </a:p>
        </p:txBody>
      </p:sp>
      <p:sp>
        <p:nvSpPr>
          <p:cNvPr id="18" name="Stage 7 text"/>
          <p:cNvSpPr/>
          <p:nvPr/>
        </p:nvSpPr>
        <p:spPr>
          <a:xfrm>
            <a:off x="2468880" y="5193792"/>
            <a:ext cx="4846320" cy="6035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/>
            <a:r>
              <a:rPr sz="1300" b="0">
                <a:solidFill>
                  <a:srgbClr val="0E2841"/>
                </a:solidFill>
              </a:rPr>
              <a:t>Brief / standard / detailed + guideline citations</a:t>
            </a:r>
          </a:p>
        </p:txBody>
      </p:sp>
      <p:sp>
        <p:nvSpPr>
          <p:cNvPr id="19" name="Stage 8"/>
          <p:cNvSpPr/>
          <p:nvPr/>
        </p:nvSpPr>
        <p:spPr>
          <a:xfrm>
            <a:off x="502920" y="5861303"/>
            <a:ext cx="1874519" cy="603504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8. Doctor &amp; Audit</a:t>
            </a:r>
          </a:p>
        </p:txBody>
      </p:sp>
      <p:sp>
        <p:nvSpPr>
          <p:cNvPr id="20" name="Stage 8 text"/>
          <p:cNvSpPr/>
          <p:nvPr/>
        </p:nvSpPr>
        <p:spPr>
          <a:xfrm>
            <a:off x="2468880" y="5861303"/>
            <a:ext cx="4846320" cy="6035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/>
            <a:r>
              <a:rPr sz="1300" b="0">
                <a:solidFill>
                  <a:srgbClr val="0E2841"/>
                </a:solidFill>
              </a:rPr>
              <a:t>Accept / Correct / Reject / Question → hash chain</a:t>
            </a:r>
          </a:p>
        </p:txBody>
      </p:sp>
      <p:sp>
        <p:nvSpPr>
          <p:cNvPr id="21" name="Stack heading"/>
          <p:cNvSpPr/>
          <p:nvPr/>
        </p:nvSpPr>
        <p:spPr>
          <a:xfrm>
            <a:off x="7726679" y="1188720"/>
            <a:ext cx="3977639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400" b="1">
                <a:solidFill>
                  <a:srgbClr val="0E2841"/>
                </a:solidFill>
              </a:rPr>
              <a:t>TECH STACK</a:t>
            </a:r>
          </a:p>
        </p:txBody>
      </p:sp>
      <p:sp>
        <p:nvSpPr>
          <p:cNvPr id="22" name="Stack Desktop UI"/>
          <p:cNvSpPr/>
          <p:nvPr/>
        </p:nvSpPr>
        <p:spPr>
          <a:xfrm>
            <a:off x="7726679" y="1691640"/>
            <a:ext cx="1938528" cy="109728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200" b="1">
                <a:solidFill>
                  <a:srgbClr val="0E2841"/>
                </a:solidFill>
              </a:rPr>
              <a:t>Desktop UI</a:t>
            </a:r>
          </a:p>
          <a:p>
            <a:pPr algn="ctr"/>
            <a:r>
              <a:rPr sz="1200" b="0">
                <a:solidFill>
                  <a:srgbClr val="0E2841"/>
                </a:solidFill>
              </a:rPr>
              <a:t>PyQt6</a:t>
            </a:r>
          </a:p>
        </p:txBody>
      </p:sp>
      <p:sp>
        <p:nvSpPr>
          <p:cNvPr id="23" name="Stack Imaging"/>
          <p:cNvSpPr/>
          <p:nvPr/>
        </p:nvSpPr>
        <p:spPr>
          <a:xfrm>
            <a:off x="9756648" y="1691640"/>
            <a:ext cx="1938528" cy="109728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200" b="1">
                <a:solidFill>
                  <a:srgbClr val="0E2841"/>
                </a:solidFill>
              </a:rPr>
              <a:t>Imaging</a:t>
            </a:r>
          </a:p>
          <a:p>
            <a:pPr algn="ctr"/>
            <a:r>
              <a:rPr sz="1200" b="0">
                <a:solidFill>
                  <a:srgbClr val="0E2841"/>
                </a:solidFill>
              </a:rPr>
              <a:t>NumPy · SciPy · OpenCV</a:t>
            </a:r>
          </a:p>
        </p:txBody>
      </p:sp>
      <p:sp>
        <p:nvSpPr>
          <p:cNvPr id="24" name="Stack DICOM"/>
          <p:cNvSpPr/>
          <p:nvPr/>
        </p:nvSpPr>
        <p:spPr>
          <a:xfrm>
            <a:off x="7726679" y="2898648"/>
            <a:ext cx="1938528" cy="109728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200" b="1">
                <a:solidFill>
                  <a:srgbClr val="0E2841"/>
                </a:solidFill>
              </a:rPr>
              <a:t>DICOM</a:t>
            </a:r>
          </a:p>
          <a:p>
            <a:pPr algn="ctr"/>
            <a:r>
              <a:rPr sz="1200" b="0">
                <a:solidFill>
                  <a:srgbClr val="0E2841"/>
                </a:solidFill>
              </a:rPr>
              <a:t>pydicom (de-identification)</a:t>
            </a:r>
          </a:p>
        </p:txBody>
      </p:sp>
      <p:sp>
        <p:nvSpPr>
          <p:cNvPr id="25" name="Stack Deep model"/>
          <p:cNvSpPr/>
          <p:nvPr/>
        </p:nvSpPr>
        <p:spPr>
          <a:xfrm>
            <a:off x="9756648" y="2898648"/>
            <a:ext cx="1938528" cy="109728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200" b="1">
                <a:solidFill>
                  <a:srgbClr val="0E2841"/>
                </a:solidFill>
              </a:rPr>
              <a:t>Deep model</a:t>
            </a:r>
          </a:p>
          <a:p>
            <a:pPr algn="ctr"/>
            <a:r>
              <a:rPr sz="1200" b="0">
                <a:solidFill>
                  <a:srgbClr val="0E2841"/>
                </a:solidFill>
              </a:rPr>
              <a:t>PyTorch · TorchXRayVision</a:t>
            </a:r>
          </a:p>
        </p:txBody>
      </p:sp>
      <p:sp>
        <p:nvSpPr>
          <p:cNvPr id="26" name="Stack Classifier"/>
          <p:cNvSpPr/>
          <p:nvPr/>
        </p:nvSpPr>
        <p:spPr>
          <a:xfrm>
            <a:off x="7726679" y="4105656"/>
            <a:ext cx="1938528" cy="109728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200" b="1">
                <a:solidFill>
                  <a:srgbClr val="0E2841"/>
                </a:solidFill>
              </a:rPr>
              <a:t>Classifier</a:t>
            </a:r>
          </a:p>
          <a:p>
            <a:pPr algn="ctr"/>
            <a:r>
              <a:rPr sz="1200" b="0">
                <a:solidFill>
                  <a:srgbClr val="0E2841"/>
                </a:solidFill>
              </a:rPr>
              <a:t>DenseNet-121 + Grad-CAM</a:t>
            </a:r>
          </a:p>
        </p:txBody>
      </p:sp>
      <p:sp>
        <p:nvSpPr>
          <p:cNvPr id="27" name="Stack Medical RAG"/>
          <p:cNvSpPr/>
          <p:nvPr/>
        </p:nvSpPr>
        <p:spPr>
          <a:xfrm>
            <a:off x="9756648" y="4105656"/>
            <a:ext cx="1938528" cy="109728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200" b="1">
                <a:solidFill>
                  <a:srgbClr val="0E2841"/>
                </a:solidFill>
              </a:rPr>
              <a:t>Medical RAG</a:t>
            </a:r>
          </a:p>
          <a:p>
            <a:pPr algn="ctr"/>
            <a:r>
              <a:rPr sz="1200" b="0">
                <a:solidFill>
                  <a:srgbClr val="0E2841"/>
                </a:solidFill>
              </a:rPr>
              <a:t>BM25 over cited guidelines</a:t>
            </a:r>
          </a:p>
        </p:txBody>
      </p:sp>
      <p:sp>
        <p:nvSpPr>
          <p:cNvPr id="28" name="Stack LLM (optional)"/>
          <p:cNvSpPr/>
          <p:nvPr/>
        </p:nvSpPr>
        <p:spPr>
          <a:xfrm>
            <a:off x="7726679" y="5312664"/>
            <a:ext cx="1938528" cy="109728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200" b="1">
                <a:solidFill>
                  <a:srgbClr val="0E2841"/>
                </a:solidFill>
              </a:rPr>
              <a:t>LLM (optional)</a:t>
            </a:r>
          </a:p>
          <a:p>
            <a:pPr algn="ctr"/>
            <a:r>
              <a:rPr sz="1200" b="0">
                <a:solidFill>
                  <a:srgbClr val="0E2841"/>
                </a:solidFill>
              </a:rPr>
              <a:t>Ollama, fact-checked</a:t>
            </a:r>
          </a:p>
        </p:txBody>
      </p:sp>
      <p:sp>
        <p:nvSpPr>
          <p:cNvPr id="29" name="Stack Storage"/>
          <p:cNvSpPr/>
          <p:nvPr/>
        </p:nvSpPr>
        <p:spPr>
          <a:xfrm>
            <a:off x="9756648" y="5312664"/>
            <a:ext cx="1938528" cy="109728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1200" b="1">
                <a:solidFill>
                  <a:srgbClr val="0E2841"/>
                </a:solidFill>
              </a:rPr>
              <a:t>Storage</a:t>
            </a:r>
          </a:p>
          <a:p>
            <a:pPr algn="ctr"/>
            <a:r>
              <a:rPr sz="1200" b="0">
                <a:solidFill>
                  <a:srgbClr val="0E2841"/>
                </a:solidFill>
              </a:rPr>
              <a:t>SQLite · SHA-256 audit</a:t>
            </a:r>
          </a:p>
        </p:txBody>
      </p:sp>
    </p:spTree>
    <p:extLst>
      <p:ext uri="{BB962C8B-B14F-4D97-AF65-F5344CB8AC3E}">
        <p14:creationId xmlns:p14="http://schemas.microsoft.com/office/powerpoint/2010/main" val="3872111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071F2-82E5-16F9-4CA8-1E0A96CE4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468CF-C729-EACD-6CBE-B12A19AD3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Implementation Plan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ABD342-F248-D351-F5ED-90B5C20D1CC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7301" y="243840"/>
            <a:ext cx="1790699" cy="488373"/>
          </a:xfrm>
          <a:prstGeom prst="rect">
            <a:avLst/>
          </a:prstGeom>
        </p:spPr>
      </p:pic>
      <p:sp>
        <p:nvSpPr>
          <p:cNvPr id="5" name="Phase 1"/>
          <p:cNvSpPr/>
          <p:nvPr/>
        </p:nvSpPr>
        <p:spPr>
          <a:xfrm>
            <a:off x="502920" y="1188720"/>
            <a:ext cx="3566160" cy="22402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</a:rPr>
              <a:t>Phase 1 — Data Preparation ✓</a:t>
            </a:r>
          </a:p>
          <a:p>
            <a:pPr algn="l" marL="146304" indent="-128016">
              <a:spcAft>
                <a:spcPts val="400"/>
              </a:spcAft>
              <a:buChar char="•"/>
            </a:pPr>
            <a:r>
              <a:rPr sz="1400" b="0">
                <a:solidFill>
                  <a:srgbClr val="FFFFFF"/>
                </a:solidFill>
              </a:rPr>
              <a:t>Synthetic phantom set with ground truth</a:t>
            </a:r>
          </a:p>
          <a:p>
            <a:pPr algn="l" marL="146304" indent="-128016">
              <a:spcAft>
                <a:spcPts val="400"/>
              </a:spcAft>
              <a:buChar char="•"/>
            </a:pPr>
            <a:r>
              <a:rPr sz="1400" b="0">
                <a:solidFill>
                  <a:srgbClr val="FFFFFF"/>
                </a:solidFill>
              </a:rPr>
              <a:t>DICOM loading + de-identification</a:t>
            </a:r>
          </a:p>
          <a:p>
            <a:pPr algn="l" marL="146304" indent="-128016">
              <a:spcAft>
                <a:spcPts val="400"/>
              </a:spcAft>
              <a:buChar char="•"/>
            </a:pPr>
            <a:r>
              <a:rPr sz="1400" b="0">
                <a:solidFill>
                  <a:srgbClr val="FFFFFF"/>
                </a:solidFill>
              </a:rPr>
              <a:t>labels.csv loader for CheXpert / MIMIC</a:t>
            </a:r>
          </a:p>
        </p:txBody>
      </p:sp>
      <p:sp>
        <p:nvSpPr>
          <p:cNvPr id="6" name="Phase 2"/>
          <p:cNvSpPr/>
          <p:nvPr/>
        </p:nvSpPr>
        <p:spPr>
          <a:xfrm>
            <a:off x="4306824" y="1188720"/>
            <a:ext cx="3566160" cy="22402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</a:rPr>
              <a:t>Phase 2 — Initial AI Models ✓</a:t>
            </a:r>
          </a:p>
          <a:p>
            <a:pPr algn="l" marL="146304" indent="-128016">
              <a:spcAft>
                <a:spcPts val="400"/>
              </a:spcAft>
              <a:buChar char="•"/>
            </a:pPr>
            <a:r>
              <a:rPr sz="1400" b="0">
                <a:solidFill>
                  <a:srgbClr val="FFFFFF"/>
                </a:solidFill>
              </a:rPr>
              <a:t>Lung segmentation, CTR, zones</a:t>
            </a:r>
          </a:p>
          <a:p>
            <a:pPr algn="l" marL="146304" indent="-128016">
              <a:spcAft>
                <a:spcPts val="400"/>
              </a:spcAft>
              <a:buChar char="•"/>
            </a:pPr>
            <a:r>
              <a:rPr sz="1400" b="0">
                <a:solidFill>
                  <a:srgbClr val="FFFFFF"/>
                </a:solidFill>
              </a:rPr>
              <a:t>Measurement screen + DenseNet-121</a:t>
            </a:r>
          </a:p>
          <a:p>
            <a:pPr algn="l" marL="146304" indent="-128016">
              <a:spcAft>
                <a:spcPts val="400"/>
              </a:spcAft>
              <a:buChar char="•"/>
            </a:pPr>
            <a:r>
              <a:rPr sz="1400" b="0">
                <a:solidFill>
                  <a:srgbClr val="FFFFFF"/>
                </a:solidFill>
              </a:rPr>
              <a:t>4 region-specific specialist modules</a:t>
            </a:r>
          </a:p>
        </p:txBody>
      </p:sp>
      <p:sp>
        <p:nvSpPr>
          <p:cNvPr id="7" name="Phase 3"/>
          <p:cNvSpPr/>
          <p:nvPr/>
        </p:nvSpPr>
        <p:spPr>
          <a:xfrm>
            <a:off x="8110727" y="1188720"/>
            <a:ext cx="3566160" cy="22402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</a:rPr>
              <a:t>Phase 3 — Adaptive Routing ✓</a:t>
            </a:r>
          </a:p>
          <a:p>
            <a:pPr algn="l" marL="146304" indent="-128016">
              <a:spcAft>
                <a:spcPts val="400"/>
              </a:spcAft>
              <a:buChar char="•"/>
            </a:pPr>
            <a:r>
              <a:rPr sz="1400" b="0">
                <a:solidFill>
                  <a:srgbClr val="FFFFFF"/>
                </a:solidFill>
              </a:rPr>
              <a:t>Context thresholds + early exit</a:t>
            </a:r>
          </a:p>
          <a:p>
            <a:pPr algn="l" marL="146304" indent="-128016">
              <a:spcAft>
                <a:spcPts val="400"/>
              </a:spcAft>
              <a:buChar char="•"/>
            </a:pPr>
            <a:r>
              <a:rPr sz="1400" b="0">
                <a:solidFill>
                  <a:srgbClr val="FFFFFF"/>
                </a:solidFill>
              </a:rPr>
              <a:t>Test-time augmentation confidence</a:t>
            </a:r>
          </a:p>
          <a:p>
            <a:pPr algn="l" marL="146304" indent="-128016">
              <a:spcAft>
                <a:spcPts val="400"/>
              </a:spcAft>
              <a:buChar char="•"/>
            </a:pPr>
            <a:r>
              <a:rPr sz="1400" b="0">
                <a:solidFill>
                  <a:srgbClr val="FFFFFF"/>
                </a:solidFill>
              </a:rPr>
              <a:t>Abstention + temperature scaling</a:t>
            </a:r>
          </a:p>
        </p:txBody>
      </p:sp>
      <p:sp>
        <p:nvSpPr>
          <p:cNvPr id="8" name="Phase 4"/>
          <p:cNvSpPr/>
          <p:nvPr/>
        </p:nvSpPr>
        <p:spPr>
          <a:xfrm>
            <a:off x="2404872" y="3840480"/>
            <a:ext cx="3566160" cy="22402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</a:rPr>
              <a:t>Phase 4 — Evidence &amp; UI ✓</a:t>
            </a:r>
          </a:p>
          <a:p>
            <a:pPr algn="l" marL="146304" indent="-128016">
              <a:spcAft>
                <a:spcPts val="400"/>
              </a:spcAft>
              <a:buChar char="•"/>
            </a:pPr>
            <a:r>
              <a:rPr sz="1400" b="0">
                <a:solidFill>
                  <a:srgbClr val="FFFFFF"/>
                </a:solidFill>
              </a:rPr>
              <a:t>Medical RAG with citations</a:t>
            </a:r>
          </a:p>
          <a:p>
            <a:pPr algn="l" marL="146304" indent="-128016">
              <a:spcAft>
                <a:spcPts val="400"/>
              </a:spcAft>
              <a:buChar char="•"/>
            </a:pPr>
            <a:r>
              <a:rPr sz="1400" b="0">
                <a:solidFill>
                  <a:srgbClr val="FFFFFF"/>
                </a:solidFill>
              </a:rPr>
              <a:t>PyQt6 app: Accept / Correct / Reject / Question</a:t>
            </a:r>
          </a:p>
          <a:p>
            <a:pPr algn="l" marL="146304" indent="-128016">
              <a:spcAft>
                <a:spcPts val="400"/>
              </a:spcAft>
              <a:buChar char="•"/>
            </a:pPr>
            <a:r>
              <a:rPr sz="1400" b="0">
                <a:solidFill>
                  <a:srgbClr val="FFFFFF"/>
                </a:solidFill>
              </a:rPr>
              <a:t>Blinded first read, audit trail</a:t>
            </a:r>
          </a:p>
        </p:txBody>
      </p:sp>
      <p:sp>
        <p:nvSpPr>
          <p:cNvPr id="9" name="Phase 5"/>
          <p:cNvSpPr/>
          <p:nvPr/>
        </p:nvSpPr>
        <p:spPr>
          <a:xfrm>
            <a:off x="6208776" y="3840480"/>
            <a:ext cx="3566160" cy="22402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</a:rPr>
              <a:t>Phase 5 — Evaluation (ongoing)</a:t>
            </a:r>
          </a:p>
          <a:p>
            <a:pPr algn="l" marL="146304" indent="-128016">
              <a:spcAft>
                <a:spcPts val="400"/>
              </a:spcAft>
              <a:buChar char="•"/>
            </a:pPr>
            <a:r>
              <a:rPr sz="1400" b="0">
                <a:solidFill>
                  <a:srgbClr val="FFFFFF"/>
                </a:solidFill>
              </a:rPr>
              <a:t>Fixed vs adaptive benchmark: done</a:t>
            </a:r>
          </a:p>
          <a:p>
            <a:pPr algn="l" marL="146304" indent="-128016">
              <a:spcAft>
                <a:spcPts val="400"/>
              </a:spcAft>
              <a:buChar char="•"/>
            </a:pPr>
            <a:r>
              <a:rPr sz="1400" b="0">
                <a:solidFill>
                  <a:srgbClr val="FFFFFF"/>
                </a:solidFill>
              </a:rPr>
              <a:t>Next: CheXpert validation set</a:t>
            </a:r>
          </a:p>
          <a:p>
            <a:pPr algn="l" marL="146304" indent="-128016">
              <a:spcAft>
                <a:spcPts val="400"/>
              </a:spcAft>
              <a:buChar char="•"/>
            </a:pPr>
            <a:r>
              <a:rPr sz="1400" b="0">
                <a:solidFill>
                  <a:srgbClr val="FFFFFF"/>
                </a:solidFill>
              </a:rPr>
              <a:t>Next: radiologist reader study</a:t>
            </a:r>
          </a:p>
        </p:txBody>
      </p:sp>
    </p:spTree>
    <p:extLst>
      <p:ext uri="{BB962C8B-B14F-4D97-AF65-F5344CB8AC3E}">
        <p14:creationId xmlns:p14="http://schemas.microsoft.com/office/powerpoint/2010/main" val="2320652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F9801-AA0D-B824-7D12-7A67D079A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55A1B-98BB-4C96-3D46-F7C277642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Cost Estimate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90F702-E452-B943-EB28-AD4E42FBD5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7301" y="243840"/>
            <a:ext cx="1790699" cy="488373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28F6EDC-03CE-8F9E-2AFF-F65131DFC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165898"/>
              </p:ext>
            </p:extLst>
          </p:nvPr>
        </p:nvGraphicFramePr>
        <p:xfrm>
          <a:off x="838200" y="1240151"/>
          <a:ext cx="10515600" cy="5258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33029596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949657605"/>
                    </a:ext>
                  </a:extLst>
                </a:gridCol>
              </a:tblGrid>
              <a:tr h="6573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COMPONENT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ESTIMATED COST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5946974"/>
                  </a:ext>
                </a:extLst>
              </a:tr>
              <a:tr h="6573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Public Medical Datasets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₹0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1503680"/>
                  </a:ext>
                </a:extLst>
              </a:tr>
              <a:tr h="6573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Python / PyQt6 / PyTorch / OpenCV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₹0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2999264"/>
                  </a:ext>
                </a:extLst>
              </a:tr>
              <a:tr h="6573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RAG &amp; Open-Source Models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₹0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6117474"/>
                  </a:ext>
                </a:extLst>
              </a:tr>
              <a:tr h="6573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Development Tools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₹0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86647805"/>
                  </a:ext>
                </a:extLst>
              </a:tr>
              <a:tr h="6573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Local/College Computing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₹0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7226726"/>
                  </a:ext>
                </a:extLst>
              </a:tr>
              <a:tr h="6573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Cloud GPU/API (if required)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₹2,000–₹5,000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3387054"/>
                  </a:ext>
                </a:extLst>
              </a:tr>
              <a:tr h="6573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Estimated 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₹2,000–₹5,000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4155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97942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DAFA7-DCA6-D27E-CDBE-EF0A2A42D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BB954-EDE4-B068-D79B-2162C46BD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References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637C8F-FB90-6C7F-CECC-4D3E93B7D9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2500" lnSpcReduction="20000"/>
          </a:bodyPr>
          <a:lstStyle/>
          <a:p>
            <a:pPr lvl="0">
              <a:lnSpc>
                <a:spcPct val="110000"/>
              </a:lnSpc>
            </a:pPr>
            <a:r>
              <a:rPr lang="en-IN" dirty="0" err="1"/>
              <a:t>CheXpert</a:t>
            </a:r>
            <a:r>
              <a:rPr lang="en-IN" dirty="0"/>
              <a:t> – Stanford ML Group</a:t>
            </a:r>
            <a:br>
              <a:rPr lang="en-IN" dirty="0"/>
            </a:br>
            <a:r>
              <a:rPr lang="en-IN" dirty="0" err="1">
                <a:hlinkClick r:id="rId2"/>
              </a:rPr>
              <a:t>CheXpert</a:t>
            </a:r>
            <a:r>
              <a:rPr lang="en-IN" dirty="0">
                <a:hlinkClick r:id="rId2"/>
              </a:rPr>
              <a:t> Dataset &amp; Research</a:t>
            </a:r>
            <a:r>
              <a:rPr lang="en-IN" dirty="0"/>
              <a:t> </a:t>
            </a:r>
          </a:p>
          <a:p>
            <a:pPr lvl="0">
              <a:lnSpc>
                <a:spcPct val="110000"/>
              </a:lnSpc>
            </a:pPr>
            <a:r>
              <a:rPr lang="en-IN" dirty="0"/>
              <a:t>Human-AI Symbiosis in Chest Radiography – Radiology</a:t>
            </a:r>
            <a:br>
              <a:rPr lang="en-IN" dirty="0"/>
            </a:br>
            <a:r>
              <a:rPr lang="en-IN" dirty="0">
                <a:hlinkClick r:id="rId3"/>
              </a:rPr>
              <a:t>Human-AI Symbiosis: Chest Radiography</a:t>
            </a:r>
            <a:r>
              <a:rPr lang="en-IN" dirty="0"/>
              <a:t> </a:t>
            </a:r>
          </a:p>
          <a:p>
            <a:pPr lvl="0">
              <a:lnSpc>
                <a:spcPct val="110000"/>
              </a:lnSpc>
            </a:pPr>
            <a:r>
              <a:rPr lang="en-IN" dirty="0"/>
              <a:t>Human–Machine Partnership for Chest Radiograph Diagnosis</a:t>
            </a:r>
            <a:br>
              <a:rPr lang="en-IN" dirty="0"/>
            </a:br>
            <a:r>
              <a:rPr lang="en-IN" dirty="0">
                <a:hlinkClick r:id="rId4"/>
              </a:rPr>
              <a:t>Human–Machine Partnership Study</a:t>
            </a:r>
            <a:r>
              <a:rPr lang="en-IN" dirty="0"/>
              <a:t> </a:t>
            </a:r>
          </a:p>
          <a:p>
            <a:pPr lvl="0">
              <a:lnSpc>
                <a:spcPct val="110000"/>
              </a:lnSpc>
            </a:pPr>
            <a:r>
              <a:rPr lang="en-IN" dirty="0"/>
              <a:t>AI Explanation Types and Physician Trust – Radiology</a:t>
            </a:r>
            <a:br>
              <a:rPr lang="en-IN" dirty="0"/>
            </a:br>
            <a:r>
              <a:rPr lang="en-IN" dirty="0">
                <a:hlinkClick r:id="rId5"/>
              </a:rPr>
              <a:t>AI Explanations and Physician Trust</a:t>
            </a:r>
            <a:r>
              <a:rPr lang="en-IN" dirty="0"/>
              <a:t> </a:t>
            </a:r>
          </a:p>
          <a:p>
            <a:pPr lvl="0">
              <a:lnSpc>
                <a:spcPct val="110000"/>
              </a:lnSpc>
            </a:pPr>
            <a:r>
              <a:rPr lang="en-IN" dirty="0"/>
              <a:t>Calibration-Based Explainability for Medical Images</a:t>
            </a:r>
            <a:br>
              <a:rPr lang="en-IN" dirty="0"/>
            </a:br>
            <a:r>
              <a:rPr lang="en-IN" dirty="0">
                <a:hlinkClick r:id="rId6"/>
              </a:rPr>
              <a:t>Calibration-Based Counterfactual Explanations</a:t>
            </a:r>
            <a:endParaRPr lang="en-IN" dirty="0"/>
          </a:p>
          <a:p>
            <a:pPr lvl="0">
              <a:lnSpc>
                <a:spcPct val="110000"/>
              </a:lnSpc>
            </a:pPr>
            <a:r>
              <a:rPr lang="en-IN" dirty="0"/>
              <a:t>TorchXRayVision – Cohen et al., MIDL 2022</a:t>
            </a:r>
            <a:br>
              <a:rPr lang="en-IN" dirty="0"/>
            </a:br>
            <a:r>
              <a:rPr lang="en-IN" dirty="0">
                <a:hlinkClick r:id="rId8"/>
              </a:rPr>
              <a:t>TorchXRayVision Library &amp; Models</a:t>
            </a:r>
            <a:r>
              <a:rPr lang="en-IN" dirty="0"/>
              <a:t> </a:t>
            </a:r>
          </a:p>
          <a:p>
            <a:pPr lvl="0">
              <a:lnSpc>
                <a:spcPct val="110000"/>
              </a:lnSpc>
            </a:pPr>
            <a:r>
              <a:rPr lang="en-IN" dirty="0"/>
              <a:t>Fleischner Society 2017 – Incidental Pulmonary Nodules</a:t>
            </a:r>
            <a:br>
              <a:rPr lang="en-IN" dirty="0"/>
            </a:br>
            <a:r>
              <a:rPr lang="en-IN" dirty="0">
                <a:hlinkClick r:id="rId9"/>
              </a:rPr>
              <a:t>Fleischner Nodule Guidelines</a:t>
            </a:r>
            <a:r>
              <a:rPr lang="en-IN" dirty="0"/>
              <a:t> </a:t>
            </a:r>
          </a:p>
          <a:p>
            <a:pPr lvl="0">
              <a:lnSpc>
                <a:spcPct val="110000"/>
              </a:lnSpc>
            </a:pPr>
            <a:r>
              <a:rPr lang="en-IN" dirty="0"/>
              <a:t>Underdiagnosis Bias in Chest X-ray AI – Nature Medicine</a:t>
            </a:r>
            <a:br>
              <a:rPr lang="en-IN" dirty="0"/>
            </a:br>
            <a:r>
              <a:rPr lang="en-IN" dirty="0">
                <a:hlinkClick r:id="rId10"/>
              </a:rPr>
              <a:t>AI Underdiagnosis Bias Study</a:t>
            </a:r>
            <a:r>
              <a:rPr lang="en-IN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47B609-4A18-EBCA-1B5D-222DC68BD6D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7301" y="243840"/>
            <a:ext cx="1790699" cy="488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867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>
          <a:xfrm>
            <a:off x="499379" y="1240151"/>
            <a:ext cx="11235421" cy="5209810"/>
          </a:xfrm>
        </p:spPr>
        <p:txBody>
          <a:bodyPr>
            <a:normAutofit fontScale="77500" lnSpcReduction="20000"/>
          </a:bodyPr>
          <a:lstStyle/>
          <a:p>
            <a:pPr marL="0" indent="0" algn="just">
              <a:lnSpc>
                <a:spcPct val="120000"/>
              </a:lnSpc>
              <a:buNone/>
            </a:pPr>
            <a:r>
              <a:rPr lang="en-IN" dirty="0"/>
              <a:t>Chest X-ray reading must stay accurate across variable image quality and case complexity. MEDSCAN is a working desktop prototype of an Adaptive AI-driven chest X-ray assistant. Instead of running every model on every scan, it checks scan quality first, sends poor or incomplete films to a human, screens the rest once, and routes only suspicious findings to region-specific specialist modules for the heart, pleura, lung zones and nodules. A pretrained DenseNet-121 is fused with interpretable measurements such as the cardiothoracic ratio. Every finding carries a probability, a confidence built from stability, agreement and quality, its evidence and its limitations, and the engine abstains when unsure. Medical RAG adds cited guideline evidence at a depth matched to the clinical context. Doctors accept, correct, reject or question each finding after a blinded first read, and every decision is kept in a hash-chained audit trail with subgroup bias monitoring. On a 25-image synthetic benchmark, adaptive routing cut analysis time by 50% and specialist-module use by 75% versus a fixed pipeline with no loss of sensitivity or specificity. Validation on CheXpert and a radiologist reader study are next.</a:t>
            </a:r>
          </a:p>
        </p:txBody>
      </p:sp>
    </p:spTree>
    <p:extLst>
      <p:ext uri="{BB962C8B-B14F-4D97-AF65-F5344CB8AC3E}">
        <p14:creationId xmlns:p14="http://schemas.microsoft.com/office/powerpoint/2010/main" val="1102600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D489BA4-5ED2-C4A7-38EE-0082661BE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56757" y="2772942"/>
            <a:ext cx="3340981" cy="1325563"/>
          </a:xfrm>
        </p:spPr>
        <p:txBody>
          <a:bodyPr>
            <a:normAutofit/>
          </a:bodyPr>
          <a:lstStyle/>
          <a:p>
            <a:pPr algn="r"/>
            <a:r>
              <a:rPr lang="en-US" sz="40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27632174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Prototype Results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7301" y="243840"/>
            <a:ext cx="1790699" cy="488373"/>
          </a:xfrm>
          <a:prstGeom prst="rect">
            <a:avLst/>
          </a:prstGeom>
        </p:spPr>
      </p:pic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143000"/>
          <a:ext cx="6675120" cy="4663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Stat 1"/>
          <p:cNvSpPr/>
          <p:nvPr/>
        </p:nvSpPr>
        <p:spPr>
          <a:xfrm>
            <a:off x="7543800" y="1188720"/>
            <a:ext cx="2011680" cy="173736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3200" b="1">
                <a:solidFill>
                  <a:schemeClr val="accent1"/>
                </a:solidFill>
              </a:rPr>
              <a:t>−50%</a:t>
            </a:r>
          </a:p>
          <a:p>
            <a:pPr algn="ctr"/>
            <a:r>
              <a:rPr sz="1300" b="0">
                <a:solidFill>
                  <a:srgbClr val="0E2841"/>
                </a:solidFill>
              </a:rPr>
              <a:t>analysis time</a:t>
            </a:r>
          </a:p>
        </p:txBody>
      </p:sp>
      <p:sp>
        <p:nvSpPr>
          <p:cNvPr id="6" name="Stat 2"/>
          <p:cNvSpPr/>
          <p:nvPr/>
        </p:nvSpPr>
        <p:spPr>
          <a:xfrm>
            <a:off x="9646920" y="1188720"/>
            <a:ext cx="2011680" cy="173736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3200" b="1">
                <a:solidFill>
                  <a:schemeClr val="accent1"/>
                </a:solidFill>
              </a:rPr>
              <a:t>−75%</a:t>
            </a:r>
          </a:p>
          <a:p>
            <a:pPr algn="ctr"/>
            <a:r>
              <a:rPr sz="1300" b="0">
                <a:solidFill>
                  <a:srgbClr val="0E2841"/>
                </a:solidFill>
              </a:rPr>
              <a:t>specialist modules &amp; model calls</a:t>
            </a:r>
          </a:p>
        </p:txBody>
      </p:sp>
      <p:sp>
        <p:nvSpPr>
          <p:cNvPr id="7" name="Stat 3"/>
          <p:cNvSpPr/>
          <p:nvPr/>
        </p:nvSpPr>
        <p:spPr>
          <a:xfrm>
            <a:off x="7543800" y="3063239"/>
            <a:ext cx="2011680" cy="173736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3200" b="1">
                <a:solidFill>
                  <a:schemeClr val="accent1"/>
                </a:solidFill>
              </a:rPr>
              <a:t>1.00</a:t>
            </a:r>
          </a:p>
          <a:p>
            <a:pPr algn="ctr"/>
            <a:r>
              <a:rPr sz="1300" b="0">
                <a:solidFill>
                  <a:srgbClr val="0E2841"/>
                </a:solidFill>
              </a:rPr>
              <a:t>sensitivity &amp; specificity – unchanged</a:t>
            </a:r>
          </a:p>
        </p:txBody>
      </p:sp>
      <p:sp>
        <p:nvSpPr>
          <p:cNvPr id="8" name="Stat 4"/>
          <p:cNvSpPr/>
          <p:nvPr/>
        </p:nvSpPr>
        <p:spPr>
          <a:xfrm>
            <a:off x="9646920" y="3063239"/>
            <a:ext cx="2011680" cy="1737360"/>
          </a:xfrm>
          <a:prstGeom prst="roundRect">
            <a:avLst>
              <a:gd name="adj" fmla="val 12000"/>
            </a:avLst>
          </a:prstGeom>
          <a:solidFill>
            <a:srgbClr val="E8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  <a:r>
              <a:rPr sz="3200" b="1">
                <a:solidFill>
                  <a:schemeClr val="accent1"/>
                </a:solidFill>
              </a:rPr>
              <a:t>24%</a:t>
            </a:r>
          </a:p>
          <a:p>
            <a:pPr algn="ctr"/>
            <a:r>
              <a:rPr sz="1300" b="0">
                <a:solidFill>
                  <a:srgbClr val="0E2841"/>
                </a:solidFill>
              </a:rPr>
              <a:t>scans exit early, no specialist</a:t>
            </a:r>
          </a:p>
        </p:txBody>
      </p:sp>
      <p:sp>
        <p:nvSpPr>
          <p:cNvPr id="9" name="Benchmark note"/>
          <p:cNvSpPr/>
          <p:nvPr/>
        </p:nvSpPr>
        <p:spPr>
          <a:xfrm>
            <a:off x="7543800" y="4983480"/>
            <a:ext cx="411480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/>
            <a:r>
              <a:rPr sz="1100" b="0">
                <a:solidFill>
                  <a:srgbClr val="555F6B"/>
                </a:solidFill>
              </a:rPr>
              <a:t>Benchmark: 25 synthetic chest X-ray phantoms with ground truth (6 findings + 3 poor-quality scans), built-in engine. Not clinical performance.</a:t>
            </a:r>
          </a:p>
        </p:txBody>
      </p:sp>
      <p:sp>
        <p:nvSpPr>
          <p:cNvPr id="10" name="Results caption"/>
          <p:cNvSpPr/>
          <p:nvPr/>
        </p:nvSpPr>
        <p:spPr>
          <a:xfrm>
            <a:off x="502920" y="5897880"/>
            <a:ext cx="1115568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/>
            <a:r>
              <a:rPr sz="1300" b="1">
                <a:solidFill>
                  <a:srgbClr val="0E2841"/>
                </a:solidFill>
              </a:rPr>
              <a:t>Same scans, same engine – only the router differs. </a:t>
            </a:r>
            <a:r>
              <a:rPr sz="1300" b="0">
                <a:solidFill>
                  <a:srgbClr val="0E2841"/>
                </a:solidFill>
              </a:rPr>
              <a:t>Quality gate caught 3 of 3 poor scans; findings localised to the correct side.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Prototype Screens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7301" y="243840"/>
            <a:ext cx="1790699" cy="488373"/>
          </a:xfrm>
          <a:prstGeom prst="rect">
            <a:avLst/>
          </a:prstGeom>
        </p:spPr>
      </p:pic>
      <p:pic>
        <p:nvPicPr>
          <p:cNvPr id="4" name="Picture 3" descr="04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90" y="1234440"/>
            <a:ext cx="5736539" cy="338328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5" name="Caption 1"/>
          <p:cNvSpPr/>
          <p:nvPr/>
        </p:nvSpPr>
        <p:spPr>
          <a:xfrm>
            <a:off x="502920" y="4709160"/>
            <a:ext cx="54406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ctr"/>
            <a:r>
              <a:rPr sz="1300" b="0">
                <a:solidFill>
                  <a:srgbClr val="0E2841"/>
                </a:solidFill>
              </a:rPr>
              <a:t>Review – heatmap, router decision, quality checks</a:t>
            </a:r>
          </a:p>
        </p:txBody>
      </p:sp>
      <p:pic>
        <p:nvPicPr>
          <p:cNvPr id="6" name="Picture 5" descr="06-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636" y="1234440"/>
            <a:ext cx="5413248" cy="338328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7" name="Caption 2"/>
          <p:cNvSpPr/>
          <p:nvPr/>
        </p:nvSpPr>
        <p:spPr>
          <a:xfrm>
            <a:off x="6217920" y="4709160"/>
            <a:ext cx="54406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ctr"/>
            <a:r>
              <a:rPr sz="1300" b="0">
                <a:solidFill>
                  <a:srgbClr val="0E2841"/>
                </a:solidFill>
              </a:rPr>
              <a:t>Dashboard – findings, routing, doctor decisions</a:t>
            </a:r>
          </a:p>
        </p:txBody>
      </p:sp>
      <p:sp>
        <p:nvSpPr>
          <p:cNvPr id="8" name="Screens note"/>
          <p:cNvSpPr/>
          <p:nvPr/>
        </p:nvSpPr>
        <p:spPr>
          <a:xfrm>
            <a:off x="502920" y="5349240"/>
            <a:ext cx="1115568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/>
            <a:r>
              <a:rPr sz="1400" b="1">
                <a:solidFill>
                  <a:srgbClr val="0E2841"/>
                </a:solidFill>
              </a:rPr>
              <a:t>Desktop app (PyQt6): </a:t>
            </a:r>
            <a:r>
              <a:rPr sz="1400" b="0">
                <a:solidFill>
                  <a:srgbClr val="0E2841"/>
                </a:solidFill>
              </a:rPr>
              <a:t>sign-in with clinician and admin workspaces · Analyse with live 8-stage pipeline · Review with Accept / Correct / Reject / Question and blinded first read · Evaluation · Bias Monitor · hash-chained Audit Trail.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920</Words>
  <Application>Microsoft Office PowerPoint</Application>
  <PresentationFormat>Widescreen</PresentationFormat>
  <Paragraphs>132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Challenge Statement</vt:lpstr>
      <vt:lpstr>Concept / Proposed Solution </vt:lpstr>
      <vt:lpstr>Pros and Cons of the solution</vt:lpstr>
      <vt:lpstr>Technical Description</vt:lpstr>
      <vt:lpstr>Implementation Plan</vt:lpstr>
      <vt:lpstr>Cost Estimate</vt:lpstr>
      <vt:lpstr>References</vt:lpstr>
      <vt:lpstr>Abstract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Pauline Gifty Simon Solomon Raj</dc:creator>
  <cp:lastModifiedBy>VARUN M</cp:lastModifiedBy>
  <cp:revision>57</cp:revision>
  <dcterms:created xsi:type="dcterms:W3CDTF">2025-05-02T07:02:53Z</dcterms:created>
  <dcterms:modified xsi:type="dcterms:W3CDTF">2026-10-03T13:41:38Z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bb46c77-3b58-4101-b463-cd3b3d516e4a_Enabled">
    <vt:lpwstr>true</vt:lpwstr>
  </property>
  <property fmtid="{D5CDD505-2E9C-101B-9397-08002B2CF9AE}" pid="3" name="MSIP_Label_3bb46c77-3b58-4101-b463-cd3b3d516e4a_SetDate">
    <vt:lpwstr>2025-11-10T08:24:40Z</vt:lpwstr>
  </property>
  <property fmtid="{D5CDD505-2E9C-101B-9397-08002B2CF9AE}" pid="4" name="MSIP_Label_3bb46c77-3b58-4101-b463-cd3b3d516e4a_Method">
    <vt:lpwstr>Privileged</vt:lpwstr>
  </property>
  <property fmtid="{D5CDD505-2E9C-101B-9397-08002B2CF9AE}" pid="5" name="MSIP_Label_3bb46c77-3b58-4101-b463-cd3b3d516e4a_Name">
    <vt:lpwstr>Non-Business</vt:lpwstr>
  </property>
  <property fmtid="{D5CDD505-2E9C-101B-9397-08002B2CF9AE}" pid="6" name="MSIP_Label_3bb46c77-3b58-4101-b463-cd3b3d516e4a_SiteId">
    <vt:lpwstr>311b3378-8e8a-4b5e-a33f-e80a3d8ba60a</vt:lpwstr>
  </property>
  <property fmtid="{D5CDD505-2E9C-101B-9397-08002B2CF9AE}" pid="7" name="MSIP_Label_3bb46c77-3b58-4101-b463-cd3b3d516e4a_ActionId">
    <vt:lpwstr>32140557-dc45-4034-95f2-51fdd23dee9d</vt:lpwstr>
  </property>
  <property fmtid="{D5CDD505-2E9C-101B-9397-08002B2CF9AE}" pid="8" name="MSIP_Label_3bb46c77-3b58-4101-b463-cd3b3d516e4a_ContentBits">
    <vt:lpwstr>0</vt:lpwstr>
  </property>
  <property fmtid="{D5CDD505-2E9C-101B-9397-08002B2CF9AE}" pid="9" name="MSIP_Label_3bb46c77-3b58-4101-b463-cd3b3d516e4a_Tag">
    <vt:lpwstr>10, 0, 1, 1</vt:lpwstr>
  </property>
</Properties>
</file>