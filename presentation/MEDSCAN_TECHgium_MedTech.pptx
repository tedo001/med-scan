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media/image2.svg" ContentType="image/svg+xml"/>
  <Override PartName="/ppt/media/image3.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328" r:id="rId2"/>
    <p:sldId id="306" r:id="rId3"/>
    <p:sldId id="307" r:id="rId4"/>
    <p:sldId id="308" r:id="rId5"/>
    <p:sldId id="329" r:id="rId6"/>
    <p:sldId id="338" r:id="rId17"/>
    <p:sldId id="332" r:id="rId7"/>
    <p:sldId id="339" r:id="rId18"/>
    <p:sldId id="340" r:id="rId19"/>
    <p:sldId id="341" r:id="rId20"/>
    <p:sldId id="333" r:id="rId8"/>
    <p:sldId id="335" r:id="rId9"/>
    <p:sldId id="337" r:id="rId10"/>
    <p:sldId id="30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C208"/>
    <a:srgbClr val="FFCC00"/>
    <a:srgbClr val="F8ED0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78" d="100"/>
          <a:sy n="78" d="100"/>
        </p:scale>
        <p:origin x="878"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Fixed pipeline</c:v>
                </c:pt>
              </c:strCache>
            </c:strRef>
          </c:tx>
          <c:spPr>
            <a:solidFill>
              <a:srgbClr val="A6B4C0"/>
            </a:solidFill>
          </c:spPr>
          <c:cat>
            <c:strRef>
              <c:f>Sheet1!$A$2:$A$4</c:f>
              <c:strCache>
                <c:ptCount val="3"/>
                <c:pt idx="0">
                  <c:v>Seconds / scan</c:v>
                </c:pt>
                <c:pt idx="1">
                  <c:v>Modules / scan</c:v>
                </c:pt>
                <c:pt idx="2">
                  <c:v>Model calls ÷ 10</c:v>
                </c:pt>
              </c:strCache>
            </c:strRef>
          </c:cat>
          <c:val>
            <c:numRef>
              <c:f>Sheet1!$B$2:$B$4</c:f>
              <c:numCache>
                <c:formatCode>General</c:formatCode>
                <c:ptCount val="3"/>
                <c:pt idx="0">
                  <c:v>3.2</c:v>
                </c:pt>
                <c:pt idx="1">
                  <c:v>3.5</c:v>
                </c:pt>
                <c:pt idx="2">
                  <c:v>1.76</c:v>
                </c:pt>
              </c:numCache>
            </c:numRef>
          </c:val>
        </c:ser>
        <c:ser>
          <c:idx val="1"/>
          <c:order val="1"/>
          <c:tx>
            <c:strRef>
              <c:f>Sheet1!$C$1</c:f>
              <c:strCache>
                <c:ptCount val="1"/>
                <c:pt idx="0">
                  <c:v>Adaptive routing</c:v>
                </c:pt>
              </c:strCache>
            </c:strRef>
          </c:tx>
          <c:spPr>
            <a:solidFill>
              <a:schemeClr val="accent1"/>
            </a:solidFill>
          </c:spPr>
          <c:cat>
            <c:strRef>
              <c:f>Sheet1!$A$2:$A$4</c:f>
              <c:strCache>
                <c:ptCount val="3"/>
                <c:pt idx="0">
                  <c:v>Seconds / scan</c:v>
                </c:pt>
                <c:pt idx="1">
                  <c:v>Modules / scan</c:v>
                </c:pt>
                <c:pt idx="2">
                  <c:v>Model calls ÷ 10</c:v>
                </c:pt>
              </c:strCache>
            </c:strRef>
          </c:cat>
          <c:val>
            <c:numRef>
              <c:f>Sheet1!$C$2:$C$4</c:f>
              <c:numCache>
                <c:formatCode>General</c:formatCode>
                <c:ptCount val="3"/>
                <c:pt idx="0">
                  <c:v>1.6</c:v>
                </c:pt>
                <c:pt idx="1">
                  <c:v>0.88</c:v>
                </c:pt>
                <c:pt idx="2">
                  <c:v>0.44</c:v>
                </c:pt>
              </c:numCache>
            </c:numRef>
          </c:val>
        </c:ser>
        <c:dLbls>
          <c:numFmt formatCode="0.0#" sourceLinked="0"/>
          <c:txPr>
            <a:bodyPr/>
            <a:lstStyle/>
            <a:p>
              <a:pPr>
                <a:defRPr sz="120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l"/>
        <c:majorGridlines>
          <c:spPr>
            <a:ln>
              <a:solidFill>
                <a:srgbClr val="E5E7EB"/>
              </a:solidFill>
            </a:ln>
          </c:spPr>
        </c:majorGridlines>
        <c:majorTickMark val="out"/>
        <c:minorTickMark val="none"/>
        <c:tickLblPos val="nextTo"/>
        <c:spPr>
          <a:ln>
            <a:noFill/>
          </a:ln>
        </c:spPr>
        <c:txPr>
          <a:bodyPr/>
          <a:lstStyle/>
          <a:p>
            <a:pPr>
              <a:defRPr sz="1100"/>
            </a:pPr>
          </a:p>
        </c:txPr>
        <c:crossAx val="-2068027336"/>
        <c:crosses val="autoZero"/>
      </c:valAx>
    </c:plotArea>
    <c:legend>
      <c:legendPos val="t"/>
      <c:overlay val="0"/>
      <c:txPr>
        <a:bodyPr/>
        <a:lstStyle/>
        <a:p>
          <a:pPr>
            <a:defRPr sz="1200"/>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Doctor alone</c:v>
                </c:pt>
              </c:strCache>
            </c:strRef>
          </c:tx>
          <c:spPr>
            <a:solidFill>
              <a:srgbClr val="A6B4C0"/>
            </a:solidFill>
          </c:spPr>
          <c:cat>
            <c:strRef>
              <c:f>Sheet1!$A$2:$A$4</c:f>
              <c:strCache>
                <c:ptCount val="3"/>
                <c:pt idx="0">
                  <c:v>Trainee</c:v>
                </c:pt>
                <c:pt idx="1">
                  <c:v>Registrar</c:v>
                </c:pt>
                <c:pt idx="2">
                  <c:v>Consultant</c:v>
                </c:pt>
              </c:strCache>
            </c:strRef>
          </c:cat>
          <c:val>
            <c:numRef>
              <c:f>Sheet1!$B$2:$B$4</c:f>
              <c:numCache>
                <c:formatCode>General</c:formatCode>
                <c:ptCount val="3"/>
                <c:pt idx="0">
                  <c:v>0.86</c:v>
                </c:pt>
                <c:pt idx="1">
                  <c:v>0.9</c:v>
                </c:pt>
                <c:pt idx="2">
                  <c:v>0.95</c:v>
                </c:pt>
              </c:numCache>
            </c:numRef>
          </c:val>
        </c:ser>
        <c:ser>
          <c:idx val="1"/>
          <c:order val="1"/>
          <c:tx>
            <c:strRef>
              <c:f>Sheet1!$C$1</c:f>
              <c:strCache>
                <c:ptCount val="1"/>
                <c:pt idx="0">
                  <c:v>AI alone</c:v>
                </c:pt>
              </c:strCache>
            </c:strRef>
          </c:tx>
          <c:spPr>
            <a:solidFill>
              <a:srgbClr val="0F766E"/>
            </a:solidFill>
          </c:spPr>
          <c:cat>
            <c:strRef>
              <c:f>Sheet1!$A$2:$A$4</c:f>
              <c:strCache>
                <c:ptCount val="3"/>
                <c:pt idx="0">
                  <c:v>Trainee</c:v>
                </c:pt>
                <c:pt idx="1">
                  <c:v>Registrar</c:v>
                </c:pt>
                <c:pt idx="2">
                  <c:v>Consultant</c:v>
                </c:pt>
              </c:strCache>
            </c:strRef>
          </c:cat>
          <c:val>
            <c:numRef>
              <c:f>Sheet1!$C$2:$C$4</c:f>
              <c:numCache>
                <c:formatCode>General</c:formatCode>
                <c:ptCount val="3"/>
                <c:pt idx="0">
                  <c:v>0.85</c:v>
                </c:pt>
                <c:pt idx="1">
                  <c:v>0.84</c:v>
                </c:pt>
                <c:pt idx="2">
                  <c:v>0.84</c:v>
                </c:pt>
              </c:numCache>
            </c:numRef>
          </c:val>
        </c:ser>
        <c:ser>
          <c:idx val="2"/>
          <c:order val="2"/>
          <c:tx>
            <c:strRef>
              <c:f>Sheet1!$D$1</c:f>
              <c:strCache>
                <c:ptCount val="1"/>
                <c:pt idx="0">
                  <c:v>Doctor + AI</c:v>
                </c:pt>
              </c:strCache>
            </c:strRef>
          </c:tx>
          <c:spPr>
            <a:solidFill>
              <a:schemeClr val="accent1"/>
            </a:solidFill>
          </c:spPr>
          <c:cat>
            <c:strRef>
              <c:f>Sheet1!$A$2:$A$4</c:f>
              <c:strCache>
                <c:ptCount val="3"/>
                <c:pt idx="0">
                  <c:v>Trainee</c:v>
                </c:pt>
                <c:pt idx="1">
                  <c:v>Registrar</c:v>
                </c:pt>
                <c:pt idx="2">
                  <c:v>Consultant</c:v>
                </c:pt>
              </c:strCache>
            </c:strRef>
          </c:cat>
          <c:val>
            <c:numRef>
              <c:f>Sheet1!$D$2:$D$4</c:f>
              <c:numCache>
                <c:formatCode>General</c:formatCode>
                <c:ptCount val="3"/>
                <c:pt idx="0">
                  <c:v>0.93</c:v>
                </c:pt>
                <c:pt idx="1">
                  <c:v>0.94</c:v>
                </c:pt>
                <c:pt idx="2">
                  <c:v>0.95</c:v>
                </c:pt>
              </c:numCache>
            </c:numRef>
          </c:val>
        </c:ser>
        <c:dLbls>
          <c:numFmt formatCode="0.0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max val="1.0"/>
          <c:min val="0.5"/>
        </c:scaling>
        <c:delete val="0"/>
        <c:axPos val="l"/>
        <c:majorGridlines>
          <c:spPr>
            <a:ln>
              <a:solidFill>
                <a:srgbClr val="E5E7EB"/>
              </a:solidFill>
            </a:ln>
          </c:spPr>
        </c:majorGridlines>
        <c:majorTickMark val="out"/>
        <c:minorTickMark val="none"/>
        <c:tickLblPos val="nextTo"/>
        <c:txPr>
          <a:bodyPr/>
          <a:lstStyle/>
          <a:p>
            <a:pPr>
              <a:defRPr sz="1100"/>
            </a:pPr>
          </a:p>
        </c:txPr>
        <c:crossAx val="-2068027336"/>
        <c:crosses val="autoZero"/>
      </c:valAx>
    </c:plotArea>
    <c:legend>
      <c:legendPos val="t"/>
      <c:overlay val="0"/>
      <c:txPr>
        <a:bodyPr/>
        <a:lstStyle/>
        <a:p>
          <a:pPr>
            <a:defRPr sz="1200"/>
          </a:pPr>
        </a:p>
      </c:txPr>
    </c:legend>
    <c:dispBlanksAs val="gap"/>
  </c:chart>
  <c:txPr>
    <a:bodyPr/>
    <a:lstStyle/>
    <a:p>
      <a:pPr>
        <a:defRPr sz="1800"/>
      </a:pPr>
      <a:endParaRPr lang="en-US"/>
    </a:p>
  </c:txPr>
  <c:externalData r:id="rId1">
    <c:autoUpdate val="0"/>
  </c:externalData>
</c:chartSpace>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C13D67-FB7B-46B8-A9F8-8950376A6C11}">
      <dsp:nvSpPr>
        <dsp:cNvPr id="0" name=""/>
        <dsp:cNvSpPr/>
      </dsp:nvSpPr>
      <dsp:spPr>
        <a:xfrm>
          <a:off x="1236334" y="1471"/>
          <a:ext cx="1327500" cy="557196"/>
        </a:xfrm>
        <a:prstGeom prst="rect">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73660" tIns="73660" rIns="73660" bIns="73660" numCol="1" spcCol="1270" anchor="ctr" anchorCtr="0">
          <a:noAutofit/>
        </a:bodyPr>
        <a:lstStyle/>
        <a:p>
          <a:pPr marL="0" lvl="0" indent="0" algn="ctr" defTabSz="1289050">
            <a:lnSpc>
              <a:spcPct val="90000"/>
            </a:lnSpc>
            <a:spcBef>
              <a:spcPct val="0"/>
            </a:spcBef>
            <a:spcAft>
              <a:spcPct val="35000"/>
            </a:spcAft>
            <a:buNone/>
          </a:pPr>
          <a:r>
            <a:rPr lang="en-IN" sz="2900" b="1" kern="1200"/>
            <a:t>Python </a:t>
          </a:r>
          <a:endParaRPr lang="en-IN" sz="2900" kern="1200"/>
        </a:p>
      </dsp:txBody>
      <dsp:txXfrm>
        <a:off x="1236334" y="1471"/>
        <a:ext cx="1327500" cy="557196"/>
      </dsp:txXfrm>
    </dsp:sp>
    <dsp:sp modelId="{A061CA51-1B4E-4F27-973E-5870DA556E1C}">
      <dsp:nvSpPr>
        <dsp:cNvPr id="0" name=""/>
        <dsp:cNvSpPr/>
      </dsp:nvSpPr>
      <dsp:spPr>
        <a:xfrm>
          <a:off x="1157584" y="586528"/>
          <a:ext cx="1485000" cy="557196"/>
        </a:xfrm>
        <a:prstGeom prst="rect">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73660" tIns="73660" rIns="73660" bIns="73660" numCol="1" spcCol="1270" anchor="ctr" anchorCtr="0">
          <a:noAutofit/>
        </a:bodyPr>
        <a:lstStyle/>
        <a:p>
          <a:pPr marL="0" lvl="0" indent="0" algn="ctr" defTabSz="1289050">
            <a:lnSpc>
              <a:spcPct val="90000"/>
            </a:lnSpc>
            <a:spcBef>
              <a:spcPct val="0"/>
            </a:spcBef>
            <a:spcAft>
              <a:spcPct val="35000"/>
            </a:spcAft>
            <a:buNone/>
          </a:pPr>
          <a:r>
            <a:rPr lang="en-IN" sz="2900" b="1" kern="1200"/>
            <a:t>PyTorch </a:t>
          </a:r>
          <a:endParaRPr lang="en-IN" sz="2900" kern="1200"/>
        </a:p>
      </dsp:txBody>
      <dsp:txXfrm>
        <a:off x="1157584" y="586528"/>
        <a:ext cx="1485000" cy="557196"/>
      </dsp:txXfrm>
    </dsp:sp>
    <dsp:sp modelId="{B04807EC-975A-4F6D-93B7-6FF9A407A17F}">
      <dsp:nvSpPr>
        <dsp:cNvPr id="0" name=""/>
        <dsp:cNvSpPr/>
      </dsp:nvSpPr>
      <dsp:spPr>
        <a:xfrm>
          <a:off x="1112584" y="1171584"/>
          <a:ext cx="1575000" cy="557196"/>
        </a:xfrm>
        <a:prstGeom prst="rect">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73660" tIns="73660" rIns="73660" bIns="73660" numCol="1" spcCol="1270" anchor="ctr" anchorCtr="0">
          <a:noAutofit/>
        </a:bodyPr>
        <a:lstStyle/>
        <a:p>
          <a:pPr marL="0" lvl="0" indent="0" algn="ctr" defTabSz="1289050">
            <a:lnSpc>
              <a:spcPct val="90000"/>
            </a:lnSpc>
            <a:spcBef>
              <a:spcPct val="0"/>
            </a:spcBef>
            <a:spcAft>
              <a:spcPct val="35000"/>
            </a:spcAft>
            <a:buNone/>
          </a:pPr>
          <a:r>
            <a:rPr lang="en-IN" sz="2900" b="1" kern="1200"/>
            <a:t>OpenCV </a:t>
          </a:r>
          <a:endParaRPr lang="en-IN" sz="2900" kern="1200"/>
        </a:p>
      </dsp:txBody>
      <dsp:txXfrm>
        <a:off x="1112584" y="1171584"/>
        <a:ext cx="1575000" cy="557196"/>
      </dsp:txXfrm>
    </dsp:sp>
    <dsp:sp modelId="{763C83AF-C78A-4DF5-AF43-3CD62CC2C3CC}">
      <dsp:nvSpPr>
        <dsp:cNvPr id="0" name=""/>
        <dsp:cNvSpPr/>
      </dsp:nvSpPr>
      <dsp:spPr>
        <a:xfrm>
          <a:off x="1180084" y="1756641"/>
          <a:ext cx="1440000" cy="557196"/>
        </a:xfrm>
        <a:prstGeom prst="rect">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73660" tIns="73660" rIns="73660" bIns="73660" numCol="1" spcCol="1270" anchor="ctr" anchorCtr="0">
          <a:noAutofit/>
        </a:bodyPr>
        <a:lstStyle/>
        <a:p>
          <a:pPr marL="0" lvl="0" indent="0" algn="ctr" defTabSz="1289050">
            <a:lnSpc>
              <a:spcPct val="90000"/>
            </a:lnSpc>
            <a:spcBef>
              <a:spcPct val="0"/>
            </a:spcBef>
            <a:spcAft>
              <a:spcPct val="35000"/>
            </a:spcAft>
            <a:buNone/>
          </a:pPr>
          <a:r>
            <a:rPr lang="en-IN" sz="2900" b="1" kern="1200"/>
            <a:t>FastAPI </a:t>
          </a:r>
          <a:endParaRPr lang="en-IN" sz="2900" kern="1200"/>
        </a:p>
      </dsp:txBody>
      <dsp:txXfrm>
        <a:off x="1180084" y="1756641"/>
        <a:ext cx="1440000" cy="557196"/>
      </dsp:txXfrm>
    </dsp:sp>
    <dsp:sp modelId="{EB4FAA8F-7ACB-42F8-BE4B-A51640E6B499}">
      <dsp:nvSpPr>
        <dsp:cNvPr id="0" name=""/>
        <dsp:cNvSpPr/>
      </dsp:nvSpPr>
      <dsp:spPr>
        <a:xfrm>
          <a:off x="44078" y="2341698"/>
          <a:ext cx="3712011" cy="557196"/>
        </a:xfrm>
        <a:prstGeom prst="rect">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73660" tIns="73660" rIns="73660" bIns="73660" numCol="1" spcCol="1270" anchor="ctr" anchorCtr="0">
          <a:noAutofit/>
        </a:bodyPr>
        <a:lstStyle/>
        <a:p>
          <a:pPr marL="0" lvl="0" indent="0" algn="ctr" defTabSz="1289050">
            <a:lnSpc>
              <a:spcPct val="90000"/>
            </a:lnSpc>
            <a:spcBef>
              <a:spcPct val="0"/>
            </a:spcBef>
            <a:spcAft>
              <a:spcPct val="35000"/>
            </a:spcAft>
            <a:buNone/>
          </a:pPr>
          <a:r>
            <a:rPr lang="en-IN" sz="2900" b="1" kern="1200" dirty="0"/>
            <a:t>Medical Vision Model </a:t>
          </a:r>
          <a:endParaRPr lang="en-IN" sz="2900" kern="1200" dirty="0"/>
        </a:p>
      </dsp:txBody>
      <dsp:txXfrm>
        <a:off x="44078" y="2341698"/>
        <a:ext cx="3712011" cy="557196"/>
      </dsp:txXfrm>
    </dsp:sp>
    <dsp:sp modelId="{9FBFD6B4-0E43-46F4-A001-437C490824A0}">
      <dsp:nvSpPr>
        <dsp:cNvPr id="0" name=""/>
        <dsp:cNvSpPr/>
      </dsp:nvSpPr>
      <dsp:spPr>
        <a:xfrm>
          <a:off x="1461334" y="2926754"/>
          <a:ext cx="877500" cy="557196"/>
        </a:xfrm>
        <a:prstGeom prst="rect">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73660" tIns="73660" rIns="73660" bIns="73660" numCol="1" spcCol="1270" anchor="ctr" anchorCtr="0">
          <a:noAutofit/>
        </a:bodyPr>
        <a:lstStyle/>
        <a:p>
          <a:pPr marL="0" lvl="0" indent="0" algn="ctr" defTabSz="1289050">
            <a:lnSpc>
              <a:spcPct val="90000"/>
            </a:lnSpc>
            <a:spcBef>
              <a:spcPct val="0"/>
            </a:spcBef>
            <a:spcAft>
              <a:spcPct val="35000"/>
            </a:spcAft>
            <a:buNone/>
          </a:pPr>
          <a:r>
            <a:rPr lang="en-IN" sz="2900" b="1" kern="1200"/>
            <a:t>RAG </a:t>
          </a:r>
          <a:endParaRPr lang="en-IN" sz="2900" kern="1200"/>
        </a:p>
      </dsp:txBody>
      <dsp:txXfrm>
        <a:off x="1461334" y="2926754"/>
        <a:ext cx="877500" cy="557196"/>
      </dsp:txXfrm>
    </dsp:sp>
    <dsp:sp modelId="{6061054B-C5F4-4B0D-8D12-1BF52687F8ED}">
      <dsp:nvSpPr>
        <dsp:cNvPr id="0" name=""/>
        <dsp:cNvSpPr/>
      </dsp:nvSpPr>
      <dsp:spPr>
        <a:xfrm>
          <a:off x="1483834" y="3511811"/>
          <a:ext cx="832500" cy="557196"/>
        </a:xfrm>
        <a:prstGeom prst="rect">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73660" tIns="73660" rIns="73660" bIns="73660" numCol="1" spcCol="1270" anchor="ctr" anchorCtr="0">
          <a:noAutofit/>
        </a:bodyPr>
        <a:lstStyle/>
        <a:p>
          <a:pPr marL="0" lvl="0" indent="0" algn="ctr" defTabSz="1289050">
            <a:lnSpc>
              <a:spcPct val="90000"/>
            </a:lnSpc>
            <a:spcBef>
              <a:spcPct val="0"/>
            </a:spcBef>
            <a:spcAft>
              <a:spcPct val="35000"/>
            </a:spcAft>
            <a:buNone/>
          </a:pPr>
          <a:r>
            <a:rPr lang="en-IN" sz="2900" b="1" kern="1200"/>
            <a:t>LLM </a:t>
          </a:r>
          <a:endParaRPr lang="en-IN" sz="2900" kern="1200"/>
        </a:p>
      </dsp:txBody>
      <dsp:txXfrm>
        <a:off x="1483834" y="3511811"/>
        <a:ext cx="832500" cy="557196"/>
      </dsp:txXfrm>
    </dsp:sp>
    <dsp:sp modelId="{4DEA881E-0944-4BD0-9972-4F2B2F0E7C58}">
      <dsp:nvSpPr>
        <dsp:cNvPr id="0" name=""/>
        <dsp:cNvSpPr/>
      </dsp:nvSpPr>
      <dsp:spPr>
        <a:xfrm>
          <a:off x="1337584" y="4096868"/>
          <a:ext cx="1125000" cy="557196"/>
        </a:xfrm>
        <a:prstGeom prst="rect">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73660" tIns="73660" rIns="73660" bIns="73660" numCol="1" spcCol="1270" anchor="ctr" anchorCtr="0">
          <a:noAutofit/>
        </a:bodyPr>
        <a:lstStyle/>
        <a:p>
          <a:pPr marL="0" lvl="0" indent="0" algn="ctr" defTabSz="1289050">
            <a:lnSpc>
              <a:spcPct val="90000"/>
            </a:lnSpc>
            <a:spcBef>
              <a:spcPct val="0"/>
            </a:spcBef>
            <a:spcAft>
              <a:spcPct val="35000"/>
            </a:spcAft>
            <a:buNone/>
          </a:pPr>
          <a:r>
            <a:rPr lang="en-IN" sz="2900" b="1" kern="1200"/>
            <a:t>React </a:t>
          </a:r>
          <a:endParaRPr lang="en-IN" sz="2900" kern="1200"/>
        </a:p>
      </dsp:txBody>
      <dsp:txXfrm>
        <a:off x="1337584" y="4096868"/>
        <a:ext cx="1125000" cy="557196"/>
      </dsp:txXfrm>
    </dsp:sp>
    <dsp:sp modelId="{2CFCA415-584B-439C-A42B-6BFDADACADAC}">
      <dsp:nvSpPr>
        <dsp:cNvPr id="0" name=""/>
        <dsp:cNvSpPr/>
      </dsp:nvSpPr>
      <dsp:spPr>
        <a:xfrm>
          <a:off x="842584" y="4681924"/>
          <a:ext cx="2115000" cy="557196"/>
        </a:xfrm>
        <a:prstGeom prst="rect">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73660" tIns="73660" rIns="73660" bIns="73660" numCol="1" spcCol="1270" anchor="ctr" anchorCtr="0">
          <a:noAutofit/>
        </a:bodyPr>
        <a:lstStyle/>
        <a:p>
          <a:pPr marL="0" lvl="0" indent="0" algn="ctr" defTabSz="1289050">
            <a:lnSpc>
              <a:spcPct val="90000"/>
            </a:lnSpc>
            <a:spcBef>
              <a:spcPct val="0"/>
            </a:spcBef>
            <a:spcAft>
              <a:spcPct val="35000"/>
            </a:spcAft>
            <a:buNone/>
          </a:pPr>
          <a:r>
            <a:rPr lang="en-IN" sz="2900" b="1" kern="1200"/>
            <a:t>PostgreSQL</a:t>
          </a:r>
          <a:endParaRPr lang="en-IN" sz="2900" kern="1200"/>
        </a:p>
      </dsp:txBody>
      <dsp:txXfrm>
        <a:off x="842584" y="4681924"/>
        <a:ext cx="2115000" cy="5571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921850-60B8-4456-98F7-CD7851152A5D}">
      <dsp:nvSpPr>
        <dsp:cNvPr id="0" name=""/>
        <dsp:cNvSpPr/>
      </dsp:nvSpPr>
      <dsp:spPr>
        <a:xfrm>
          <a:off x="0" y="5509643"/>
          <a:ext cx="7303484" cy="0"/>
        </a:xfrm>
        <a:prstGeom prst="line">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3ABCDD-B702-49F6-84F8-9A627EE0571B}">
      <dsp:nvSpPr>
        <dsp:cNvPr id="0" name=""/>
        <dsp:cNvSpPr/>
      </dsp:nvSpPr>
      <dsp:spPr>
        <a:xfrm>
          <a:off x="0" y="4817229"/>
          <a:ext cx="7303484" cy="0"/>
        </a:xfrm>
        <a:prstGeom prst="line">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A721A74-5EC6-420E-9B6A-58B30AD74E67}">
      <dsp:nvSpPr>
        <dsp:cNvPr id="0" name=""/>
        <dsp:cNvSpPr/>
      </dsp:nvSpPr>
      <dsp:spPr>
        <a:xfrm>
          <a:off x="0" y="4124815"/>
          <a:ext cx="7303484" cy="0"/>
        </a:xfrm>
        <a:prstGeom prst="line">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98A1F25-8954-4D5F-8619-63E8886B2835}">
      <dsp:nvSpPr>
        <dsp:cNvPr id="0" name=""/>
        <dsp:cNvSpPr/>
      </dsp:nvSpPr>
      <dsp:spPr>
        <a:xfrm>
          <a:off x="0" y="3432401"/>
          <a:ext cx="7303484" cy="0"/>
        </a:xfrm>
        <a:prstGeom prst="line">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510649-6292-4642-BF18-212ED03D63DF}">
      <dsp:nvSpPr>
        <dsp:cNvPr id="0" name=""/>
        <dsp:cNvSpPr/>
      </dsp:nvSpPr>
      <dsp:spPr>
        <a:xfrm>
          <a:off x="0" y="2739987"/>
          <a:ext cx="7303484" cy="0"/>
        </a:xfrm>
        <a:prstGeom prst="line">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A8673E1-70E7-4304-8FEF-8DC464E074CA}">
      <dsp:nvSpPr>
        <dsp:cNvPr id="0" name=""/>
        <dsp:cNvSpPr/>
      </dsp:nvSpPr>
      <dsp:spPr>
        <a:xfrm>
          <a:off x="0" y="2047573"/>
          <a:ext cx="7303484" cy="0"/>
        </a:xfrm>
        <a:prstGeom prst="line">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5D3A9A2-7076-404C-8340-6DF02A83F682}">
      <dsp:nvSpPr>
        <dsp:cNvPr id="0" name=""/>
        <dsp:cNvSpPr/>
      </dsp:nvSpPr>
      <dsp:spPr>
        <a:xfrm>
          <a:off x="0" y="1355159"/>
          <a:ext cx="7303484" cy="0"/>
        </a:xfrm>
        <a:prstGeom prst="line">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FAA65A-294C-4309-9D90-A9BA05DBADAE}">
      <dsp:nvSpPr>
        <dsp:cNvPr id="0" name=""/>
        <dsp:cNvSpPr/>
      </dsp:nvSpPr>
      <dsp:spPr>
        <a:xfrm>
          <a:off x="0" y="662745"/>
          <a:ext cx="7303484" cy="0"/>
        </a:xfrm>
        <a:prstGeom prst="line">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680BB44-9316-4BA3-A035-C97CF0E82E85}">
      <dsp:nvSpPr>
        <dsp:cNvPr id="0" name=""/>
        <dsp:cNvSpPr/>
      </dsp:nvSpPr>
      <dsp:spPr>
        <a:xfrm>
          <a:off x="1898905" y="3303"/>
          <a:ext cx="5404578" cy="659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575" tIns="28575" rIns="28575" bIns="28575" numCol="1" spcCol="1270" anchor="b" anchorCtr="0">
          <a:noAutofit/>
        </a:bodyPr>
        <a:lstStyle/>
        <a:p>
          <a:pPr marL="0" lvl="0" indent="0" algn="l" defTabSz="666750">
            <a:lnSpc>
              <a:spcPct val="90000"/>
            </a:lnSpc>
            <a:spcBef>
              <a:spcPct val="0"/>
            </a:spcBef>
            <a:spcAft>
              <a:spcPct val="35000"/>
            </a:spcAft>
            <a:buNone/>
          </a:pPr>
          <a:r>
            <a:rPr lang="en-IN" sz="1500" kern="1200"/>
            <a:t>Resize, normalize and prepare chest X-rays.</a:t>
          </a:r>
        </a:p>
      </dsp:txBody>
      <dsp:txXfrm>
        <a:off x="1898905" y="3303"/>
        <a:ext cx="5404578" cy="659441"/>
      </dsp:txXfrm>
    </dsp:sp>
    <dsp:sp modelId="{5E84AA05-EF61-42BC-BD28-8BCF1C70DFF8}">
      <dsp:nvSpPr>
        <dsp:cNvPr id="0" name=""/>
        <dsp:cNvSpPr/>
      </dsp:nvSpPr>
      <dsp:spPr>
        <a:xfrm>
          <a:off x="0" y="3303"/>
          <a:ext cx="1898905" cy="659441"/>
        </a:xfrm>
        <a:prstGeom prst="round2SameRect">
          <a:avLst>
            <a:gd name="adj1" fmla="val 16670"/>
            <a:gd name="adj2" fmla="val 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marL="0" lvl="0" indent="0" algn="ctr" defTabSz="666750">
            <a:lnSpc>
              <a:spcPct val="90000"/>
            </a:lnSpc>
            <a:spcBef>
              <a:spcPct val="0"/>
            </a:spcBef>
            <a:spcAft>
              <a:spcPct val="35000"/>
            </a:spcAft>
            <a:buNone/>
          </a:pPr>
          <a:r>
            <a:rPr lang="en-IN" sz="1500" b="1" kern="1200"/>
            <a:t>1. Image Preprocessing</a:t>
          </a:r>
          <a:endParaRPr lang="en-IN" sz="1500" kern="1200"/>
        </a:p>
      </dsp:txBody>
      <dsp:txXfrm>
        <a:off x="32197" y="35500"/>
        <a:ext cx="1834511" cy="627244"/>
      </dsp:txXfrm>
    </dsp:sp>
    <dsp:sp modelId="{092CC0B8-C4A4-442F-B3D9-BB5078933622}">
      <dsp:nvSpPr>
        <dsp:cNvPr id="0" name=""/>
        <dsp:cNvSpPr/>
      </dsp:nvSpPr>
      <dsp:spPr>
        <a:xfrm>
          <a:off x="1898905" y="695717"/>
          <a:ext cx="5404578" cy="659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575" tIns="28575" rIns="28575" bIns="28575" numCol="1" spcCol="1270" anchor="b" anchorCtr="0">
          <a:noAutofit/>
        </a:bodyPr>
        <a:lstStyle/>
        <a:p>
          <a:pPr marL="0" lvl="0" indent="0" algn="l" defTabSz="666750">
            <a:lnSpc>
              <a:spcPct val="90000"/>
            </a:lnSpc>
            <a:spcBef>
              <a:spcPct val="0"/>
            </a:spcBef>
            <a:spcAft>
              <a:spcPct val="35000"/>
            </a:spcAft>
            <a:buNone/>
          </a:pPr>
          <a:r>
            <a:rPr lang="en-IN" sz="1500" kern="1200"/>
            <a:t>Detect blur, artifacts, poor contrast and positioning issues.</a:t>
          </a:r>
        </a:p>
      </dsp:txBody>
      <dsp:txXfrm>
        <a:off x="1898905" y="695717"/>
        <a:ext cx="5404578" cy="659441"/>
      </dsp:txXfrm>
    </dsp:sp>
    <dsp:sp modelId="{C0B27E91-DB5E-4901-A790-12FE7F659B06}">
      <dsp:nvSpPr>
        <dsp:cNvPr id="0" name=""/>
        <dsp:cNvSpPr/>
      </dsp:nvSpPr>
      <dsp:spPr>
        <a:xfrm>
          <a:off x="0" y="695717"/>
          <a:ext cx="1898905" cy="659441"/>
        </a:xfrm>
        <a:prstGeom prst="round2SameRect">
          <a:avLst>
            <a:gd name="adj1" fmla="val 16670"/>
            <a:gd name="adj2" fmla="val 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marL="0" lvl="0" indent="0" algn="ctr" defTabSz="666750">
            <a:lnSpc>
              <a:spcPct val="90000"/>
            </a:lnSpc>
            <a:spcBef>
              <a:spcPct val="0"/>
            </a:spcBef>
            <a:spcAft>
              <a:spcPct val="35000"/>
            </a:spcAft>
            <a:buNone/>
          </a:pPr>
          <a:r>
            <a:rPr lang="en-IN" sz="1500" b="1" kern="1200"/>
            <a:t>2. Scan Quality Assessment</a:t>
          </a:r>
          <a:endParaRPr lang="en-IN" sz="1500" kern="1200"/>
        </a:p>
      </dsp:txBody>
      <dsp:txXfrm>
        <a:off x="32197" y="727914"/>
        <a:ext cx="1834511" cy="627244"/>
      </dsp:txXfrm>
    </dsp:sp>
    <dsp:sp modelId="{8402763E-02F9-4E93-922C-5673A9CCD49C}">
      <dsp:nvSpPr>
        <dsp:cNvPr id="0" name=""/>
        <dsp:cNvSpPr/>
      </dsp:nvSpPr>
      <dsp:spPr>
        <a:xfrm>
          <a:off x="1898905" y="1388131"/>
          <a:ext cx="5404578" cy="659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575" tIns="28575" rIns="28575" bIns="28575" numCol="1" spcCol="1270" anchor="b" anchorCtr="0">
          <a:noAutofit/>
        </a:bodyPr>
        <a:lstStyle/>
        <a:p>
          <a:pPr marL="0" lvl="0" indent="0" algn="l" defTabSz="666750">
            <a:lnSpc>
              <a:spcPct val="90000"/>
            </a:lnSpc>
            <a:spcBef>
              <a:spcPct val="0"/>
            </a:spcBef>
            <a:spcAft>
              <a:spcPct val="35000"/>
            </a:spcAft>
            <a:buNone/>
          </a:pPr>
          <a:r>
            <a:rPr lang="en-IN" sz="1500" kern="1200"/>
            <a:t>Perform fast preliminary abnormality detection.</a:t>
          </a:r>
        </a:p>
      </dsp:txBody>
      <dsp:txXfrm>
        <a:off x="1898905" y="1388131"/>
        <a:ext cx="5404578" cy="659441"/>
      </dsp:txXfrm>
    </dsp:sp>
    <dsp:sp modelId="{D1DC31D9-374B-4A84-91A2-EC5D75F8A248}">
      <dsp:nvSpPr>
        <dsp:cNvPr id="0" name=""/>
        <dsp:cNvSpPr/>
      </dsp:nvSpPr>
      <dsp:spPr>
        <a:xfrm>
          <a:off x="0" y="1388131"/>
          <a:ext cx="1898905" cy="659441"/>
        </a:xfrm>
        <a:prstGeom prst="round2SameRect">
          <a:avLst>
            <a:gd name="adj1" fmla="val 16670"/>
            <a:gd name="adj2" fmla="val 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marL="0" lvl="0" indent="0" algn="ctr" defTabSz="666750">
            <a:lnSpc>
              <a:spcPct val="90000"/>
            </a:lnSpc>
            <a:spcBef>
              <a:spcPct val="0"/>
            </a:spcBef>
            <a:spcAft>
              <a:spcPct val="35000"/>
            </a:spcAft>
            <a:buNone/>
          </a:pPr>
          <a:r>
            <a:rPr lang="en-IN" sz="1500" b="1" kern="1200"/>
            <a:t>3. Initial Screening</a:t>
          </a:r>
          <a:endParaRPr lang="en-IN" sz="1500" kern="1200"/>
        </a:p>
      </dsp:txBody>
      <dsp:txXfrm>
        <a:off x="32197" y="1420328"/>
        <a:ext cx="1834511" cy="627244"/>
      </dsp:txXfrm>
    </dsp:sp>
    <dsp:sp modelId="{3F3A3054-2963-4765-A22E-26AD7A491F4E}">
      <dsp:nvSpPr>
        <dsp:cNvPr id="0" name=""/>
        <dsp:cNvSpPr/>
      </dsp:nvSpPr>
      <dsp:spPr>
        <a:xfrm>
          <a:off x="1898905" y="2080545"/>
          <a:ext cx="5404578" cy="659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575" tIns="28575" rIns="28575" bIns="28575" numCol="1" spcCol="1270" anchor="b" anchorCtr="0">
          <a:noAutofit/>
        </a:bodyPr>
        <a:lstStyle/>
        <a:p>
          <a:pPr marL="0" lvl="0" indent="0" algn="l" defTabSz="666750">
            <a:lnSpc>
              <a:spcPct val="90000"/>
            </a:lnSpc>
            <a:spcBef>
              <a:spcPct val="0"/>
            </a:spcBef>
            <a:spcAft>
              <a:spcPct val="35000"/>
            </a:spcAft>
            <a:buNone/>
          </a:pPr>
          <a:r>
            <a:rPr lang="en-IN" sz="1500" kern="1200"/>
            <a:t>Determine which specialist analysis modules are required.</a:t>
          </a:r>
        </a:p>
      </dsp:txBody>
      <dsp:txXfrm>
        <a:off x="1898905" y="2080545"/>
        <a:ext cx="5404578" cy="659441"/>
      </dsp:txXfrm>
    </dsp:sp>
    <dsp:sp modelId="{1B777D33-21BF-49CD-A934-E09BC948D98D}">
      <dsp:nvSpPr>
        <dsp:cNvPr id="0" name=""/>
        <dsp:cNvSpPr/>
      </dsp:nvSpPr>
      <dsp:spPr>
        <a:xfrm>
          <a:off x="0" y="2080545"/>
          <a:ext cx="1898905" cy="659441"/>
        </a:xfrm>
        <a:prstGeom prst="round2SameRect">
          <a:avLst>
            <a:gd name="adj1" fmla="val 16670"/>
            <a:gd name="adj2" fmla="val 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marL="0" lvl="0" indent="0" algn="ctr" defTabSz="666750">
            <a:lnSpc>
              <a:spcPct val="90000"/>
            </a:lnSpc>
            <a:spcBef>
              <a:spcPct val="0"/>
            </a:spcBef>
            <a:spcAft>
              <a:spcPct val="35000"/>
            </a:spcAft>
            <a:buNone/>
          </a:pPr>
          <a:r>
            <a:rPr lang="en-IN" sz="1500" b="1" kern="1200"/>
            <a:t>4. Adaptive Analysis Router</a:t>
          </a:r>
          <a:endParaRPr lang="en-IN" sz="1500" kern="1200"/>
        </a:p>
      </dsp:txBody>
      <dsp:txXfrm>
        <a:off x="32197" y="2112742"/>
        <a:ext cx="1834511" cy="627244"/>
      </dsp:txXfrm>
    </dsp:sp>
    <dsp:sp modelId="{922EC8B5-0BBE-4676-9318-874D7F3ABFA8}">
      <dsp:nvSpPr>
        <dsp:cNvPr id="0" name=""/>
        <dsp:cNvSpPr/>
      </dsp:nvSpPr>
      <dsp:spPr>
        <a:xfrm>
          <a:off x="1898905" y="2772959"/>
          <a:ext cx="5404578" cy="659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575" tIns="28575" rIns="28575" bIns="28575" numCol="1" spcCol="1270" anchor="b" anchorCtr="0">
          <a:noAutofit/>
        </a:bodyPr>
        <a:lstStyle/>
        <a:p>
          <a:pPr marL="0" lvl="0" indent="0" algn="l" defTabSz="666750">
            <a:lnSpc>
              <a:spcPct val="90000"/>
            </a:lnSpc>
            <a:spcBef>
              <a:spcPct val="0"/>
            </a:spcBef>
            <a:spcAft>
              <a:spcPct val="35000"/>
            </a:spcAft>
            <a:buNone/>
          </a:pPr>
          <a:r>
            <a:rPr lang="en-IN" sz="1500" kern="1200" dirty="0" err="1"/>
            <a:t>Analyze</a:t>
          </a:r>
          <a:r>
            <a:rPr lang="en-IN" sz="1500" kern="1200" dirty="0"/>
            <a:t> suspicious regions using relevant specialist models.</a:t>
          </a:r>
        </a:p>
      </dsp:txBody>
      <dsp:txXfrm>
        <a:off x="1898905" y="2772959"/>
        <a:ext cx="5404578" cy="659441"/>
      </dsp:txXfrm>
    </dsp:sp>
    <dsp:sp modelId="{2F7FE4AA-A40A-4CA5-A690-E7A346D98733}">
      <dsp:nvSpPr>
        <dsp:cNvPr id="0" name=""/>
        <dsp:cNvSpPr/>
      </dsp:nvSpPr>
      <dsp:spPr>
        <a:xfrm>
          <a:off x="0" y="2772959"/>
          <a:ext cx="1898905" cy="659441"/>
        </a:xfrm>
        <a:prstGeom prst="round2SameRect">
          <a:avLst>
            <a:gd name="adj1" fmla="val 16670"/>
            <a:gd name="adj2" fmla="val 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marL="0" lvl="0" indent="0" algn="ctr" defTabSz="666750">
            <a:lnSpc>
              <a:spcPct val="90000"/>
            </a:lnSpc>
            <a:spcBef>
              <a:spcPct val="0"/>
            </a:spcBef>
            <a:spcAft>
              <a:spcPct val="35000"/>
            </a:spcAft>
            <a:buNone/>
          </a:pPr>
          <a:r>
            <a:rPr lang="en-IN" sz="1500" b="1" kern="1200"/>
            <a:t>5. Region-Specific Analysis</a:t>
          </a:r>
          <a:endParaRPr lang="en-IN" sz="1500" kern="1200"/>
        </a:p>
      </dsp:txBody>
      <dsp:txXfrm>
        <a:off x="32197" y="2805156"/>
        <a:ext cx="1834511" cy="627244"/>
      </dsp:txXfrm>
    </dsp:sp>
    <dsp:sp modelId="{00774E1D-557C-43D0-BBB9-E200D8D7BFA2}">
      <dsp:nvSpPr>
        <dsp:cNvPr id="0" name=""/>
        <dsp:cNvSpPr/>
      </dsp:nvSpPr>
      <dsp:spPr>
        <a:xfrm>
          <a:off x="1898905" y="3465373"/>
          <a:ext cx="5404578" cy="659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575" tIns="28575" rIns="28575" bIns="28575" numCol="1" spcCol="1270" anchor="b" anchorCtr="0">
          <a:noAutofit/>
        </a:bodyPr>
        <a:lstStyle/>
        <a:p>
          <a:pPr marL="0" lvl="0" indent="0" algn="l" defTabSz="666750">
            <a:lnSpc>
              <a:spcPct val="90000"/>
            </a:lnSpc>
            <a:spcBef>
              <a:spcPct val="0"/>
            </a:spcBef>
            <a:spcAft>
              <a:spcPct val="35000"/>
            </a:spcAft>
            <a:buNone/>
          </a:pPr>
          <a:r>
            <a:rPr lang="en-IN" sz="1500" kern="1200"/>
            <a:t>Estimate reliability and verify findings against medical evidence.</a:t>
          </a:r>
        </a:p>
      </dsp:txBody>
      <dsp:txXfrm>
        <a:off x="1898905" y="3465373"/>
        <a:ext cx="5404578" cy="659441"/>
      </dsp:txXfrm>
    </dsp:sp>
    <dsp:sp modelId="{826F6EF1-B5E5-43A8-B0C5-023E26146FBF}">
      <dsp:nvSpPr>
        <dsp:cNvPr id="0" name=""/>
        <dsp:cNvSpPr/>
      </dsp:nvSpPr>
      <dsp:spPr>
        <a:xfrm>
          <a:off x="0" y="3465373"/>
          <a:ext cx="1898905" cy="659441"/>
        </a:xfrm>
        <a:prstGeom prst="round2SameRect">
          <a:avLst>
            <a:gd name="adj1" fmla="val 16670"/>
            <a:gd name="adj2" fmla="val 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marL="0" lvl="0" indent="0" algn="ctr" defTabSz="666750">
            <a:lnSpc>
              <a:spcPct val="90000"/>
            </a:lnSpc>
            <a:spcBef>
              <a:spcPct val="0"/>
            </a:spcBef>
            <a:spcAft>
              <a:spcPct val="35000"/>
            </a:spcAft>
            <a:buNone/>
          </a:pPr>
          <a:r>
            <a:rPr lang="en-IN" sz="1500" b="1" kern="1200"/>
            <a:t>6. Confidence &amp; Verification</a:t>
          </a:r>
          <a:endParaRPr lang="en-IN" sz="1500" kern="1200"/>
        </a:p>
      </dsp:txBody>
      <dsp:txXfrm>
        <a:off x="32197" y="3497570"/>
        <a:ext cx="1834511" cy="627244"/>
      </dsp:txXfrm>
    </dsp:sp>
    <dsp:sp modelId="{6996300D-A757-4F77-AC5C-AC6A77858DA6}">
      <dsp:nvSpPr>
        <dsp:cNvPr id="0" name=""/>
        <dsp:cNvSpPr/>
      </dsp:nvSpPr>
      <dsp:spPr>
        <a:xfrm>
          <a:off x="1898905" y="4157787"/>
          <a:ext cx="5404578" cy="659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575" tIns="28575" rIns="28575" bIns="28575" numCol="1" spcCol="1270" anchor="b" anchorCtr="0">
          <a:noAutofit/>
        </a:bodyPr>
        <a:lstStyle/>
        <a:p>
          <a:pPr marL="0" lvl="0" indent="0" algn="l" defTabSz="666750">
            <a:lnSpc>
              <a:spcPct val="90000"/>
            </a:lnSpc>
            <a:spcBef>
              <a:spcPct val="0"/>
            </a:spcBef>
            <a:spcAft>
              <a:spcPct val="35000"/>
            </a:spcAft>
            <a:buNone/>
          </a:pPr>
          <a:r>
            <a:rPr lang="en-IN" sz="1500" kern="1200"/>
            <a:t>Generate an appropriate evidence-based explanation.</a:t>
          </a:r>
        </a:p>
      </dsp:txBody>
      <dsp:txXfrm>
        <a:off x="1898905" y="4157787"/>
        <a:ext cx="5404578" cy="659441"/>
      </dsp:txXfrm>
    </dsp:sp>
    <dsp:sp modelId="{CECA6B68-0272-46C4-BB06-03441EDF2D97}">
      <dsp:nvSpPr>
        <dsp:cNvPr id="0" name=""/>
        <dsp:cNvSpPr/>
      </dsp:nvSpPr>
      <dsp:spPr>
        <a:xfrm>
          <a:off x="0" y="4157787"/>
          <a:ext cx="1898905" cy="659441"/>
        </a:xfrm>
        <a:prstGeom prst="round2SameRect">
          <a:avLst>
            <a:gd name="adj1" fmla="val 16670"/>
            <a:gd name="adj2" fmla="val 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marL="0" lvl="0" indent="0" algn="ctr" defTabSz="666750">
            <a:lnSpc>
              <a:spcPct val="90000"/>
            </a:lnSpc>
            <a:spcBef>
              <a:spcPct val="0"/>
            </a:spcBef>
            <a:spcAft>
              <a:spcPct val="35000"/>
            </a:spcAft>
            <a:buNone/>
          </a:pPr>
          <a:r>
            <a:rPr lang="en-IN" sz="1500" b="1" kern="1200"/>
            <a:t>7. Adaptive Explanation</a:t>
          </a:r>
          <a:endParaRPr lang="en-IN" sz="1500" kern="1200"/>
        </a:p>
      </dsp:txBody>
      <dsp:txXfrm>
        <a:off x="32197" y="4189984"/>
        <a:ext cx="1834511" cy="627244"/>
      </dsp:txXfrm>
    </dsp:sp>
    <dsp:sp modelId="{C8D1FF76-ACE0-4C6D-919E-DE53D4F395CE}">
      <dsp:nvSpPr>
        <dsp:cNvPr id="0" name=""/>
        <dsp:cNvSpPr/>
      </dsp:nvSpPr>
      <dsp:spPr>
        <a:xfrm>
          <a:off x="1898905" y="4850201"/>
          <a:ext cx="5404578" cy="659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575" tIns="28575" rIns="28575" bIns="28575" numCol="1" spcCol="1270" anchor="b" anchorCtr="0">
          <a:noAutofit/>
        </a:bodyPr>
        <a:lstStyle/>
        <a:p>
          <a:pPr marL="0" lvl="0" indent="0" algn="l" defTabSz="666750">
            <a:lnSpc>
              <a:spcPct val="90000"/>
            </a:lnSpc>
            <a:spcBef>
              <a:spcPct val="0"/>
            </a:spcBef>
            <a:spcAft>
              <a:spcPct val="35000"/>
            </a:spcAft>
            <a:buNone/>
          </a:pPr>
          <a:r>
            <a:rPr lang="en-IN" sz="1500" kern="1200"/>
            <a:t>Accept / Correct / Reject / Question → store feedback.</a:t>
          </a:r>
        </a:p>
      </dsp:txBody>
      <dsp:txXfrm>
        <a:off x="1898905" y="4850201"/>
        <a:ext cx="5404578" cy="659441"/>
      </dsp:txXfrm>
    </dsp:sp>
    <dsp:sp modelId="{0E51B2CB-8D65-4AE0-AACC-C264BF7B1475}">
      <dsp:nvSpPr>
        <dsp:cNvPr id="0" name=""/>
        <dsp:cNvSpPr/>
      </dsp:nvSpPr>
      <dsp:spPr>
        <a:xfrm>
          <a:off x="0" y="4850201"/>
          <a:ext cx="1898905" cy="659441"/>
        </a:xfrm>
        <a:prstGeom prst="round2SameRect">
          <a:avLst>
            <a:gd name="adj1" fmla="val 16670"/>
            <a:gd name="adj2" fmla="val 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marL="0" lvl="0" indent="0" algn="ctr" defTabSz="666750">
            <a:lnSpc>
              <a:spcPct val="90000"/>
            </a:lnSpc>
            <a:spcBef>
              <a:spcPct val="0"/>
            </a:spcBef>
            <a:spcAft>
              <a:spcPct val="35000"/>
            </a:spcAft>
            <a:buNone/>
          </a:pPr>
          <a:r>
            <a:rPr lang="en-IN" sz="1500" b="1" kern="1200"/>
            <a:t>8. Doctor Interaction &amp; Feedback</a:t>
          </a:r>
          <a:endParaRPr lang="en-IN" sz="1500" kern="1200"/>
        </a:p>
      </dsp:txBody>
      <dsp:txXfrm>
        <a:off x="32197" y="4882398"/>
        <a:ext cx="1834511" cy="6272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5335E3-78EE-410C-B2A9-32F99D963686}">
      <dsp:nvSpPr>
        <dsp:cNvPr id="0" name=""/>
        <dsp:cNvSpPr/>
      </dsp:nvSpPr>
      <dsp:spPr>
        <a:xfrm>
          <a:off x="0" y="390292"/>
          <a:ext cx="3483717" cy="209023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IN" sz="1700" b="1" kern="1200"/>
            <a:t>Phase 1 — Data Preparation</a:t>
          </a:r>
          <a:endParaRPr lang="en-IN" sz="1700" kern="1200"/>
        </a:p>
        <a:p>
          <a:pPr marL="171450" lvl="1" indent="-171450" algn="l" defTabSz="755650">
            <a:lnSpc>
              <a:spcPct val="90000"/>
            </a:lnSpc>
            <a:spcBef>
              <a:spcPct val="0"/>
            </a:spcBef>
            <a:spcAft>
              <a:spcPct val="15000"/>
            </a:spcAft>
            <a:buChar char="•"/>
          </a:pPr>
          <a:r>
            <a:rPr lang="en-IN" sz="1700" kern="1200"/>
            <a:t>Collect and preprocess chest X-ray datasets. </a:t>
          </a:r>
        </a:p>
        <a:p>
          <a:pPr marL="171450" lvl="1" indent="-171450" algn="l" defTabSz="755650">
            <a:lnSpc>
              <a:spcPct val="90000"/>
            </a:lnSpc>
            <a:spcBef>
              <a:spcPct val="0"/>
            </a:spcBef>
            <a:spcAft>
              <a:spcPct val="15000"/>
            </a:spcAft>
            <a:buChar char="•"/>
          </a:pPr>
          <a:r>
            <a:rPr lang="en-IN" sz="1700" kern="1200"/>
            <a:t>Perform image quality checks. </a:t>
          </a:r>
        </a:p>
        <a:p>
          <a:pPr marL="171450" lvl="1" indent="-171450" algn="l" defTabSz="755650">
            <a:lnSpc>
              <a:spcPct val="90000"/>
            </a:lnSpc>
            <a:spcBef>
              <a:spcPct val="0"/>
            </a:spcBef>
            <a:spcAft>
              <a:spcPct val="15000"/>
            </a:spcAft>
            <a:buChar char="•"/>
          </a:pPr>
          <a:r>
            <a:rPr lang="en-IN" sz="1700" kern="1200" dirty="0"/>
            <a:t>Split into training, validation and testing sets. </a:t>
          </a:r>
        </a:p>
      </dsp:txBody>
      <dsp:txXfrm>
        <a:off x="0" y="390292"/>
        <a:ext cx="3483717" cy="2090230"/>
      </dsp:txXfrm>
    </dsp:sp>
    <dsp:sp modelId="{5B7ED610-094E-4AB8-B089-3B4DC764F5AE}">
      <dsp:nvSpPr>
        <dsp:cNvPr id="0" name=""/>
        <dsp:cNvSpPr/>
      </dsp:nvSpPr>
      <dsp:spPr>
        <a:xfrm>
          <a:off x="3832089" y="390292"/>
          <a:ext cx="3483717" cy="209023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IN" sz="1700" b="1" kern="1200" dirty="0"/>
            <a:t>Phase 2 — Initial AI Models</a:t>
          </a:r>
          <a:endParaRPr lang="en-IN" sz="1700" kern="1200" dirty="0"/>
        </a:p>
        <a:p>
          <a:pPr marL="171450" lvl="1" indent="-171450" algn="l" defTabSz="755650">
            <a:lnSpc>
              <a:spcPct val="90000"/>
            </a:lnSpc>
            <a:spcBef>
              <a:spcPct val="0"/>
            </a:spcBef>
            <a:spcAft>
              <a:spcPct val="15000"/>
            </a:spcAft>
            <a:buChar char="•"/>
          </a:pPr>
          <a:r>
            <a:rPr lang="en-IN" sz="1700" kern="1200"/>
            <a:t>Develop initial screening model. </a:t>
          </a:r>
        </a:p>
        <a:p>
          <a:pPr marL="171450" lvl="1" indent="-171450" algn="l" defTabSz="755650">
            <a:lnSpc>
              <a:spcPct val="90000"/>
            </a:lnSpc>
            <a:spcBef>
              <a:spcPct val="0"/>
            </a:spcBef>
            <a:spcAft>
              <a:spcPct val="15000"/>
            </a:spcAft>
            <a:buChar char="•"/>
          </a:pPr>
          <a:r>
            <a:rPr lang="en-IN" sz="1700" kern="1200" dirty="0"/>
            <a:t>Develop abnormality localization. </a:t>
          </a:r>
        </a:p>
        <a:p>
          <a:pPr marL="171450" lvl="1" indent="-171450" algn="l" defTabSz="755650">
            <a:lnSpc>
              <a:spcPct val="90000"/>
            </a:lnSpc>
            <a:spcBef>
              <a:spcPct val="0"/>
            </a:spcBef>
            <a:spcAft>
              <a:spcPct val="15000"/>
            </a:spcAft>
            <a:buChar char="•"/>
          </a:pPr>
          <a:r>
            <a:rPr lang="en-IN" sz="1700" kern="1200" dirty="0"/>
            <a:t>Develop specialist analysis modules. </a:t>
          </a:r>
        </a:p>
      </dsp:txBody>
      <dsp:txXfrm>
        <a:off x="3832089" y="390292"/>
        <a:ext cx="3483717" cy="2090230"/>
      </dsp:txXfrm>
    </dsp:sp>
    <dsp:sp modelId="{23649F54-C672-4449-8D0B-71D95C2C16A0}">
      <dsp:nvSpPr>
        <dsp:cNvPr id="0" name=""/>
        <dsp:cNvSpPr/>
      </dsp:nvSpPr>
      <dsp:spPr>
        <a:xfrm>
          <a:off x="7664179" y="390292"/>
          <a:ext cx="3483717" cy="209023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IN" sz="1700" b="1" kern="1200"/>
            <a:t>Phase 3 — Adaptive Routing</a:t>
          </a:r>
          <a:endParaRPr lang="en-IN" sz="1700" kern="1200"/>
        </a:p>
        <a:p>
          <a:pPr marL="171450" lvl="1" indent="-171450" algn="l" defTabSz="755650">
            <a:lnSpc>
              <a:spcPct val="90000"/>
            </a:lnSpc>
            <a:spcBef>
              <a:spcPct val="0"/>
            </a:spcBef>
            <a:spcAft>
              <a:spcPct val="15000"/>
            </a:spcAft>
            <a:buChar char="•"/>
          </a:pPr>
          <a:r>
            <a:rPr lang="en-IN" sz="1700" kern="1200"/>
            <a:t>Develop routing logic. </a:t>
          </a:r>
        </a:p>
        <a:p>
          <a:pPr marL="171450" lvl="1" indent="-171450" algn="l" defTabSz="755650">
            <a:lnSpc>
              <a:spcPct val="90000"/>
            </a:lnSpc>
            <a:spcBef>
              <a:spcPct val="0"/>
            </a:spcBef>
            <a:spcAft>
              <a:spcPct val="15000"/>
            </a:spcAft>
            <a:buChar char="•"/>
          </a:pPr>
          <a:r>
            <a:rPr lang="en-IN" sz="1700" kern="1200"/>
            <a:t>Route suspicious regions to relevant specialist models. </a:t>
          </a:r>
        </a:p>
        <a:p>
          <a:pPr marL="171450" lvl="1" indent="-171450" algn="l" defTabSz="755650">
            <a:lnSpc>
              <a:spcPct val="90000"/>
            </a:lnSpc>
            <a:spcBef>
              <a:spcPct val="0"/>
            </a:spcBef>
            <a:spcAft>
              <a:spcPct val="15000"/>
            </a:spcAft>
            <a:buChar char="•"/>
          </a:pPr>
          <a:r>
            <a:rPr lang="en-IN" sz="1700" kern="1200" dirty="0"/>
            <a:t>Implement progressive analysis. </a:t>
          </a:r>
        </a:p>
        <a:p>
          <a:pPr marL="171450" lvl="1" indent="-171450" algn="l" defTabSz="755650">
            <a:lnSpc>
              <a:spcPct val="90000"/>
            </a:lnSpc>
            <a:spcBef>
              <a:spcPct val="0"/>
            </a:spcBef>
            <a:spcAft>
              <a:spcPct val="15000"/>
            </a:spcAft>
            <a:buChar char="•"/>
          </a:pPr>
          <a:r>
            <a:rPr lang="en-IN" sz="1700" kern="1200" dirty="0"/>
            <a:t>Add confidence and uncertainty estimation. </a:t>
          </a:r>
        </a:p>
      </dsp:txBody>
      <dsp:txXfrm>
        <a:off x="7664179" y="390292"/>
        <a:ext cx="3483717" cy="2090230"/>
      </dsp:txXfrm>
    </dsp:sp>
    <dsp:sp modelId="{1C58E14E-1B99-494A-B04E-5E8C9FA8C142}">
      <dsp:nvSpPr>
        <dsp:cNvPr id="0" name=""/>
        <dsp:cNvSpPr/>
      </dsp:nvSpPr>
      <dsp:spPr>
        <a:xfrm>
          <a:off x="1916044" y="2828895"/>
          <a:ext cx="3483717" cy="209023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IN" sz="1700" b="1" kern="1200"/>
            <a:t>Phase 4 — Evidence &amp; Doctor Interface</a:t>
          </a:r>
          <a:endParaRPr lang="en-IN" sz="1700" kern="1200"/>
        </a:p>
        <a:p>
          <a:pPr marL="171450" lvl="1" indent="-171450" algn="l" defTabSz="755650">
            <a:lnSpc>
              <a:spcPct val="90000"/>
            </a:lnSpc>
            <a:spcBef>
              <a:spcPct val="0"/>
            </a:spcBef>
            <a:spcAft>
              <a:spcPct val="15000"/>
            </a:spcAft>
            <a:buChar char="•"/>
          </a:pPr>
          <a:r>
            <a:rPr lang="en-IN" sz="1700" kern="1200"/>
            <a:t>Integrate Medical RAG. </a:t>
          </a:r>
        </a:p>
        <a:p>
          <a:pPr marL="171450" lvl="1" indent="-171450" algn="l" defTabSz="755650">
            <a:lnSpc>
              <a:spcPct val="90000"/>
            </a:lnSpc>
            <a:spcBef>
              <a:spcPct val="0"/>
            </a:spcBef>
            <a:spcAft>
              <a:spcPct val="15000"/>
            </a:spcAft>
            <a:buChar char="•"/>
          </a:pPr>
          <a:r>
            <a:rPr lang="en-IN" sz="1700" kern="1200" dirty="0"/>
            <a:t>Generate structured explanations. </a:t>
          </a:r>
        </a:p>
        <a:p>
          <a:pPr marL="171450" lvl="1" indent="-171450" algn="l" defTabSz="755650">
            <a:lnSpc>
              <a:spcPct val="90000"/>
            </a:lnSpc>
            <a:spcBef>
              <a:spcPct val="0"/>
            </a:spcBef>
            <a:spcAft>
              <a:spcPct val="15000"/>
            </a:spcAft>
            <a:buChar char="•"/>
          </a:pPr>
          <a:r>
            <a:rPr lang="en-IN" sz="1700" kern="1200"/>
            <a:t>Display findings and evidence. </a:t>
          </a:r>
        </a:p>
        <a:p>
          <a:pPr marL="171450" lvl="1" indent="-171450" algn="l" defTabSz="755650">
            <a:lnSpc>
              <a:spcPct val="90000"/>
            </a:lnSpc>
            <a:spcBef>
              <a:spcPct val="0"/>
            </a:spcBef>
            <a:spcAft>
              <a:spcPct val="15000"/>
            </a:spcAft>
            <a:buChar char="•"/>
          </a:pPr>
          <a:r>
            <a:rPr lang="en-IN" sz="1700" kern="1200" dirty="0"/>
            <a:t>Add Accept / Correct / Reject / Question. </a:t>
          </a:r>
        </a:p>
      </dsp:txBody>
      <dsp:txXfrm>
        <a:off x="1916044" y="2828895"/>
        <a:ext cx="3483717" cy="2090230"/>
      </dsp:txXfrm>
    </dsp:sp>
    <dsp:sp modelId="{13A1695A-762C-48BB-828A-517A652CA790}">
      <dsp:nvSpPr>
        <dsp:cNvPr id="0" name=""/>
        <dsp:cNvSpPr/>
      </dsp:nvSpPr>
      <dsp:spPr>
        <a:xfrm>
          <a:off x="5748134" y="2828895"/>
          <a:ext cx="3483717" cy="209023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IN" sz="1700" b="1" kern="1200"/>
            <a:t>Phase 5 — Evaluation</a:t>
          </a:r>
          <a:endParaRPr lang="en-IN" sz="1700" kern="1200"/>
        </a:p>
        <a:p>
          <a:pPr marL="171450" lvl="1" indent="-171450" algn="l" defTabSz="755650">
            <a:lnSpc>
              <a:spcPct val="90000"/>
            </a:lnSpc>
            <a:spcBef>
              <a:spcPct val="0"/>
            </a:spcBef>
            <a:spcAft>
              <a:spcPct val="15000"/>
            </a:spcAft>
            <a:buChar char="•"/>
          </a:pPr>
          <a:r>
            <a:rPr lang="en-IN" sz="1700" kern="1200" dirty="0"/>
            <a:t>Detection performance </a:t>
          </a:r>
        </a:p>
        <a:p>
          <a:pPr marL="171450" lvl="1" indent="-171450" algn="l" defTabSz="755650">
            <a:lnSpc>
              <a:spcPct val="90000"/>
            </a:lnSpc>
            <a:spcBef>
              <a:spcPct val="0"/>
            </a:spcBef>
            <a:spcAft>
              <a:spcPct val="15000"/>
            </a:spcAft>
            <a:buChar char="•"/>
          </a:pPr>
          <a:r>
            <a:rPr lang="en-IN" sz="1700" kern="1200"/>
            <a:t>Inference time </a:t>
          </a:r>
        </a:p>
        <a:p>
          <a:pPr marL="171450" lvl="1" indent="-171450" algn="l" defTabSz="755650">
            <a:lnSpc>
              <a:spcPct val="90000"/>
            </a:lnSpc>
            <a:spcBef>
              <a:spcPct val="0"/>
            </a:spcBef>
            <a:spcAft>
              <a:spcPct val="15000"/>
            </a:spcAft>
            <a:buChar char="•"/>
          </a:pPr>
          <a:r>
            <a:rPr lang="en-IN" sz="1700" kern="1200" dirty="0"/>
            <a:t>Computational usage </a:t>
          </a:r>
        </a:p>
        <a:p>
          <a:pPr marL="171450" lvl="1" indent="-171450" algn="l" defTabSz="755650">
            <a:lnSpc>
              <a:spcPct val="90000"/>
            </a:lnSpc>
            <a:spcBef>
              <a:spcPct val="0"/>
            </a:spcBef>
            <a:spcAft>
              <a:spcPct val="15000"/>
            </a:spcAft>
            <a:buChar char="•"/>
          </a:pPr>
          <a:r>
            <a:rPr lang="en-IN" sz="1700" kern="1200"/>
            <a:t>Number of activated models </a:t>
          </a:r>
        </a:p>
        <a:p>
          <a:pPr marL="171450" lvl="1" indent="-171450" algn="l" defTabSz="755650">
            <a:lnSpc>
              <a:spcPct val="90000"/>
            </a:lnSpc>
            <a:spcBef>
              <a:spcPct val="0"/>
            </a:spcBef>
            <a:spcAft>
              <a:spcPct val="15000"/>
            </a:spcAft>
            <a:buChar char="•"/>
          </a:pPr>
          <a:r>
            <a:rPr lang="en-IN" sz="1700" kern="1200" dirty="0"/>
            <a:t>Doctor decision time</a:t>
          </a:r>
        </a:p>
      </dsp:txBody>
      <dsp:txXfrm>
        <a:off x="5748134" y="2828895"/>
        <a:ext cx="3483717" cy="2090230"/>
      </dsp:txXfrm>
    </dsp:sp>
  </dsp:spTree>
</dsp:drawing>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CE6CC3-1C13-434A-B16C-611DE7717B8F}" type="datetimeFigureOut">
              <a:rPr lang="en-US" smtClean="0"/>
              <a:t>10/3/2026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DFC361-C30A-4AED-87EA-348118094D30}" type="slidenum">
              <a:rPr lang="en-US" smtClean="0"/>
              <a:t>‹#›</a:t>
            </a:fld>
            <a:endParaRPr lang="en-US"/>
          </a:p>
        </p:txBody>
      </p:sp>
    </p:spTree>
    <p:extLst>
      <p:ext uri="{BB962C8B-B14F-4D97-AF65-F5344CB8AC3E}">
        <p14:creationId xmlns:p14="http://schemas.microsoft.com/office/powerpoint/2010/main" val="4142612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6B5317-EDBC-4155-87F5-41E4E6A99DED}" type="slidenum">
              <a:rPr lang="en-US" smtClean="0"/>
              <a:t>1</a:t>
            </a:fld>
            <a:endParaRPr lang="en-US"/>
          </a:p>
        </p:txBody>
      </p:sp>
    </p:spTree>
    <p:extLst>
      <p:ext uri="{BB962C8B-B14F-4D97-AF65-F5344CB8AC3E}">
        <p14:creationId xmlns:p14="http://schemas.microsoft.com/office/powerpoint/2010/main" val="2032570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sv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sv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50CA7-A890-BC0D-44BD-6B67203AF5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5460673-A9B5-CD59-A2CC-8CE741C00B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E78539D-0687-ECBB-AB5D-8333E209AD75}"/>
              </a:ext>
            </a:extLst>
          </p:cNvPr>
          <p:cNvSpPr>
            <a:spLocks noGrp="1"/>
          </p:cNvSpPr>
          <p:nvPr>
            <p:ph type="dt" sz="half" idx="10"/>
          </p:nvPr>
        </p:nvSpPr>
        <p:spPr/>
        <p:txBody>
          <a:bodyPr/>
          <a:lstStyle/>
          <a:p>
            <a:fld id="{00B22A25-8408-4B8D-A5AD-AF80CE804250}" type="datetimeFigureOut">
              <a:rPr lang="en-US" smtClean="0"/>
              <a:t>10/3/2026</a:t>
            </a:fld>
            <a:endParaRPr lang="en-US"/>
          </a:p>
        </p:txBody>
      </p:sp>
      <p:sp>
        <p:nvSpPr>
          <p:cNvPr id="5" name="Footer Placeholder 4">
            <a:extLst>
              <a:ext uri="{FF2B5EF4-FFF2-40B4-BE49-F238E27FC236}">
                <a16:creationId xmlns:a16="http://schemas.microsoft.com/office/drawing/2014/main" id="{DFCA8B5B-FB28-D786-CEFE-858812BAA7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CA0ED6-3AED-6780-A6EA-61F241528D7C}"/>
              </a:ext>
            </a:extLst>
          </p:cNvPr>
          <p:cNvSpPr>
            <a:spLocks noGrp="1"/>
          </p:cNvSpPr>
          <p:nvPr>
            <p:ph type="sldNum" sz="quarter" idx="12"/>
          </p:nvPr>
        </p:nvSpPr>
        <p:spPr/>
        <p:txBody>
          <a:bodyPr/>
          <a:lstStyle/>
          <a:p>
            <a:fld id="{78AD56AB-075C-42DA-8EAB-2A4FF705D18F}" type="slidenum">
              <a:rPr lang="en-US" smtClean="0"/>
              <a:t>‹#›</a:t>
            </a:fld>
            <a:endParaRPr lang="en-US"/>
          </a:p>
        </p:txBody>
      </p:sp>
    </p:spTree>
    <p:extLst>
      <p:ext uri="{BB962C8B-B14F-4D97-AF65-F5344CB8AC3E}">
        <p14:creationId xmlns:p14="http://schemas.microsoft.com/office/powerpoint/2010/main" val="1280171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4D321-EB8C-729D-0253-F4E3C8F5C7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B30355-1EE0-AF69-47F6-F837F4F809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B81C7C-CF50-7E3E-7E0C-DF9A69033701}"/>
              </a:ext>
            </a:extLst>
          </p:cNvPr>
          <p:cNvSpPr>
            <a:spLocks noGrp="1"/>
          </p:cNvSpPr>
          <p:nvPr>
            <p:ph type="dt" sz="half" idx="10"/>
          </p:nvPr>
        </p:nvSpPr>
        <p:spPr/>
        <p:txBody>
          <a:bodyPr/>
          <a:lstStyle/>
          <a:p>
            <a:fld id="{00B22A25-8408-4B8D-A5AD-AF80CE804250}" type="datetimeFigureOut">
              <a:rPr lang="en-US" smtClean="0"/>
              <a:t>10/3/2026</a:t>
            </a:fld>
            <a:endParaRPr lang="en-US"/>
          </a:p>
        </p:txBody>
      </p:sp>
      <p:sp>
        <p:nvSpPr>
          <p:cNvPr id="5" name="Footer Placeholder 4">
            <a:extLst>
              <a:ext uri="{FF2B5EF4-FFF2-40B4-BE49-F238E27FC236}">
                <a16:creationId xmlns:a16="http://schemas.microsoft.com/office/drawing/2014/main" id="{51E60F1B-6B0E-147F-215A-C9B254A8B6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E8893F-4366-960F-C73C-DDC2C40065C1}"/>
              </a:ext>
            </a:extLst>
          </p:cNvPr>
          <p:cNvSpPr>
            <a:spLocks noGrp="1"/>
          </p:cNvSpPr>
          <p:nvPr>
            <p:ph type="sldNum" sz="quarter" idx="12"/>
          </p:nvPr>
        </p:nvSpPr>
        <p:spPr/>
        <p:txBody>
          <a:bodyPr/>
          <a:lstStyle/>
          <a:p>
            <a:fld id="{78AD56AB-075C-42DA-8EAB-2A4FF705D18F}" type="slidenum">
              <a:rPr lang="en-US" smtClean="0"/>
              <a:t>‹#›</a:t>
            </a:fld>
            <a:endParaRPr lang="en-US"/>
          </a:p>
        </p:txBody>
      </p:sp>
    </p:spTree>
    <p:extLst>
      <p:ext uri="{BB962C8B-B14F-4D97-AF65-F5344CB8AC3E}">
        <p14:creationId xmlns:p14="http://schemas.microsoft.com/office/powerpoint/2010/main" val="1070495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46D75-85FB-CDE1-1B84-E9E5B8D002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EF3298C-27DD-C096-4478-25DF24C0F07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B0874E-01BA-1CC2-5F91-D59931A57784}"/>
              </a:ext>
            </a:extLst>
          </p:cNvPr>
          <p:cNvSpPr>
            <a:spLocks noGrp="1"/>
          </p:cNvSpPr>
          <p:nvPr>
            <p:ph type="dt" sz="half" idx="10"/>
          </p:nvPr>
        </p:nvSpPr>
        <p:spPr/>
        <p:txBody>
          <a:bodyPr/>
          <a:lstStyle/>
          <a:p>
            <a:fld id="{00B22A25-8408-4B8D-A5AD-AF80CE804250}" type="datetimeFigureOut">
              <a:rPr lang="en-US" smtClean="0"/>
              <a:t>10/3/2026</a:t>
            </a:fld>
            <a:endParaRPr lang="en-US"/>
          </a:p>
        </p:txBody>
      </p:sp>
      <p:sp>
        <p:nvSpPr>
          <p:cNvPr id="5" name="Footer Placeholder 4">
            <a:extLst>
              <a:ext uri="{FF2B5EF4-FFF2-40B4-BE49-F238E27FC236}">
                <a16:creationId xmlns:a16="http://schemas.microsoft.com/office/drawing/2014/main" id="{819E3461-7CC9-5C4D-D52B-CB6135E104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85F49F-0795-810B-0D65-7F3A6B61B0E7}"/>
              </a:ext>
            </a:extLst>
          </p:cNvPr>
          <p:cNvSpPr>
            <a:spLocks noGrp="1"/>
          </p:cNvSpPr>
          <p:nvPr>
            <p:ph type="sldNum" sz="quarter" idx="12"/>
          </p:nvPr>
        </p:nvSpPr>
        <p:spPr/>
        <p:txBody>
          <a:bodyPr/>
          <a:lstStyle/>
          <a:p>
            <a:fld id="{78AD56AB-075C-42DA-8EAB-2A4FF705D18F}" type="slidenum">
              <a:rPr lang="en-US" smtClean="0"/>
              <a:t>‹#›</a:t>
            </a:fld>
            <a:endParaRPr lang="en-US"/>
          </a:p>
        </p:txBody>
      </p:sp>
    </p:spTree>
    <p:extLst>
      <p:ext uri="{BB962C8B-B14F-4D97-AF65-F5344CB8AC3E}">
        <p14:creationId xmlns:p14="http://schemas.microsoft.com/office/powerpoint/2010/main" val="905329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B9051-D728-0416-EF18-F1AFF5703E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48AB7F-8BAC-CA5F-30EF-42EE15E7CB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83FD7A1-C203-AABE-B3A9-0EC136AAAB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E4C789F-5C09-60FC-845F-120D1E826B17}"/>
              </a:ext>
            </a:extLst>
          </p:cNvPr>
          <p:cNvSpPr>
            <a:spLocks noGrp="1"/>
          </p:cNvSpPr>
          <p:nvPr>
            <p:ph type="dt" sz="half" idx="10"/>
          </p:nvPr>
        </p:nvSpPr>
        <p:spPr/>
        <p:txBody>
          <a:bodyPr/>
          <a:lstStyle/>
          <a:p>
            <a:fld id="{00B22A25-8408-4B8D-A5AD-AF80CE804250}" type="datetimeFigureOut">
              <a:rPr lang="en-US" smtClean="0"/>
              <a:t>10/3/2026</a:t>
            </a:fld>
            <a:endParaRPr lang="en-US"/>
          </a:p>
        </p:txBody>
      </p:sp>
      <p:sp>
        <p:nvSpPr>
          <p:cNvPr id="6" name="Footer Placeholder 5">
            <a:extLst>
              <a:ext uri="{FF2B5EF4-FFF2-40B4-BE49-F238E27FC236}">
                <a16:creationId xmlns:a16="http://schemas.microsoft.com/office/drawing/2014/main" id="{E26E28DE-CA84-F3D0-016B-08EBD60915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404570-A6D0-6370-8DE6-0BB990FF7CC3}"/>
              </a:ext>
            </a:extLst>
          </p:cNvPr>
          <p:cNvSpPr>
            <a:spLocks noGrp="1"/>
          </p:cNvSpPr>
          <p:nvPr>
            <p:ph type="sldNum" sz="quarter" idx="12"/>
          </p:nvPr>
        </p:nvSpPr>
        <p:spPr/>
        <p:txBody>
          <a:bodyPr/>
          <a:lstStyle/>
          <a:p>
            <a:fld id="{78AD56AB-075C-42DA-8EAB-2A4FF705D18F}" type="slidenum">
              <a:rPr lang="en-US" smtClean="0"/>
              <a:t>‹#›</a:t>
            </a:fld>
            <a:endParaRPr lang="en-US"/>
          </a:p>
        </p:txBody>
      </p:sp>
    </p:spTree>
    <p:extLst>
      <p:ext uri="{BB962C8B-B14F-4D97-AF65-F5344CB8AC3E}">
        <p14:creationId xmlns:p14="http://schemas.microsoft.com/office/powerpoint/2010/main" val="1706229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781FB-A93A-55EC-66D7-EE1D1A60341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BFB519B-B0A9-4153-41C7-F9310E7C56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D47EE0-0554-2821-1927-EA19BAF8E6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7F83B81-0569-670C-C8B7-E8C8FD1B86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00CD65-0B66-1D2E-42A2-93E1F6986F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57E581-777D-A463-C1F3-3C3C3311C909}"/>
              </a:ext>
            </a:extLst>
          </p:cNvPr>
          <p:cNvSpPr>
            <a:spLocks noGrp="1"/>
          </p:cNvSpPr>
          <p:nvPr>
            <p:ph type="dt" sz="half" idx="10"/>
          </p:nvPr>
        </p:nvSpPr>
        <p:spPr/>
        <p:txBody>
          <a:bodyPr/>
          <a:lstStyle/>
          <a:p>
            <a:fld id="{00B22A25-8408-4B8D-A5AD-AF80CE804250}" type="datetimeFigureOut">
              <a:rPr lang="en-US" smtClean="0"/>
              <a:t>10/3/2026</a:t>
            </a:fld>
            <a:endParaRPr lang="en-US"/>
          </a:p>
        </p:txBody>
      </p:sp>
      <p:sp>
        <p:nvSpPr>
          <p:cNvPr id="8" name="Footer Placeholder 7">
            <a:extLst>
              <a:ext uri="{FF2B5EF4-FFF2-40B4-BE49-F238E27FC236}">
                <a16:creationId xmlns:a16="http://schemas.microsoft.com/office/drawing/2014/main" id="{58DE5D0B-1EBE-FEF9-281B-906803BA697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20F2EF-F2BD-1114-956A-8C78686FB794}"/>
              </a:ext>
            </a:extLst>
          </p:cNvPr>
          <p:cNvSpPr>
            <a:spLocks noGrp="1"/>
          </p:cNvSpPr>
          <p:nvPr>
            <p:ph type="sldNum" sz="quarter" idx="12"/>
          </p:nvPr>
        </p:nvSpPr>
        <p:spPr/>
        <p:txBody>
          <a:bodyPr/>
          <a:lstStyle/>
          <a:p>
            <a:fld id="{78AD56AB-075C-42DA-8EAB-2A4FF705D18F}" type="slidenum">
              <a:rPr lang="en-US" smtClean="0"/>
              <a:t>‹#›</a:t>
            </a:fld>
            <a:endParaRPr lang="en-US"/>
          </a:p>
        </p:txBody>
      </p:sp>
    </p:spTree>
    <p:extLst>
      <p:ext uri="{BB962C8B-B14F-4D97-AF65-F5344CB8AC3E}">
        <p14:creationId xmlns:p14="http://schemas.microsoft.com/office/powerpoint/2010/main" val="2939427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3506D-7DFA-1FF6-D289-D51E408631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36DDFE-5DA6-6C22-95FC-2139A935FBDA}"/>
              </a:ext>
            </a:extLst>
          </p:cNvPr>
          <p:cNvSpPr>
            <a:spLocks noGrp="1"/>
          </p:cNvSpPr>
          <p:nvPr>
            <p:ph type="dt" sz="half" idx="10"/>
          </p:nvPr>
        </p:nvSpPr>
        <p:spPr/>
        <p:txBody>
          <a:bodyPr/>
          <a:lstStyle/>
          <a:p>
            <a:fld id="{00B22A25-8408-4B8D-A5AD-AF80CE804250}" type="datetimeFigureOut">
              <a:rPr lang="en-US" smtClean="0"/>
              <a:t>10/3/2026</a:t>
            </a:fld>
            <a:endParaRPr lang="en-US"/>
          </a:p>
        </p:txBody>
      </p:sp>
      <p:sp>
        <p:nvSpPr>
          <p:cNvPr id="4" name="Footer Placeholder 3">
            <a:extLst>
              <a:ext uri="{FF2B5EF4-FFF2-40B4-BE49-F238E27FC236}">
                <a16:creationId xmlns:a16="http://schemas.microsoft.com/office/drawing/2014/main" id="{B6B5F9EF-4D9D-3849-5342-0407D8C9DD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B3C0037-8991-E8DE-7049-C3CC3D1A12C2}"/>
              </a:ext>
            </a:extLst>
          </p:cNvPr>
          <p:cNvSpPr>
            <a:spLocks noGrp="1"/>
          </p:cNvSpPr>
          <p:nvPr>
            <p:ph type="sldNum" sz="quarter" idx="12"/>
          </p:nvPr>
        </p:nvSpPr>
        <p:spPr/>
        <p:txBody>
          <a:bodyPr/>
          <a:lstStyle/>
          <a:p>
            <a:fld id="{78AD56AB-075C-42DA-8EAB-2A4FF705D18F}" type="slidenum">
              <a:rPr lang="en-US" smtClean="0"/>
              <a:t>‹#›</a:t>
            </a:fld>
            <a:endParaRPr lang="en-US"/>
          </a:p>
        </p:txBody>
      </p:sp>
    </p:spTree>
    <p:extLst>
      <p:ext uri="{BB962C8B-B14F-4D97-AF65-F5344CB8AC3E}">
        <p14:creationId xmlns:p14="http://schemas.microsoft.com/office/powerpoint/2010/main" val="3997069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47F2DB-04C2-2550-E486-17334E41DF6E}"/>
              </a:ext>
            </a:extLst>
          </p:cNvPr>
          <p:cNvSpPr>
            <a:spLocks noGrp="1"/>
          </p:cNvSpPr>
          <p:nvPr>
            <p:ph type="dt" sz="half" idx="10"/>
          </p:nvPr>
        </p:nvSpPr>
        <p:spPr/>
        <p:txBody>
          <a:bodyPr/>
          <a:lstStyle/>
          <a:p>
            <a:fld id="{00B22A25-8408-4B8D-A5AD-AF80CE804250}" type="datetimeFigureOut">
              <a:rPr lang="en-US" smtClean="0"/>
              <a:t>10/3/2026</a:t>
            </a:fld>
            <a:endParaRPr lang="en-US"/>
          </a:p>
        </p:txBody>
      </p:sp>
      <p:sp>
        <p:nvSpPr>
          <p:cNvPr id="3" name="Footer Placeholder 2">
            <a:extLst>
              <a:ext uri="{FF2B5EF4-FFF2-40B4-BE49-F238E27FC236}">
                <a16:creationId xmlns:a16="http://schemas.microsoft.com/office/drawing/2014/main" id="{B973F6EF-6819-718F-4646-CB180D63F76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BCEBC4-1A6B-DE18-3898-48A9C2015585}"/>
              </a:ext>
            </a:extLst>
          </p:cNvPr>
          <p:cNvSpPr>
            <a:spLocks noGrp="1"/>
          </p:cNvSpPr>
          <p:nvPr>
            <p:ph type="sldNum" sz="quarter" idx="12"/>
          </p:nvPr>
        </p:nvSpPr>
        <p:spPr/>
        <p:txBody>
          <a:bodyPr/>
          <a:lstStyle/>
          <a:p>
            <a:fld id="{78AD56AB-075C-42DA-8EAB-2A4FF705D18F}" type="slidenum">
              <a:rPr lang="en-US" smtClean="0"/>
              <a:t>‹#›</a:t>
            </a:fld>
            <a:endParaRPr lang="en-US"/>
          </a:p>
        </p:txBody>
      </p:sp>
    </p:spTree>
    <p:extLst>
      <p:ext uri="{BB962C8B-B14F-4D97-AF65-F5344CB8AC3E}">
        <p14:creationId xmlns:p14="http://schemas.microsoft.com/office/powerpoint/2010/main" val="4016123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7E121-8421-1BBD-CAC0-5C2153C3C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EF94D5-17D3-3DBB-DC29-A6A623909B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3458CB4-63AA-1512-81ED-1E428107D5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04019E-7C8E-1A7B-4E8B-876E32B31E67}"/>
              </a:ext>
            </a:extLst>
          </p:cNvPr>
          <p:cNvSpPr>
            <a:spLocks noGrp="1"/>
          </p:cNvSpPr>
          <p:nvPr>
            <p:ph type="dt" sz="half" idx="10"/>
          </p:nvPr>
        </p:nvSpPr>
        <p:spPr/>
        <p:txBody>
          <a:bodyPr/>
          <a:lstStyle/>
          <a:p>
            <a:fld id="{00B22A25-8408-4B8D-A5AD-AF80CE804250}" type="datetimeFigureOut">
              <a:rPr lang="en-US" smtClean="0"/>
              <a:t>10/3/2026</a:t>
            </a:fld>
            <a:endParaRPr lang="en-US"/>
          </a:p>
        </p:txBody>
      </p:sp>
      <p:sp>
        <p:nvSpPr>
          <p:cNvPr id="6" name="Footer Placeholder 5">
            <a:extLst>
              <a:ext uri="{FF2B5EF4-FFF2-40B4-BE49-F238E27FC236}">
                <a16:creationId xmlns:a16="http://schemas.microsoft.com/office/drawing/2014/main" id="{C7268578-C6E0-A3EB-32E1-926BEFDC99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2C4D59-BFE2-F51D-CCCB-2B42A316650C}"/>
              </a:ext>
            </a:extLst>
          </p:cNvPr>
          <p:cNvSpPr>
            <a:spLocks noGrp="1"/>
          </p:cNvSpPr>
          <p:nvPr>
            <p:ph type="sldNum" sz="quarter" idx="12"/>
          </p:nvPr>
        </p:nvSpPr>
        <p:spPr/>
        <p:txBody>
          <a:bodyPr/>
          <a:lstStyle/>
          <a:p>
            <a:fld id="{78AD56AB-075C-42DA-8EAB-2A4FF705D18F}" type="slidenum">
              <a:rPr lang="en-US" smtClean="0"/>
              <a:t>‹#›</a:t>
            </a:fld>
            <a:endParaRPr lang="en-US"/>
          </a:p>
        </p:txBody>
      </p:sp>
    </p:spTree>
    <p:extLst>
      <p:ext uri="{BB962C8B-B14F-4D97-AF65-F5344CB8AC3E}">
        <p14:creationId xmlns:p14="http://schemas.microsoft.com/office/powerpoint/2010/main" val="3887866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8E2D9-0DC6-4A0A-DB0D-046A88D558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C89F085-DFDF-56E1-8BF0-411EF30103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6670298-DFC2-BA3D-F01B-41710C02FA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C544E0-3D52-6379-9094-834A3D174DDF}"/>
              </a:ext>
            </a:extLst>
          </p:cNvPr>
          <p:cNvSpPr>
            <a:spLocks noGrp="1"/>
          </p:cNvSpPr>
          <p:nvPr>
            <p:ph type="dt" sz="half" idx="10"/>
          </p:nvPr>
        </p:nvSpPr>
        <p:spPr/>
        <p:txBody>
          <a:bodyPr/>
          <a:lstStyle/>
          <a:p>
            <a:fld id="{00B22A25-8408-4B8D-A5AD-AF80CE804250}" type="datetimeFigureOut">
              <a:rPr lang="en-US" smtClean="0"/>
              <a:t>10/3/2026</a:t>
            </a:fld>
            <a:endParaRPr lang="en-US"/>
          </a:p>
        </p:txBody>
      </p:sp>
      <p:sp>
        <p:nvSpPr>
          <p:cNvPr id="6" name="Footer Placeholder 5">
            <a:extLst>
              <a:ext uri="{FF2B5EF4-FFF2-40B4-BE49-F238E27FC236}">
                <a16:creationId xmlns:a16="http://schemas.microsoft.com/office/drawing/2014/main" id="{4095602E-D910-02D1-DCBB-11E8AA87CA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798C61-02EC-04BE-173F-0B4A9B6BA9BF}"/>
              </a:ext>
            </a:extLst>
          </p:cNvPr>
          <p:cNvSpPr>
            <a:spLocks noGrp="1"/>
          </p:cNvSpPr>
          <p:nvPr>
            <p:ph type="sldNum" sz="quarter" idx="12"/>
          </p:nvPr>
        </p:nvSpPr>
        <p:spPr/>
        <p:txBody>
          <a:bodyPr/>
          <a:lstStyle/>
          <a:p>
            <a:fld id="{78AD56AB-075C-42DA-8EAB-2A4FF705D18F}" type="slidenum">
              <a:rPr lang="en-US" smtClean="0"/>
              <a:t>‹#›</a:t>
            </a:fld>
            <a:endParaRPr lang="en-US"/>
          </a:p>
        </p:txBody>
      </p:sp>
    </p:spTree>
    <p:extLst>
      <p:ext uri="{BB962C8B-B14F-4D97-AF65-F5344CB8AC3E}">
        <p14:creationId xmlns:p14="http://schemas.microsoft.com/office/powerpoint/2010/main" val="1150017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5AD4F-E9B4-64F0-D6DD-737D5AAD575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EB2408-D904-FD7E-5A8F-16D3CCC990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35EE91-BAB8-2F44-DBB2-F1328FE4ED76}"/>
              </a:ext>
            </a:extLst>
          </p:cNvPr>
          <p:cNvSpPr>
            <a:spLocks noGrp="1"/>
          </p:cNvSpPr>
          <p:nvPr>
            <p:ph type="dt" sz="half" idx="10"/>
          </p:nvPr>
        </p:nvSpPr>
        <p:spPr/>
        <p:txBody>
          <a:bodyPr/>
          <a:lstStyle/>
          <a:p>
            <a:fld id="{00B22A25-8408-4B8D-A5AD-AF80CE804250}" type="datetimeFigureOut">
              <a:rPr lang="en-US" smtClean="0"/>
              <a:t>10/3/2026</a:t>
            </a:fld>
            <a:endParaRPr lang="en-US"/>
          </a:p>
        </p:txBody>
      </p:sp>
      <p:sp>
        <p:nvSpPr>
          <p:cNvPr id="5" name="Footer Placeholder 4">
            <a:extLst>
              <a:ext uri="{FF2B5EF4-FFF2-40B4-BE49-F238E27FC236}">
                <a16:creationId xmlns:a16="http://schemas.microsoft.com/office/drawing/2014/main" id="{E565E460-17EB-182E-5A42-901C31D7E7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4ABDEE-A22E-4E6C-99A7-507BD73C51C9}"/>
              </a:ext>
            </a:extLst>
          </p:cNvPr>
          <p:cNvSpPr>
            <a:spLocks noGrp="1"/>
          </p:cNvSpPr>
          <p:nvPr>
            <p:ph type="sldNum" sz="quarter" idx="12"/>
          </p:nvPr>
        </p:nvSpPr>
        <p:spPr/>
        <p:txBody>
          <a:bodyPr/>
          <a:lstStyle/>
          <a:p>
            <a:fld id="{78AD56AB-075C-42DA-8EAB-2A4FF705D18F}" type="slidenum">
              <a:rPr lang="en-US" smtClean="0"/>
              <a:t>‹#›</a:t>
            </a:fld>
            <a:endParaRPr lang="en-US"/>
          </a:p>
        </p:txBody>
      </p:sp>
    </p:spTree>
    <p:extLst>
      <p:ext uri="{BB962C8B-B14F-4D97-AF65-F5344CB8AC3E}">
        <p14:creationId xmlns:p14="http://schemas.microsoft.com/office/powerpoint/2010/main" val="1564411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72D89E-4B25-6904-9879-AED2AD5CE1A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3D1BA-49F1-B86E-C66F-0B8F8450F3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85F90C-4701-C192-642D-AAF932702CEB}"/>
              </a:ext>
            </a:extLst>
          </p:cNvPr>
          <p:cNvSpPr>
            <a:spLocks noGrp="1"/>
          </p:cNvSpPr>
          <p:nvPr>
            <p:ph type="dt" sz="half" idx="10"/>
          </p:nvPr>
        </p:nvSpPr>
        <p:spPr/>
        <p:txBody>
          <a:bodyPr/>
          <a:lstStyle/>
          <a:p>
            <a:fld id="{00B22A25-8408-4B8D-A5AD-AF80CE804250}" type="datetimeFigureOut">
              <a:rPr lang="en-US" smtClean="0"/>
              <a:t>10/3/2026</a:t>
            </a:fld>
            <a:endParaRPr lang="en-US"/>
          </a:p>
        </p:txBody>
      </p:sp>
      <p:sp>
        <p:nvSpPr>
          <p:cNvPr id="5" name="Footer Placeholder 4">
            <a:extLst>
              <a:ext uri="{FF2B5EF4-FFF2-40B4-BE49-F238E27FC236}">
                <a16:creationId xmlns:a16="http://schemas.microsoft.com/office/drawing/2014/main" id="{B66CC239-6BC6-FBE7-B3A1-98BBB1195F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B2D777-7D7B-6587-E463-04473396F88A}"/>
              </a:ext>
            </a:extLst>
          </p:cNvPr>
          <p:cNvSpPr>
            <a:spLocks noGrp="1"/>
          </p:cNvSpPr>
          <p:nvPr>
            <p:ph type="sldNum" sz="quarter" idx="12"/>
          </p:nvPr>
        </p:nvSpPr>
        <p:spPr/>
        <p:txBody>
          <a:bodyPr/>
          <a:lstStyle/>
          <a:p>
            <a:fld id="{78AD56AB-075C-42DA-8EAB-2A4FF705D18F}" type="slidenum">
              <a:rPr lang="en-US" smtClean="0"/>
              <a:t>‹#›</a:t>
            </a:fld>
            <a:endParaRPr lang="en-US"/>
          </a:p>
        </p:txBody>
      </p:sp>
    </p:spTree>
    <p:extLst>
      <p:ext uri="{BB962C8B-B14F-4D97-AF65-F5344CB8AC3E}">
        <p14:creationId xmlns:p14="http://schemas.microsoft.com/office/powerpoint/2010/main" val="19816439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_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748CF3F-C310-A798-3FC5-A1091EC24F32}"/>
              </a:ext>
            </a:extLst>
          </p:cNvPr>
          <p:cNvSpPr/>
          <p:nvPr userDrawn="1"/>
        </p:nvSpPr>
        <p:spPr>
          <a:xfrm>
            <a:off x="0" y="0"/>
            <a:ext cx="12192000" cy="6858000"/>
          </a:xfrm>
          <a:prstGeom prst="rect">
            <a:avLst/>
          </a:prstGeom>
          <a:solidFill>
            <a:srgbClr val="0902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1">
            <a:extLst>
              <a:ext uri="{FF2B5EF4-FFF2-40B4-BE49-F238E27FC236}">
                <a16:creationId xmlns:a16="http://schemas.microsoft.com/office/drawing/2014/main" id="{E6440974-A0F0-F14F-D260-E09DA671DCDA}"/>
              </a:ext>
            </a:extLst>
          </p:cNvPr>
          <p:cNvPicPr>
            <a:picLocks noChangeAspect="1"/>
          </p:cNvPicPr>
          <p:nvPr userDrawn="1"/>
        </p:nvPicPr>
        <p:blipFill rotWithShape="1">
          <a:blip r:embed="rId2"/>
          <a:srcRect t="2412" r="2103"/>
          <a:stretch/>
        </p:blipFill>
        <p:spPr>
          <a:xfrm flipH="1">
            <a:off x="1133473" y="657276"/>
            <a:ext cx="11058523" cy="6200724"/>
          </a:xfrm>
          <a:prstGeom prst="rect">
            <a:avLst/>
          </a:prstGeom>
        </p:spPr>
      </p:pic>
      <p:pic>
        <p:nvPicPr>
          <p:cNvPr id="4" name="Graphic 3">
            <a:extLst>
              <a:ext uri="{FF2B5EF4-FFF2-40B4-BE49-F238E27FC236}">
                <a16:creationId xmlns:a16="http://schemas.microsoft.com/office/drawing/2014/main" id="{1A0F37DD-1BE1-1AE7-5545-AEDAA9BD327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39273" y="334878"/>
            <a:ext cx="3276600" cy="491490"/>
          </a:xfrm>
          <a:prstGeom prst="rect">
            <a:avLst/>
          </a:prstGeom>
        </p:spPr>
      </p:pic>
      <p:sp>
        <p:nvSpPr>
          <p:cNvPr id="10" name="Rectangle 9">
            <a:extLst>
              <a:ext uri="{FF2B5EF4-FFF2-40B4-BE49-F238E27FC236}">
                <a16:creationId xmlns:a16="http://schemas.microsoft.com/office/drawing/2014/main" id="{F1F3F5F4-3820-5854-232F-CF1E10F6076E}"/>
              </a:ext>
            </a:extLst>
          </p:cNvPr>
          <p:cNvSpPr/>
          <p:nvPr userDrawn="1"/>
        </p:nvSpPr>
        <p:spPr>
          <a:xfrm>
            <a:off x="0" y="5356860"/>
            <a:ext cx="6316980" cy="1501139"/>
          </a:xfrm>
          <a:prstGeom prst="rect">
            <a:avLst/>
          </a:prstGeom>
          <a:gradFill flip="none" rotWithShape="1">
            <a:gsLst>
              <a:gs pos="0">
                <a:schemeClr val="tx1">
                  <a:alpha val="87000"/>
                </a:schemeClr>
              </a:gs>
              <a:gs pos="100000">
                <a:schemeClr val="tx1">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3" name="Group 12">
            <a:extLst>
              <a:ext uri="{FF2B5EF4-FFF2-40B4-BE49-F238E27FC236}">
                <a16:creationId xmlns:a16="http://schemas.microsoft.com/office/drawing/2014/main" id="{977ABC60-1015-CA7D-6165-EAB4CE2A7F00}"/>
              </a:ext>
            </a:extLst>
          </p:cNvPr>
          <p:cNvGrpSpPr/>
          <p:nvPr userDrawn="1"/>
        </p:nvGrpSpPr>
        <p:grpSpPr>
          <a:xfrm>
            <a:off x="445174" y="2002465"/>
            <a:ext cx="3741293" cy="2851865"/>
            <a:chOff x="435649" y="2002465"/>
            <a:chExt cx="3741293" cy="2851865"/>
          </a:xfrm>
        </p:grpSpPr>
        <p:sp>
          <p:nvSpPr>
            <p:cNvPr id="7" name="TextBox 6">
              <a:extLst>
                <a:ext uri="{FF2B5EF4-FFF2-40B4-BE49-F238E27FC236}">
                  <a16:creationId xmlns:a16="http://schemas.microsoft.com/office/drawing/2014/main" id="{FD3AC36E-B320-78DD-E691-BE855821E7FE}"/>
                </a:ext>
              </a:extLst>
            </p:cNvPr>
            <p:cNvSpPr txBox="1"/>
            <p:nvPr userDrawn="1"/>
          </p:nvSpPr>
          <p:spPr>
            <a:xfrm>
              <a:off x="2111803" y="2805752"/>
              <a:ext cx="2065139" cy="1246495"/>
            </a:xfrm>
            <a:prstGeom prst="rect">
              <a:avLst/>
            </a:prstGeom>
            <a:noFill/>
          </p:spPr>
          <p:txBody>
            <a:bodyPr wrap="square" rtlCol="0" anchor="ctr">
              <a:spAutoFit/>
            </a:bodyPr>
            <a:lstStyle/>
            <a:p>
              <a:r>
                <a:rPr lang="en-IN" sz="2500" dirty="0">
                  <a:solidFill>
                    <a:schemeClr val="bg1"/>
                  </a:solidFill>
                </a:rPr>
                <a:t>Purposeful. </a:t>
              </a:r>
            </a:p>
            <a:p>
              <a:r>
                <a:rPr lang="en-IN" sz="2500" dirty="0">
                  <a:solidFill>
                    <a:schemeClr val="bg1"/>
                  </a:solidFill>
                </a:rPr>
                <a:t>Agile.</a:t>
              </a:r>
            </a:p>
            <a:p>
              <a:r>
                <a:rPr lang="en-IN" sz="2500" dirty="0">
                  <a:solidFill>
                    <a:schemeClr val="bg1"/>
                  </a:solidFill>
                </a:rPr>
                <a:t>Innovation.</a:t>
              </a:r>
            </a:p>
          </p:txBody>
        </p:sp>
        <p:pic>
          <p:nvPicPr>
            <p:cNvPr id="12" name="Graphic 11">
              <a:extLst>
                <a:ext uri="{FF2B5EF4-FFF2-40B4-BE49-F238E27FC236}">
                  <a16:creationId xmlns:a16="http://schemas.microsoft.com/office/drawing/2014/main" id="{F5173B0F-EFDF-09D6-E856-07569D6567B1}"/>
                </a:ext>
              </a:extLst>
            </p:cNvPr>
            <p:cNvPicPr>
              <a:picLocks noChangeAspect="1"/>
            </p:cNvPicPr>
            <p:nvPr userDrawn="1"/>
          </p:nvPicPr>
          <p:blipFill>
            <a:blip>
              <a:extLst>
                <a:ext uri="{96DAC541-7B7A-43D3-8B79-37D633B846F1}">
                  <asvg:svgBlip xmlns:asvg="http://schemas.microsoft.com/office/drawing/2016/SVG/main" r:embed="rId4"/>
                </a:ext>
              </a:extLst>
            </a:blip>
            <a:srcRect/>
            <a:stretch>
              <a:fillRect/>
            </a:stretch>
          </p:blipFill>
          <p:spPr>
            <a:xfrm>
              <a:off x="435649" y="2002465"/>
              <a:ext cx="3074351" cy="2851865"/>
            </a:xfrm>
            <a:custGeom>
              <a:avLst/>
              <a:gdLst>
                <a:gd name="connsiteX0" fmla="*/ 0 w 3074351"/>
                <a:gd name="connsiteY0" fmla="*/ 0 h 2851865"/>
                <a:gd name="connsiteX1" fmla="*/ 3074351 w 3074351"/>
                <a:gd name="connsiteY1" fmla="*/ 0 h 2851865"/>
                <a:gd name="connsiteX2" fmla="*/ 3074351 w 3074351"/>
                <a:gd name="connsiteY2" fmla="*/ 883610 h 2851865"/>
                <a:gd name="connsiteX3" fmla="*/ 1603216 w 3074351"/>
                <a:gd name="connsiteY3" fmla="*/ 883610 h 2851865"/>
                <a:gd name="connsiteX4" fmla="*/ 1603216 w 3074351"/>
                <a:gd name="connsiteY4" fmla="*/ 2030732 h 2851865"/>
                <a:gd name="connsiteX5" fmla="*/ 3074351 w 3074351"/>
                <a:gd name="connsiteY5" fmla="*/ 2030732 h 2851865"/>
                <a:gd name="connsiteX6" fmla="*/ 3074351 w 3074351"/>
                <a:gd name="connsiteY6" fmla="*/ 2851865 h 2851865"/>
                <a:gd name="connsiteX7" fmla="*/ 0 w 3074351"/>
                <a:gd name="connsiteY7" fmla="*/ 2851865 h 2851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74351" h="2851865">
                  <a:moveTo>
                    <a:pt x="0" y="0"/>
                  </a:moveTo>
                  <a:lnTo>
                    <a:pt x="3074351" y="0"/>
                  </a:lnTo>
                  <a:lnTo>
                    <a:pt x="3074351" y="883610"/>
                  </a:lnTo>
                  <a:lnTo>
                    <a:pt x="1603216" y="883610"/>
                  </a:lnTo>
                  <a:lnTo>
                    <a:pt x="1603216" y="2030732"/>
                  </a:lnTo>
                  <a:lnTo>
                    <a:pt x="3074351" y="2030732"/>
                  </a:lnTo>
                  <a:lnTo>
                    <a:pt x="3074351" y="2851865"/>
                  </a:lnTo>
                  <a:lnTo>
                    <a:pt x="0" y="2851865"/>
                  </a:lnTo>
                  <a:close/>
                </a:path>
              </a:pathLst>
            </a:custGeom>
          </p:spPr>
        </p:pic>
      </p:grpSp>
      <p:pic>
        <p:nvPicPr>
          <p:cNvPr id="5" name="Graphic 4">
            <a:extLst>
              <a:ext uri="{FF2B5EF4-FFF2-40B4-BE49-F238E27FC236}">
                <a16:creationId xmlns:a16="http://schemas.microsoft.com/office/drawing/2014/main" id="{1814E23E-283E-C440-5866-CADE5F53B924}"/>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8985124" y="503024"/>
            <a:ext cx="2776539" cy="154252"/>
          </a:xfrm>
          <a:prstGeom prst="rect">
            <a:avLst/>
          </a:prstGeom>
        </p:spPr>
      </p:pic>
      <p:pic>
        <p:nvPicPr>
          <p:cNvPr id="8" name="Picture 7" descr="A black background with white text and yellow light bulb&#10;&#10;AI-generated content may be incorrect.">
            <a:extLst>
              <a:ext uri="{FF2B5EF4-FFF2-40B4-BE49-F238E27FC236}">
                <a16:creationId xmlns:a16="http://schemas.microsoft.com/office/drawing/2014/main" id="{C83B51A8-2F44-A251-020A-443601ABFB84}"/>
              </a:ext>
            </a:extLst>
          </p:cNvPr>
          <p:cNvPicPr>
            <a:picLocks noChangeAspect="1"/>
          </p:cNvPicPr>
          <p:nvPr userDrawn="1"/>
        </p:nvPicPr>
        <p:blipFill>
          <a:blip r:embed="rId6" cstate="print">
            <a:extLst>
              <a:ext uri="{28A0092B-C50C-407E-A947-70E740481C1C}">
                <a14:useLocalDpi xmlns:a14="http://schemas.microsoft.com/office/drawing/2010/main" val="0"/>
              </a:ext>
            </a:extLst>
          </a:blip>
          <a:srcRect l="3653" r="2375"/>
          <a:stretch/>
        </p:blipFill>
        <p:spPr>
          <a:xfrm>
            <a:off x="439273" y="5968064"/>
            <a:ext cx="1741620" cy="746278"/>
          </a:xfrm>
          <a:prstGeom prst="rect">
            <a:avLst/>
          </a:prstGeom>
        </p:spPr>
      </p:pic>
    </p:spTree>
    <p:extLst>
      <p:ext uri="{BB962C8B-B14F-4D97-AF65-F5344CB8AC3E}">
        <p14:creationId xmlns:p14="http://schemas.microsoft.com/office/powerpoint/2010/main" val="23620017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ext_Slide">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3BBF3F82-3C53-C5AA-C727-A678218BE83F}"/>
              </a:ext>
            </a:extLst>
          </p:cNvPr>
          <p:cNvSpPr>
            <a:spLocks noGrp="1"/>
          </p:cNvSpPr>
          <p:nvPr>
            <p:ph type="title" hasCustomPrompt="1"/>
          </p:nvPr>
        </p:nvSpPr>
        <p:spPr bwMode="gray">
          <a:xfrm>
            <a:off x="464000" y="243840"/>
            <a:ext cx="11270800" cy="546360"/>
          </a:xfrm>
          <a:prstGeom prst="rect">
            <a:avLst/>
          </a:prstGeom>
        </p:spPr>
        <p:txBody>
          <a:bodyPr lIns="0" rIns="0" anchor="b">
            <a:normAutofit/>
          </a:bodyPr>
          <a:lstStyle>
            <a:lvl1pPr>
              <a:defRPr sz="3200" b="1">
                <a:solidFill>
                  <a:schemeClr val="tx1"/>
                </a:solidFill>
                <a:latin typeface="Calibri" charset="0"/>
                <a:ea typeface="Calibri" charset="0"/>
                <a:cs typeface="Calibri" charset="0"/>
              </a:defRPr>
            </a:lvl1pPr>
          </a:lstStyle>
          <a:p>
            <a:r>
              <a:rPr lang="en-US" dirty="0"/>
              <a:t>Click to edit title text</a:t>
            </a:r>
          </a:p>
        </p:txBody>
      </p:sp>
      <p:sp>
        <p:nvSpPr>
          <p:cNvPr id="2" name="Text Placeholder 2">
            <a:extLst>
              <a:ext uri="{FF2B5EF4-FFF2-40B4-BE49-F238E27FC236}">
                <a16:creationId xmlns:a16="http://schemas.microsoft.com/office/drawing/2014/main" id="{0AF73541-B415-9FCA-5C11-836A8EFE11C3}"/>
              </a:ext>
            </a:extLst>
          </p:cNvPr>
          <p:cNvSpPr>
            <a:spLocks noGrp="1"/>
          </p:cNvSpPr>
          <p:nvPr>
            <p:ph type="body" sz="quarter" idx="11" hasCustomPrompt="1"/>
          </p:nvPr>
        </p:nvSpPr>
        <p:spPr>
          <a:xfrm>
            <a:off x="499379" y="1240151"/>
            <a:ext cx="11235421" cy="4733925"/>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382B1CFF-1E57-3907-DE1F-902FF92453FF}"/>
              </a:ext>
            </a:extLst>
          </p:cNvPr>
          <p:cNvPicPr>
            <a:picLocks noChangeAspect="1"/>
          </p:cNvPicPr>
          <p:nvPr userDrawn="1"/>
        </p:nvPicPr>
        <p:blipFill>
          <a:blip r:embed="rId2"/>
          <a:stretch>
            <a:fillRect/>
          </a:stretch>
        </p:blipFill>
        <p:spPr>
          <a:xfrm flipV="1">
            <a:off x="12008146" y="0"/>
            <a:ext cx="183854" cy="6858000"/>
          </a:xfrm>
          <a:prstGeom prst="rect">
            <a:avLst/>
          </a:prstGeom>
        </p:spPr>
      </p:pic>
      <p:sp>
        <p:nvSpPr>
          <p:cNvPr id="5" name="Rectangle 4">
            <a:extLst>
              <a:ext uri="{FF2B5EF4-FFF2-40B4-BE49-F238E27FC236}">
                <a16:creationId xmlns:a16="http://schemas.microsoft.com/office/drawing/2014/main" id="{77FB8498-7694-6564-5B20-A2BAE2DBB53F}"/>
              </a:ext>
            </a:extLst>
          </p:cNvPr>
          <p:cNvSpPr/>
          <p:nvPr userDrawn="1"/>
        </p:nvSpPr>
        <p:spPr>
          <a:xfrm>
            <a:off x="460600" y="830469"/>
            <a:ext cx="11270800" cy="36000"/>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70582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hank You_0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748CF3F-C310-A798-3FC5-A1091EC24F32}"/>
              </a:ext>
            </a:extLst>
          </p:cNvPr>
          <p:cNvSpPr/>
          <p:nvPr userDrawn="1"/>
        </p:nvSpPr>
        <p:spPr>
          <a:xfrm>
            <a:off x="0" y="0"/>
            <a:ext cx="12192000" cy="6858000"/>
          </a:xfrm>
          <a:prstGeom prst="rect">
            <a:avLst/>
          </a:prstGeom>
          <a:solidFill>
            <a:srgbClr val="0902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1">
            <a:extLst>
              <a:ext uri="{FF2B5EF4-FFF2-40B4-BE49-F238E27FC236}">
                <a16:creationId xmlns:a16="http://schemas.microsoft.com/office/drawing/2014/main" id="{E6440974-A0F0-F14F-D260-E09DA671DCDA}"/>
              </a:ext>
            </a:extLst>
          </p:cNvPr>
          <p:cNvPicPr>
            <a:picLocks noChangeAspect="1"/>
          </p:cNvPicPr>
          <p:nvPr userDrawn="1"/>
        </p:nvPicPr>
        <p:blipFill rotWithShape="1">
          <a:blip r:embed="rId2"/>
          <a:srcRect t="2412" r="2103"/>
          <a:stretch/>
        </p:blipFill>
        <p:spPr>
          <a:xfrm flipH="1">
            <a:off x="1133473" y="657276"/>
            <a:ext cx="11058523" cy="6200724"/>
          </a:xfrm>
          <a:prstGeom prst="rect">
            <a:avLst/>
          </a:prstGeom>
        </p:spPr>
      </p:pic>
      <p:pic>
        <p:nvPicPr>
          <p:cNvPr id="4" name="Graphic 3">
            <a:extLst>
              <a:ext uri="{FF2B5EF4-FFF2-40B4-BE49-F238E27FC236}">
                <a16:creationId xmlns:a16="http://schemas.microsoft.com/office/drawing/2014/main" id="{1A0F37DD-1BE1-1AE7-5545-AEDAA9BD327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39273" y="334878"/>
            <a:ext cx="3276600" cy="491490"/>
          </a:xfrm>
          <a:prstGeom prst="rect">
            <a:avLst/>
          </a:prstGeom>
        </p:spPr>
      </p:pic>
      <p:sp>
        <p:nvSpPr>
          <p:cNvPr id="10" name="Rectangle 9">
            <a:extLst>
              <a:ext uri="{FF2B5EF4-FFF2-40B4-BE49-F238E27FC236}">
                <a16:creationId xmlns:a16="http://schemas.microsoft.com/office/drawing/2014/main" id="{F1F3F5F4-3820-5854-232F-CF1E10F6076E}"/>
              </a:ext>
            </a:extLst>
          </p:cNvPr>
          <p:cNvSpPr/>
          <p:nvPr userDrawn="1"/>
        </p:nvSpPr>
        <p:spPr>
          <a:xfrm>
            <a:off x="0" y="5356860"/>
            <a:ext cx="6316980" cy="1501139"/>
          </a:xfrm>
          <a:prstGeom prst="rect">
            <a:avLst/>
          </a:prstGeom>
          <a:gradFill flip="none" rotWithShape="1">
            <a:gsLst>
              <a:gs pos="0">
                <a:schemeClr val="tx1">
                  <a:alpha val="87000"/>
                </a:schemeClr>
              </a:gs>
              <a:gs pos="100000">
                <a:schemeClr val="tx1">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itle 9">
            <a:extLst>
              <a:ext uri="{FF2B5EF4-FFF2-40B4-BE49-F238E27FC236}">
                <a16:creationId xmlns:a16="http://schemas.microsoft.com/office/drawing/2014/main" id="{D8F65E62-9E12-E8D7-865F-63444E099A89}"/>
              </a:ext>
            </a:extLst>
          </p:cNvPr>
          <p:cNvSpPr>
            <a:spLocks noGrp="1"/>
          </p:cNvSpPr>
          <p:nvPr>
            <p:ph type="title" hasCustomPrompt="1"/>
          </p:nvPr>
        </p:nvSpPr>
        <p:spPr>
          <a:xfrm>
            <a:off x="8694882" y="2772942"/>
            <a:ext cx="3340981" cy="1325563"/>
          </a:xfrm>
          <a:prstGeom prst="rect">
            <a:avLst/>
          </a:prstGeom>
        </p:spPr>
        <p:txBody>
          <a:bodyPr anchor="ctr">
            <a:normAutofit/>
          </a:bodyPr>
          <a:lstStyle>
            <a:lvl1pPr algn="ctr">
              <a:defRPr sz="5000" b="1">
                <a:solidFill>
                  <a:schemeClr val="bg1"/>
                </a:solidFill>
                <a:effectLst>
                  <a:outerShdw blurRad="38100" dist="38100" dir="2700000" algn="tl">
                    <a:srgbClr val="000000">
                      <a:alpha val="43137"/>
                    </a:srgbClr>
                  </a:outerShdw>
                </a:effectLst>
                <a:latin typeface="+mn-lt"/>
              </a:defRPr>
            </a:lvl1pPr>
          </a:lstStyle>
          <a:p>
            <a:r>
              <a:rPr lang="en-US" dirty="0"/>
              <a:t>Thank You</a:t>
            </a:r>
          </a:p>
        </p:txBody>
      </p:sp>
      <p:grpSp>
        <p:nvGrpSpPr>
          <p:cNvPr id="11" name="Group 10">
            <a:extLst>
              <a:ext uri="{FF2B5EF4-FFF2-40B4-BE49-F238E27FC236}">
                <a16:creationId xmlns:a16="http://schemas.microsoft.com/office/drawing/2014/main" id="{256F3D45-5EAC-4C21-F481-6DE499569FED}"/>
              </a:ext>
            </a:extLst>
          </p:cNvPr>
          <p:cNvGrpSpPr/>
          <p:nvPr userDrawn="1"/>
        </p:nvGrpSpPr>
        <p:grpSpPr>
          <a:xfrm>
            <a:off x="445174" y="2002465"/>
            <a:ext cx="3741293" cy="2851865"/>
            <a:chOff x="435649" y="2002465"/>
            <a:chExt cx="3741293" cy="2851865"/>
          </a:xfrm>
        </p:grpSpPr>
        <p:sp>
          <p:nvSpPr>
            <p:cNvPr id="12" name="TextBox 11">
              <a:extLst>
                <a:ext uri="{FF2B5EF4-FFF2-40B4-BE49-F238E27FC236}">
                  <a16:creationId xmlns:a16="http://schemas.microsoft.com/office/drawing/2014/main" id="{54BBC4C9-BF64-FF98-1BA8-5D5E88D82874}"/>
                </a:ext>
              </a:extLst>
            </p:cNvPr>
            <p:cNvSpPr txBox="1"/>
            <p:nvPr userDrawn="1"/>
          </p:nvSpPr>
          <p:spPr>
            <a:xfrm>
              <a:off x="2111803" y="2805752"/>
              <a:ext cx="2065139" cy="1246495"/>
            </a:xfrm>
            <a:prstGeom prst="rect">
              <a:avLst/>
            </a:prstGeom>
            <a:noFill/>
          </p:spPr>
          <p:txBody>
            <a:bodyPr wrap="square" rtlCol="0" anchor="ctr">
              <a:spAutoFit/>
            </a:bodyPr>
            <a:lstStyle/>
            <a:p>
              <a:r>
                <a:rPr lang="en-IN" sz="2500" dirty="0">
                  <a:solidFill>
                    <a:schemeClr val="bg1"/>
                  </a:solidFill>
                </a:rPr>
                <a:t>Purposeful. </a:t>
              </a:r>
            </a:p>
            <a:p>
              <a:r>
                <a:rPr lang="en-IN" sz="2500" dirty="0">
                  <a:solidFill>
                    <a:schemeClr val="bg1"/>
                  </a:solidFill>
                </a:rPr>
                <a:t>Agile.</a:t>
              </a:r>
            </a:p>
            <a:p>
              <a:r>
                <a:rPr lang="en-IN" sz="2500" dirty="0">
                  <a:solidFill>
                    <a:schemeClr val="bg1"/>
                  </a:solidFill>
                </a:rPr>
                <a:t>Innovation.</a:t>
              </a:r>
            </a:p>
          </p:txBody>
        </p:sp>
        <p:pic>
          <p:nvPicPr>
            <p:cNvPr id="13" name="Graphic 12">
              <a:extLst>
                <a:ext uri="{FF2B5EF4-FFF2-40B4-BE49-F238E27FC236}">
                  <a16:creationId xmlns:a16="http://schemas.microsoft.com/office/drawing/2014/main" id="{F7F503BC-179B-60BB-18AE-1BF86005C2CC}"/>
                </a:ext>
              </a:extLst>
            </p:cNvPr>
            <p:cNvPicPr>
              <a:picLocks noChangeAspect="1"/>
            </p:cNvPicPr>
            <p:nvPr userDrawn="1"/>
          </p:nvPicPr>
          <p:blipFill>
            <a:blip>
              <a:extLst>
                <a:ext uri="{96DAC541-7B7A-43D3-8B79-37D633B846F1}">
                  <asvg:svgBlip xmlns:asvg="http://schemas.microsoft.com/office/drawing/2016/SVG/main" r:embed="rId4"/>
                </a:ext>
              </a:extLst>
            </a:blip>
            <a:srcRect/>
            <a:stretch>
              <a:fillRect/>
            </a:stretch>
          </p:blipFill>
          <p:spPr>
            <a:xfrm>
              <a:off x="435649" y="2002465"/>
              <a:ext cx="3074351" cy="2851865"/>
            </a:xfrm>
            <a:custGeom>
              <a:avLst/>
              <a:gdLst>
                <a:gd name="connsiteX0" fmla="*/ 0 w 3074351"/>
                <a:gd name="connsiteY0" fmla="*/ 0 h 2851865"/>
                <a:gd name="connsiteX1" fmla="*/ 3074351 w 3074351"/>
                <a:gd name="connsiteY1" fmla="*/ 0 h 2851865"/>
                <a:gd name="connsiteX2" fmla="*/ 3074351 w 3074351"/>
                <a:gd name="connsiteY2" fmla="*/ 883610 h 2851865"/>
                <a:gd name="connsiteX3" fmla="*/ 1603216 w 3074351"/>
                <a:gd name="connsiteY3" fmla="*/ 883610 h 2851865"/>
                <a:gd name="connsiteX4" fmla="*/ 1603216 w 3074351"/>
                <a:gd name="connsiteY4" fmla="*/ 2030732 h 2851865"/>
                <a:gd name="connsiteX5" fmla="*/ 3074351 w 3074351"/>
                <a:gd name="connsiteY5" fmla="*/ 2030732 h 2851865"/>
                <a:gd name="connsiteX6" fmla="*/ 3074351 w 3074351"/>
                <a:gd name="connsiteY6" fmla="*/ 2851865 h 2851865"/>
                <a:gd name="connsiteX7" fmla="*/ 0 w 3074351"/>
                <a:gd name="connsiteY7" fmla="*/ 2851865 h 2851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74351" h="2851865">
                  <a:moveTo>
                    <a:pt x="0" y="0"/>
                  </a:moveTo>
                  <a:lnTo>
                    <a:pt x="3074351" y="0"/>
                  </a:lnTo>
                  <a:lnTo>
                    <a:pt x="3074351" y="883610"/>
                  </a:lnTo>
                  <a:lnTo>
                    <a:pt x="1603216" y="883610"/>
                  </a:lnTo>
                  <a:lnTo>
                    <a:pt x="1603216" y="2030732"/>
                  </a:lnTo>
                  <a:lnTo>
                    <a:pt x="3074351" y="2030732"/>
                  </a:lnTo>
                  <a:lnTo>
                    <a:pt x="3074351" y="2851865"/>
                  </a:lnTo>
                  <a:lnTo>
                    <a:pt x="0" y="2851865"/>
                  </a:lnTo>
                  <a:close/>
                </a:path>
              </a:pathLst>
            </a:custGeom>
          </p:spPr>
        </p:pic>
      </p:grpSp>
      <p:pic>
        <p:nvPicPr>
          <p:cNvPr id="7" name="Graphic 6">
            <a:extLst>
              <a:ext uri="{FF2B5EF4-FFF2-40B4-BE49-F238E27FC236}">
                <a16:creationId xmlns:a16="http://schemas.microsoft.com/office/drawing/2014/main" id="{AA79BA81-1C3F-8CAB-7C8C-8EF04F66673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8985124" y="503024"/>
            <a:ext cx="2776539" cy="154252"/>
          </a:xfrm>
          <a:prstGeom prst="rect">
            <a:avLst/>
          </a:prstGeom>
        </p:spPr>
      </p:pic>
      <p:pic>
        <p:nvPicPr>
          <p:cNvPr id="6" name="Picture 5" descr="A black background with white text and yellow light bulb&#10;&#10;AI-generated content may be incorrect.">
            <a:extLst>
              <a:ext uri="{FF2B5EF4-FFF2-40B4-BE49-F238E27FC236}">
                <a16:creationId xmlns:a16="http://schemas.microsoft.com/office/drawing/2014/main" id="{56FED5E7-28F6-C45A-E68F-B163B9DC2085}"/>
              </a:ext>
            </a:extLst>
          </p:cNvPr>
          <p:cNvPicPr>
            <a:picLocks noChangeAspect="1"/>
          </p:cNvPicPr>
          <p:nvPr userDrawn="1"/>
        </p:nvPicPr>
        <p:blipFill>
          <a:blip r:embed="rId6" cstate="print">
            <a:extLst>
              <a:ext uri="{28A0092B-C50C-407E-A947-70E740481C1C}">
                <a14:useLocalDpi xmlns:a14="http://schemas.microsoft.com/office/drawing/2010/main" val="0"/>
              </a:ext>
            </a:extLst>
          </a:blip>
          <a:srcRect l="3653" r="2375"/>
          <a:stretch/>
        </p:blipFill>
        <p:spPr>
          <a:xfrm>
            <a:off x="439273" y="5968064"/>
            <a:ext cx="1741620" cy="746278"/>
          </a:xfrm>
          <a:prstGeom prst="rect">
            <a:avLst/>
          </a:prstGeom>
        </p:spPr>
      </p:pic>
    </p:spTree>
    <p:extLst>
      <p:ext uri="{BB962C8B-B14F-4D97-AF65-F5344CB8AC3E}">
        <p14:creationId xmlns:p14="http://schemas.microsoft.com/office/powerpoint/2010/main" val="328554551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1833BA-8A81-3887-28F9-5475D6EB81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7A9D88B-10A0-7400-39A5-A9C8C720D0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C59DB5-94B9-63B2-44EC-29DF79273C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B22A25-8408-4B8D-A5AD-AF80CE804250}" type="datetimeFigureOut">
              <a:rPr lang="en-US" smtClean="0"/>
              <a:t>10/3/2026</a:t>
            </a:fld>
            <a:endParaRPr lang="en-US"/>
          </a:p>
        </p:txBody>
      </p:sp>
      <p:sp>
        <p:nvSpPr>
          <p:cNvPr id="5" name="Footer Placeholder 4">
            <a:extLst>
              <a:ext uri="{FF2B5EF4-FFF2-40B4-BE49-F238E27FC236}">
                <a16:creationId xmlns:a16="http://schemas.microsoft.com/office/drawing/2014/main" id="{EAAFCF47-7EDF-52F6-A01D-69F25C1E1C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D9C8414-4408-8873-F0C7-6DE0754DD2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AD56AB-075C-42DA-8EAB-2A4FF705D18F}" type="slidenum">
              <a:rPr lang="en-US" smtClean="0"/>
              <a:t>‹#›</a:t>
            </a:fld>
            <a:endParaRPr lang="en-US"/>
          </a:p>
        </p:txBody>
      </p:sp>
    </p:spTree>
    <p:extLst>
      <p:ext uri="{BB962C8B-B14F-4D97-AF65-F5344CB8AC3E}">
        <p14:creationId xmlns:p14="http://schemas.microsoft.com/office/powerpoint/2010/main" val="36353368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7"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7.png"/><Relationship Id="rId7" Type="http://schemas.microsoft.com/office/2007/relationships/diagramDrawing" Target="../diagrams/drawing1.xml"/><Relationship Id="rId12" Type="http://schemas.microsoft.com/office/2007/relationships/diagramDrawing" Target="../diagrams/drawing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7.png"/><Relationship Id="rId7" Type="http://schemas.microsoft.com/office/2007/relationships/diagramDrawing" Target="../diagrams/drawing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hyperlink" Target="https://stanfordmlgroup.github.io/competitions/chexpert/?utm_source=chatgpt.com" TargetMode="External"/><Relationship Id="rId3" Type="http://schemas.openxmlformats.org/officeDocument/2006/relationships/hyperlink" Target="https://pmc.ncbi.nlm.nih.gov/articles/PMC10831473/?utm_source=chatgpt.com" TargetMode="External"/><Relationship Id="rId4" Type="http://schemas.openxmlformats.org/officeDocument/2006/relationships/hyperlink" Target="https://pmc.ncbi.nlm.nih.gov/articles/PMC6861262/?utm_source=chatgpt.com" TargetMode="External"/><Relationship Id="rId5" Type="http://schemas.openxmlformats.org/officeDocument/2006/relationships/hyperlink" Target="https://pmc.ncbi.nlm.nih.gov/articles/PMC11605106/?utm_source=chatgpt.com" TargetMode="External"/><Relationship Id="rId6" Type="http://schemas.openxmlformats.org/officeDocument/2006/relationships/hyperlink" Target="https://pmc.ncbi.nlm.nih.gov/articles/PMC8755769/?utm_source=chatgpt.com" TargetMode="External"/><Relationship Id="rId7" Type="http://schemas.openxmlformats.org/officeDocument/2006/relationships/image" Target="../media/image7.png"/><Relationship Id="rId8" Type="http://schemas.openxmlformats.org/officeDocument/2006/relationships/hyperlink" Target="https://github.com/mlmed/torchxrayvision" TargetMode="External"/><Relationship Id="rId9" Type="http://schemas.openxmlformats.org/officeDocument/2006/relationships/hyperlink" Target="https://pubs.rsna.org/doi/10.1148/radiol.2017161659" TargetMode="External"/><Relationship Id="rId10" Type="http://schemas.openxmlformats.org/officeDocument/2006/relationships/hyperlink" Target="https://www.nature.com/articles/s41591-021-01595-0"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7.png"/><Relationship Id="rId3"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7.png"/><Relationship Id="rId3"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
            <a:extLst>
              <a:ext uri="{FF2B5EF4-FFF2-40B4-BE49-F238E27FC236}">
                <a16:creationId xmlns:a16="http://schemas.microsoft.com/office/drawing/2014/main" id="{F9F59622-4AB4-45CD-6311-DE109EFF7F7A}"/>
              </a:ext>
            </a:extLst>
          </p:cNvPr>
          <p:cNvSpPr txBox="1">
            <a:spLocks/>
          </p:cNvSpPr>
          <p:nvPr/>
        </p:nvSpPr>
        <p:spPr>
          <a:xfrm>
            <a:off x="3150308" y="1028474"/>
            <a:ext cx="6434725" cy="101653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354">
              <a:buNone/>
              <a:defRPr/>
            </a:pPr>
            <a:r>
              <a:rPr lang="en-US" sz="3400" b="1" dirty="0">
                <a:solidFill>
                  <a:srgbClr val="EEC208"/>
                </a:solidFill>
                <a:latin typeface="Calibri"/>
              </a:rPr>
              <a:t>10</a:t>
            </a:r>
            <a:r>
              <a:rPr lang="en-US" sz="3400" b="1" baseline="30000" dirty="0">
                <a:solidFill>
                  <a:srgbClr val="EEC208"/>
                </a:solidFill>
                <a:latin typeface="Calibri"/>
              </a:rPr>
              <a:t>th</a:t>
            </a:r>
            <a:r>
              <a:rPr lang="en-US" sz="3400" b="1" dirty="0">
                <a:solidFill>
                  <a:srgbClr val="EEC208"/>
                </a:solidFill>
                <a:latin typeface="Calibri"/>
              </a:rPr>
              <a:t> Edition TECHgium</a:t>
            </a:r>
            <a:r>
              <a:rPr lang="en-US" sz="3400" baseline="30000" dirty="0">
                <a:solidFill>
                  <a:srgbClr val="EEC208"/>
                </a:solidFill>
                <a:effectLst/>
                <a:latin typeface="Calibri" panose="020F0502020204030204" pitchFamily="34" charset="0"/>
                <a:ea typeface="Aptos" panose="020B0004020202020204" pitchFamily="34" charset="0"/>
              </a:rPr>
              <a:t>®</a:t>
            </a:r>
            <a:endParaRPr lang="en-US" sz="3400" b="1" dirty="0">
              <a:solidFill>
                <a:srgbClr val="EEC208"/>
              </a:solidFill>
              <a:latin typeface="Calibri"/>
            </a:endParaRPr>
          </a:p>
        </p:txBody>
      </p:sp>
      <p:sp>
        <p:nvSpPr>
          <p:cNvPr id="7" name="Text Placeholder 1">
            <a:extLst>
              <a:ext uri="{FF2B5EF4-FFF2-40B4-BE49-F238E27FC236}">
                <a16:creationId xmlns:a16="http://schemas.microsoft.com/office/drawing/2014/main" id="{0BD592B8-B975-5EF7-D697-B70B88CC8767}"/>
              </a:ext>
            </a:extLst>
          </p:cNvPr>
          <p:cNvSpPr txBox="1">
            <a:spLocks/>
          </p:cNvSpPr>
          <p:nvPr/>
        </p:nvSpPr>
        <p:spPr>
          <a:xfrm>
            <a:off x="3092853" y="1675503"/>
            <a:ext cx="6434725" cy="5913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354">
              <a:buNone/>
              <a:defRPr/>
            </a:pPr>
            <a:r>
              <a:rPr lang="en-US" sz="3200" b="1" dirty="0">
                <a:solidFill>
                  <a:schemeClr val="bg1"/>
                </a:solidFill>
                <a:latin typeface="Calibri"/>
              </a:rPr>
              <a:t> </a:t>
            </a:r>
          </a:p>
        </p:txBody>
      </p:sp>
      <p:sp>
        <p:nvSpPr>
          <p:cNvPr id="8" name="Rectangle 7">
            <a:extLst>
              <a:ext uri="{FF2B5EF4-FFF2-40B4-BE49-F238E27FC236}">
                <a16:creationId xmlns:a16="http://schemas.microsoft.com/office/drawing/2014/main" id="{8EDEC026-D205-683E-D4DC-C4254CB8B8C5}"/>
              </a:ext>
            </a:extLst>
          </p:cNvPr>
          <p:cNvSpPr/>
          <p:nvPr/>
        </p:nvSpPr>
        <p:spPr>
          <a:xfrm>
            <a:off x="3720130" y="4149512"/>
            <a:ext cx="1113837" cy="1098785"/>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2">
                    <a:lumMod val="75000"/>
                    <a:lumOff val="25000"/>
                  </a:schemeClr>
                </a:solidFill>
              </a:rPr>
              <a:t>Author 1 </a:t>
            </a:r>
          </a:p>
          <a:p>
            <a:pPr algn="ctr"/>
            <a:r>
              <a:rPr lang="en-IN" sz="2400" dirty="0">
                <a:solidFill>
                  <a:schemeClr val="tx2">
                    <a:lumMod val="75000"/>
                    <a:lumOff val="25000"/>
                  </a:schemeClr>
                </a:solidFill>
              </a:rPr>
              <a:t>Photo</a:t>
            </a:r>
          </a:p>
        </p:txBody>
      </p:sp>
      <p:sp>
        <p:nvSpPr>
          <p:cNvPr id="10" name="Rectangle 9">
            <a:extLst>
              <a:ext uri="{FF2B5EF4-FFF2-40B4-BE49-F238E27FC236}">
                <a16:creationId xmlns:a16="http://schemas.microsoft.com/office/drawing/2014/main" id="{6CCCEEB3-F52B-A8AF-16BD-BC8064DE6CC5}"/>
              </a:ext>
            </a:extLst>
          </p:cNvPr>
          <p:cNvSpPr/>
          <p:nvPr/>
        </p:nvSpPr>
        <p:spPr>
          <a:xfrm>
            <a:off x="4958338" y="4157753"/>
            <a:ext cx="1113837" cy="1098785"/>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2">
                    <a:lumMod val="75000"/>
                    <a:lumOff val="25000"/>
                  </a:schemeClr>
                </a:solidFill>
              </a:rPr>
              <a:t>Author 2 </a:t>
            </a:r>
          </a:p>
          <a:p>
            <a:pPr algn="ctr"/>
            <a:r>
              <a:rPr lang="en-IN" sz="2400" dirty="0">
                <a:solidFill>
                  <a:schemeClr val="tx2">
                    <a:lumMod val="75000"/>
                    <a:lumOff val="25000"/>
                  </a:schemeClr>
                </a:solidFill>
              </a:rPr>
              <a:t>Photo</a:t>
            </a:r>
          </a:p>
        </p:txBody>
      </p:sp>
      <p:sp>
        <p:nvSpPr>
          <p:cNvPr id="11" name="Rectangle 10">
            <a:extLst>
              <a:ext uri="{FF2B5EF4-FFF2-40B4-BE49-F238E27FC236}">
                <a16:creationId xmlns:a16="http://schemas.microsoft.com/office/drawing/2014/main" id="{85FE6148-4469-6D3E-4B39-6FA4609AD859}"/>
              </a:ext>
            </a:extLst>
          </p:cNvPr>
          <p:cNvSpPr/>
          <p:nvPr/>
        </p:nvSpPr>
        <p:spPr>
          <a:xfrm>
            <a:off x="6207642" y="4157754"/>
            <a:ext cx="1113837" cy="1113836"/>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2">
                    <a:lumMod val="75000"/>
                    <a:lumOff val="25000"/>
                  </a:schemeClr>
                </a:solidFill>
              </a:rPr>
              <a:t>Author 3 </a:t>
            </a:r>
          </a:p>
          <a:p>
            <a:pPr algn="ctr"/>
            <a:r>
              <a:rPr lang="en-IN" sz="2400" dirty="0">
                <a:solidFill>
                  <a:schemeClr val="tx2">
                    <a:lumMod val="75000"/>
                    <a:lumOff val="25000"/>
                  </a:schemeClr>
                </a:solidFill>
              </a:rPr>
              <a:t>Photo</a:t>
            </a:r>
          </a:p>
        </p:txBody>
      </p:sp>
      <p:sp>
        <p:nvSpPr>
          <p:cNvPr id="12" name="Rectangle 11">
            <a:extLst>
              <a:ext uri="{FF2B5EF4-FFF2-40B4-BE49-F238E27FC236}">
                <a16:creationId xmlns:a16="http://schemas.microsoft.com/office/drawing/2014/main" id="{9038503C-3DE1-467C-01CE-1A52D85C4B52}"/>
              </a:ext>
            </a:extLst>
          </p:cNvPr>
          <p:cNvSpPr/>
          <p:nvPr/>
        </p:nvSpPr>
        <p:spPr>
          <a:xfrm>
            <a:off x="7487048" y="4157753"/>
            <a:ext cx="1113837" cy="1113838"/>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2">
                    <a:lumMod val="75000"/>
                    <a:lumOff val="25000"/>
                  </a:schemeClr>
                </a:solidFill>
              </a:rPr>
              <a:t>Author 4 </a:t>
            </a:r>
          </a:p>
          <a:p>
            <a:pPr algn="ctr"/>
            <a:r>
              <a:rPr lang="en-IN" sz="2400" dirty="0">
                <a:solidFill>
                  <a:schemeClr val="tx2">
                    <a:lumMod val="75000"/>
                    <a:lumOff val="25000"/>
                  </a:schemeClr>
                </a:solidFill>
              </a:rPr>
              <a:t>Photo</a:t>
            </a:r>
          </a:p>
        </p:txBody>
      </p:sp>
      <p:sp>
        <p:nvSpPr>
          <p:cNvPr id="13" name="TextBox 12">
            <a:extLst>
              <a:ext uri="{FF2B5EF4-FFF2-40B4-BE49-F238E27FC236}">
                <a16:creationId xmlns:a16="http://schemas.microsoft.com/office/drawing/2014/main" id="{BC5F3BFF-962D-0A13-9BCA-16D0F09AE77F}"/>
              </a:ext>
            </a:extLst>
          </p:cNvPr>
          <p:cNvSpPr txBox="1"/>
          <p:nvPr/>
        </p:nvSpPr>
        <p:spPr>
          <a:xfrm>
            <a:off x="3701703" y="5450618"/>
            <a:ext cx="1113837" cy="384721"/>
          </a:xfrm>
          <a:prstGeom prst="rect">
            <a:avLst/>
          </a:prstGeom>
          <a:noFill/>
        </p:spPr>
        <p:txBody>
          <a:bodyPr wrap="square" rtlCol="0">
            <a:spAutoFit/>
          </a:bodyPr>
          <a:lstStyle/>
          <a:p>
            <a:pPr algn="ctr"/>
            <a:r>
              <a:rPr lang="en-US" sz="1900" dirty="0">
                <a:solidFill>
                  <a:srgbClr val="FFCC00"/>
                </a:solidFill>
              </a:rPr>
              <a:t>Name 1</a:t>
            </a:r>
          </a:p>
        </p:txBody>
      </p:sp>
      <p:sp>
        <p:nvSpPr>
          <p:cNvPr id="15" name="TextBox 14">
            <a:extLst>
              <a:ext uri="{FF2B5EF4-FFF2-40B4-BE49-F238E27FC236}">
                <a16:creationId xmlns:a16="http://schemas.microsoft.com/office/drawing/2014/main" id="{F8444718-3350-8A09-956C-402AE34C6C55}"/>
              </a:ext>
            </a:extLst>
          </p:cNvPr>
          <p:cNvSpPr txBox="1"/>
          <p:nvPr/>
        </p:nvSpPr>
        <p:spPr>
          <a:xfrm>
            <a:off x="5013349" y="5456224"/>
            <a:ext cx="1113837" cy="384721"/>
          </a:xfrm>
          <a:prstGeom prst="rect">
            <a:avLst/>
          </a:prstGeom>
          <a:noFill/>
        </p:spPr>
        <p:txBody>
          <a:bodyPr wrap="square" rtlCol="0">
            <a:spAutoFit/>
          </a:bodyPr>
          <a:lstStyle/>
          <a:p>
            <a:pPr algn="ctr"/>
            <a:r>
              <a:rPr lang="en-US" sz="1900" dirty="0">
                <a:solidFill>
                  <a:srgbClr val="FFCC00"/>
                </a:solidFill>
              </a:rPr>
              <a:t>Name 2</a:t>
            </a:r>
          </a:p>
        </p:txBody>
      </p:sp>
      <p:sp>
        <p:nvSpPr>
          <p:cNvPr id="16" name="TextBox 15">
            <a:extLst>
              <a:ext uri="{FF2B5EF4-FFF2-40B4-BE49-F238E27FC236}">
                <a16:creationId xmlns:a16="http://schemas.microsoft.com/office/drawing/2014/main" id="{CD466F03-0030-07A5-9EE8-103B3588F928}"/>
              </a:ext>
            </a:extLst>
          </p:cNvPr>
          <p:cNvSpPr txBox="1"/>
          <p:nvPr/>
        </p:nvSpPr>
        <p:spPr>
          <a:xfrm>
            <a:off x="6216602" y="5450618"/>
            <a:ext cx="1113837" cy="384721"/>
          </a:xfrm>
          <a:prstGeom prst="rect">
            <a:avLst/>
          </a:prstGeom>
          <a:noFill/>
        </p:spPr>
        <p:txBody>
          <a:bodyPr wrap="square" rtlCol="0">
            <a:spAutoFit/>
          </a:bodyPr>
          <a:lstStyle/>
          <a:p>
            <a:pPr algn="ctr"/>
            <a:r>
              <a:rPr lang="en-US" sz="1900" dirty="0">
                <a:solidFill>
                  <a:srgbClr val="FFCC00"/>
                </a:solidFill>
              </a:rPr>
              <a:t>Name 3</a:t>
            </a:r>
          </a:p>
        </p:txBody>
      </p:sp>
      <p:sp>
        <p:nvSpPr>
          <p:cNvPr id="17" name="TextBox 16">
            <a:extLst>
              <a:ext uri="{FF2B5EF4-FFF2-40B4-BE49-F238E27FC236}">
                <a16:creationId xmlns:a16="http://schemas.microsoft.com/office/drawing/2014/main" id="{10CD0BD5-E0A7-523D-4F0E-107977133CF8}"/>
              </a:ext>
            </a:extLst>
          </p:cNvPr>
          <p:cNvSpPr txBox="1"/>
          <p:nvPr/>
        </p:nvSpPr>
        <p:spPr>
          <a:xfrm>
            <a:off x="7528248" y="5450618"/>
            <a:ext cx="1113837" cy="384721"/>
          </a:xfrm>
          <a:prstGeom prst="rect">
            <a:avLst/>
          </a:prstGeom>
          <a:noFill/>
        </p:spPr>
        <p:txBody>
          <a:bodyPr wrap="square" rtlCol="0">
            <a:spAutoFit/>
          </a:bodyPr>
          <a:lstStyle/>
          <a:p>
            <a:pPr algn="ctr"/>
            <a:r>
              <a:rPr lang="en-US" sz="1900" dirty="0">
                <a:solidFill>
                  <a:srgbClr val="FFCC00"/>
                </a:solidFill>
              </a:rPr>
              <a:t>Name 4</a:t>
            </a:r>
          </a:p>
        </p:txBody>
      </p:sp>
      <p:sp>
        <p:nvSpPr>
          <p:cNvPr id="18" name="TextBox 17">
            <a:extLst>
              <a:ext uri="{FF2B5EF4-FFF2-40B4-BE49-F238E27FC236}">
                <a16:creationId xmlns:a16="http://schemas.microsoft.com/office/drawing/2014/main" id="{CA8663B6-BD0C-AF61-851F-468CE64E802F}"/>
              </a:ext>
            </a:extLst>
          </p:cNvPr>
          <p:cNvSpPr txBox="1"/>
          <p:nvPr/>
        </p:nvSpPr>
        <p:spPr>
          <a:xfrm>
            <a:off x="4258621" y="6035025"/>
            <a:ext cx="3987800" cy="400110"/>
          </a:xfrm>
          <a:prstGeom prst="rect">
            <a:avLst/>
          </a:prstGeom>
          <a:noFill/>
        </p:spPr>
        <p:txBody>
          <a:bodyPr wrap="square" rtlCol="0">
            <a:spAutoFit/>
          </a:bodyPr>
          <a:lstStyle/>
          <a:p>
            <a:pPr algn="ctr"/>
            <a:r>
              <a:rPr lang="en-US" sz="2000" dirty="0">
                <a:solidFill>
                  <a:srgbClr val="FFCC00"/>
                </a:solidFill>
              </a:rPr>
              <a:t>College name, City, State</a:t>
            </a:r>
          </a:p>
        </p:txBody>
      </p:sp>
      <p:sp>
        <p:nvSpPr>
          <p:cNvPr id="19" name="TextBox 18">
            <a:extLst>
              <a:ext uri="{FF2B5EF4-FFF2-40B4-BE49-F238E27FC236}">
                <a16:creationId xmlns:a16="http://schemas.microsoft.com/office/drawing/2014/main" id="{C1E0BDF6-6781-6F26-4DB9-F8283E6ABAB9}"/>
              </a:ext>
            </a:extLst>
          </p:cNvPr>
          <p:cNvSpPr txBox="1"/>
          <p:nvPr/>
        </p:nvSpPr>
        <p:spPr>
          <a:xfrm>
            <a:off x="4052610" y="2433192"/>
            <a:ext cx="4310064" cy="461665"/>
          </a:xfrm>
          <a:prstGeom prst="rect">
            <a:avLst/>
          </a:prstGeom>
          <a:noFill/>
        </p:spPr>
        <p:txBody>
          <a:bodyPr wrap="square" rtlCol="0">
            <a:spAutoFit/>
          </a:bodyPr>
          <a:lstStyle/>
          <a:p>
            <a:pPr algn="ctr"/>
            <a:r>
              <a:rPr lang="en-US" sz="2400" b="1" dirty="0">
                <a:solidFill>
                  <a:srgbClr val="FFCC00"/>
                </a:solidFill>
              </a:rPr>
              <a:t>MEDSCAN – Adaptive AI for Chest X-ray Analysis</a:t>
            </a:r>
          </a:p>
        </p:txBody>
      </p:sp>
      <p:sp>
        <p:nvSpPr>
          <p:cNvPr id="20" name="TextBox 19">
            <a:extLst>
              <a:ext uri="{FF2B5EF4-FFF2-40B4-BE49-F238E27FC236}">
                <a16:creationId xmlns:a16="http://schemas.microsoft.com/office/drawing/2014/main" id="{14A18B2D-AF73-3975-8650-9B00EE2CFC81}"/>
              </a:ext>
            </a:extLst>
          </p:cNvPr>
          <p:cNvSpPr txBox="1"/>
          <p:nvPr/>
        </p:nvSpPr>
        <p:spPr>
          <a:xfrm>
            <a:off x="-491997" y="1324547"/>
            <a:ext cx="4310064" cy="369332"/>
          </a:xfrm>
          <a:prstGeom prst="rect">
            <a:avLst/>
          </a:prstGeom>
          <a:noFill/>
        </p:spPr>
        <p:txBody>
          <a:bodyPr wrap="square" rtlCol="0">
            <a:spAutoFit/>
          </a:bodyPr>
          <a:lstStyle/>
          <a:p>
            <a:pPr algn="ctr"/>
            <a:r>
              <a:rPr lang="en-US" b="1" dirty="0">
                <a:solidFill>
                  <a:srgbClr val="FFCC00"/>
                </a:solidFill>
              </a:rPr>
              <a:t>PID No. </a:t>
            </a:r>
          </a:p>
        </p:txBody>
      </p:sp>
    </p:spTree>
    <p:extLst>
      <p:ext uri="{BB962C8B-B14F-4D97-AF65-F5344CB8AC3E}">
        <p14:creationId xmlns:p14="http://schemas.microsoft.com/office/powerpoint/2010/main" val="3625214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FACC1-B807-E199-91AC-AD058066C7E6}"/>
              </a:ext>
            </a:extLst>
          </p:cNvPr>
          <p:cNvSpPr>
            <a:spLocks noGrp="1"/>
          </p:cNvSpPr>
          <p:nvPr>
            <p:ph type="title"/>
          </p:nvPr>
        </p:nvSpPr>
        <p:spPr/>
        <p:txBody>
          <a:bodyPr/>
          <a:lstStyle/>
          <a:p>
            <a:r>
              <a:rPr lang="en-US" dirty="0"/>
              <a:t>Challenge Statement</a:t>
            </a:r>
          </a:p>
        </p:txBody>
      </p:sp>
      <p:sp>
        <p:nvSpPr>
          <p:cNvPr id="3" name="Text Placeholder 2">
            <a:extLst>
              <a:ext uri="{FF2B5EF4-FFF2-40B4-BE49-F238E27FC236}">
                <a16:creationId xmlns:a16="http://schemas.microsoft.com/office/drawing/2014/main" id="{AE622E93-CA75-8D67-4478-EEE1A746BB47}"/>
              </a:ext>
            </a:extLst>
          </p:cNvPr>
          <p:cNvSpPr>
            <a:spLocks noGrp="1"/>
          </p:cNvSpPr>
          <p:nvPr>
            <p:ph type="body" sz="quarter" idx="11"/>
          </p:nvPr>
        </p:nvSpPr>
        <p:spPr>
          <a:xfrm>
            <a:off x="499379" y="1240151"/>
            <a:ext cx="11235421" cy="5374009"/>
          </a:xfrm>
        </p:spPr>
        <p:txBody>
          <a:bodyPr>
            <a:normAutofit/>
          </a:bodyPr>
          <a:lstStyle/>
          <a:p>
            <a:pPr lvl="0"/>
            <a:r>
              <a:rPr lang="en-IN" sz="2400" dirty="0"/>
              <a:t>Develop an AI-based system to support doctors in </a:t>
            </a:r>
            <a:r>
              <a:rPr lang="en-IN" sz="2400" dirty="0" err="1"/>
              <a:t>analyzing</a:t>
            </a:r>
            <a:r>
              <a:rPr lang="en-IN" sz="2400" dirty="0"/>
              <a:t> chest X-rays. </a:t>
            </a:r>
          </a:p>
          <a:p>
            <a:pPr lvl="0"/>
            <a:r>
              <a:rPr lang="en-IN" sz="2400" dirty="0"/>
              <a:t>Identify and highlight potential abnormalities in medical scans. </a:t>
            </a:r>
          </a:p>
          <a:p>
            <a:pPr lvl="0"/>
            <a:r>
              <a:rPr lang="en-IN" sz="2400" dirty="0"/>
              <a:t>Adapt the level of explanation, evidence, and guidance according to the clinical situation. </a:t>
            </a:r>
          </a:p>
          <a:p>
            <a:pPr lvl="0"/>
            <a:r>
              <a:rPr lang="en-IN" sz="2400" dirty="0"/>
              <a:t>Provide confidence scores and limitations for every AI finding. </a:t>
            </a:r>
          </a:p>
          <a:p>
            <a:pPr lvl="0"/>
            <a:r>
              <a:rPr lang="en-IN" sz="2400" dirty="0"/>
              <a:t>Detect poor-quality or incomplete scans and request human review instead of producing unreliable results. </a:t>
            </a:r>
          </a:p>
          <a:p>
            <a:pPr lvl="0"/>
            <a:r>
              <a:rPr lang="en-IN" sz="2400" dirty="0"/>
              <a:t>Allow doctors to question, correct, or reject AI-generated findings. </a:t>
            </a:r>
          </a:p>
          <a:p>
            <a:pPr lvl="0"/>
            <a:r>
              <a:rPr lang="en-IN" sz="2400" dirty="0"/>
              <a:t>Evaluate whether Doctor + AI collaboration improves decision-making compared with either alone. </a:t>
            </a:r>
          </a:p>
          <a:p>
            <a:pPr lvl="0"/>
            <a:r>
              <a:rPr lang="en-IN" sz="2400" dirty="0"/>
              <a:t>Ensure patient privacy, bias monitoring, and decision traceability.</a:t>
            </a:r>
          </a:p>
          <a:p>
            <a:endParaRPr lang="en-US" sz="2500"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22241F3A-4CF6-34E8-7F7F-C199B1AC2E8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37301" y="243840"/>
            <a:ext cx="1790699" cy="488373"/>
          </a:xfrm>
          <a:prstGeom prst="rect">
            <a:avLst/>
          </a:prstGeom>
        </p:spPr>
      </p:pic>
    </p:spTree>
    <p:extLst>
      <p:ext uri="{BB962C8B-B14F-4D97-AF65-F5344CB8AC3E}">
        <p14:creationId xmlns:p14="http://schemas.microsoft.com/office/powerpoint/2010/main" val="26083123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9AFC5-699D-64A0-0719-F172E59D9B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D05C55-8623-350C-533F-7AB4A0F632C7}"/>
              </a:ext>
            </a:extLst>
          </p:cNvPr>
          <p:cNvSpPr>
            <a:spLocks noGrp="1"/>
          </p:cNvSpPr>
          <p:nvPr>
            <p:ph type="title"/>
          </p:nvPr>
        </p:nvSpPr>
        <p:spPr/>
        <p:txBody>
          <a:bodyPr/>
          <a:lstStyle/>
          <a:p>
            <a:r>
              <a:rPr lang="en-IN" dirty="0"/>
              <a:t>Concept / Proposed Solution </a:t>
            </a:r>
            <a:endParaRPr lang="en-US" dirty="0"/>
          </a:p>
        </p:txBody>
      </p:sp>
      <p:sp>
        <p:nvSpPr>
          <p:cNvPr id="3" name="Text Placeholder 2">
            <a:extLst>
              <a:ext uri="{FF2B5EF4-FFF2-40B4-BE49-F238E27FC236}">
                <a16:creationId xmlns:a16="http://schemas.microsoft.com/office/drawing/2014/main" id="{951473BD-D668-64B3-A45F-14C4BDDFC0ED}"/>
              </a:ext>
            </a:extLst>
          </p:cNvPr>
          <p:cNvSpPr>
            <a:spLocks noGrp="1"/>
          </p:cNvSpPr>
          <p:nvPr>
            <p:ph type="body" sz="quarter" idx="11"/>
          </p:nvPr>
        </p:nvSpPr>
        <p:spPr>
          <a:xfrm>
            <a:off x="499379" y="1269648"/>
            <a:ext cx="11235421" cy="5514610"/>
          </a:xfrm>
        </p:spPr>
        <p:txBody>
          <a:bodyPr>
            <a:normAutofit/>
          </a:bodyPr>
          <a:lstStyle/>
          <a:p>
            <a:pPr marL="0" indent="0">
              <a:buNone/>
            </a:pPr>
            <a:r>
              <a:rPr lang="en-IN" sz="2000" dirty="0" b="1"/>
              <a:t>MEDSCAN</a:t>
            </a:r>
            <a:r>
              <a:rPr lang="en-IN" sz="2000" dirty="0"/>
              <a:t> – a working desktop prototype that adapts to </a:t>
            </a:r>
            <a:r>
              <a:rPr lang="en-IN" sz="2000" dirty="0" b="1"/>
              <a:t>each doctor's chosen support mode</a:t>
            </a:r>
            <a:r>
              <a:rPr lang="en-IN" sz="2000" dirty="0"/>
              <a:t> and to the clinical situation, via an </a:t>
            </a:r>
            <a:r>
              <a:rPr lang="en-IN" sz="2000" dirty="0" b="1"/>
              <a:t>Adaptive Analysis Routing layer</a:t>
            </a:r>
            <a:r>
              <a:rPr lang="en-IN" sz="2000" dirty="0"/>
              <a:t>.</a:t>
            </a:r>
          </a:p>
          <a:p>
            <a:pPr lvl="0"/>
            <a:r>
              <a:rPr lang="en-IN" sz="2000" dirty="0" b="1"/>
              <a:t>Quality Gate</a:t>
            </a:r>
            <a:r>
              <a:rPr lang="en-IN" sz="2000" dirty="0"/>
              <a:t> – 7 checks; poor or incomplete scans go to a human, with no findings.</a:t>
            </a:r>
          </a:p>
          <a:p>
            <a:pPr lvl="0"/>
            <a:r>
              <a:rPr lang="en-IN" sz="2000" dirty="0" b="1"/>
              <a:t>Adaptive Router</a:t>
            </a:r>
            <a:r>
              <a:rPr lang="en-IN" sz="2000" dirty="0"/>
              <a:t> – fast screen, then only the needed specialists; normal scans exit early.</a:t>
            </a:r>
          </a:p>
          <a:p>
            <a:pPr lvl="0"/>
            <a:r>
              <a:rPr lang="en-IN" sz="2000" dirty="0" b="1"/>
              <a:t>Deep Learning</a:t>
            </a:r>
            <a:r>
              <a:rPr lang="en-IN" sz="2000" dirty="0"/>
              <a:t> – DenseNet-121 classifier + PSPNet lung / heart segmentation.</a:t>
            </a:r>
          </a:p>
          <a:p>
            <a:pPr lvl="0"/>
            <a:r>
              <a:rPr lang="en-IN" sz="2000" dirty="0" b="1"/>
              <a:t>Confidence Engine</a:t>
            </a:r>
            <a:r>
              <a:rPr lang="en-IN" sz="2000" dirty="0"/>
              <a:t> – stability, agreement, quality; abstains when unsure.</a:t>
            </a:r>
          </a:p>
          <a:p>
            <a:pPr lvl="0"/>
            <a:r>
              <a:rPr lang="en-IN" sz="2000" dirty="0" b="1"/>
              <a:t>Doctor-chosen Modes</a:t>
            </a:r>
            <a:r>
              <a:rPr lang="en-IN" sz="2000" dirty="0"/>
              <a:t> – Guided · Concise · Second opinion · Evidence-first.</a:t>
            </a:r>
          </a:p>
          <a:p>
            <a:pPr lvl="0"/>
            <a:r>
              <a:rPr lang="en-IN" sz="2000" dirty="0" b="1"/>
              <a:t>Generative AI + RAG</a:t>
            </a:r>
            <a:r>
              <a:rPr lang="en-IN" sz="2000" dirty="0"/>
              <a:t> – cited evidence and a fact-checked draft report.</a:t>
            </a:r>
          </a:p>
          <a:p>
            <a:pPr lvl="0"/>
            <a:r>
              <a:rPr lang="en-IN" sz="2000" dirty="0" b="1"/>
              <a:t>Recommendations</a:t>
            </a:r>
            <a:r>
              <a:rPr lang="en-IN" sz="2000" dirty="0"/>
              <a:t> – urgency, next test, follow-up; patterns across findings.</a:t>
            </a:r>
          </a:p>
          <a:p>
            <a:pPr lvl="0"/>
            <a:r>
              <a:rPr lang="en-IN" sz="2000" dirty="0" b="1"/>
              <a:t>Learns from Doctors (ML)</a:t>
            </a:r>
            <a:r>
              <a:rPr lang="en-IN" sz="2000" dirty="0"/>
              <a:t> – model retrained on Accept / Correct / Reject.</a:t>
            </a:r>
          </a:p>
          <a:p>
            <a:pPr lvl="0"/>
            <a:r>
              <a:rPr lang="en-IN" sz="2000" dirty="0" b="1"/>
              <a:t>Trust &amp; Safety</a:t>
            </a:r>
            <a:r>
              <a:rPr lang="en-IN" sz="2000" dirty="0"/>
              <a:t> – audit chain, privacy, bias reduction, Doctor + AI testing.</a:t>
            </a:r>
          </a:p>
        </p:txBody>
      </p:sp>
      <p:pic>
        <p:nvPicPr>
          <p:cNvPr id="5" name="Picture 4">
            <a:extLst>
              <a:ext uri="{FF2B5EF4-FFF2-40B4-BE49-F238E27FC236}">
                <a16:creationId xmlns:a16="http://schemas.microsoft.com/office/drawing/2014/main" id="{82B73C1F-9563-1280-FE2D-53B03B00978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37301" y="243840"/>
            <a:ext cx="1790699" cy="488373"/>
          </a:xfrm>
          <a:prstGeom prst="rect">
            <a:avLst/>
          </a:prstGeom>
        </p:spPr>
      </p:pic>
    </p:spTree>
    <p:extLst>
      <p:ext uri="{BB962C8B-B14F-4D97-AF65-F5344CB8AC3E}">
        <p14:creationId xmlns:p14="http://schemas.microsoft.com/office/powerpoint/2010/main" val="1949157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F2643-D9C1-CABC-75D7-3D21F193A8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8CAB2C-C3FA-C909-F2FE-13898A09005B}"/>
              </a:ext>
            </a:extLst>
          </p:cNvPr>
          <p:cNvSpPr>
            <a:spLocks noGrp="1"/>
          </p:cNvSpPr>
          <p:nvPr>
            <p:ph type="title"/>
          </p:nvPr>
        </p:nvSpPr>
        <p:spPr/>
        <p:txBody>
          <a:bodyPr/>
          <a:lstStyle/>
          <a:p>
            <a:r>
              <a:rPr lang="en-IN"/>
              <a:t>Pros and Cons of the solution</a:t>
            </a:r>
            <a:endParaRPr lang="en-US" dirty="0"/>
          </a:p>
        </p:txBody>
      </p:sp>
      <p:pic>
        <p:nvPicPr>
          <p:cNvPr id="4" name="Picture 3">
            <a:extLst>
              <a:ext uri="{FF2B5EF4-FFF2-40B4-BE49-F238E27FC236}">
                <a16:creationId xmlns:a16="http://schemas.microsoft.com/office/drawing/2014/main" id="{B6F45893-6EEE-0FE0-F4AB-D5A244DB152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37301" y="243840"/>
            <a:ext cx="1790699" cy="488373"/>
          </a:xfrm>
          <a:prstGeom prst="rect">
            <a:avLst/>
          </a:prstGeom>
        </p:spPr>
      </p:pic>
      <p:sp>
        <p:nvSpPr>
          <p:cNvPr id="5" name="Rectangle: Rounded Corners 4">
            <a:extLst>
              <a:ext uri="{FF2B5EF4-FFF2-40B4-BE49-F238E27FC236}">
                <a16:creationId xmlns:a16="http://schemas.microsoft.com/office/drawing/2014/main" id="{EDB806C1-7E08-A12F-A891-3778E46E34A5}"/>
              </a:ext>
            </a:extLst>
          </p:cNvPr>
          <p:cNvSpPr/>
          <p:nvPr/>
        </p:nvSpPr>
        <p:spPr>
          <a:xfrm>
            <a:off x="499379" y="1150374"/>
            <a:ext cx="5242660" cy="546378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D3A5FE71-ECD9-6916-98DF-078FCAB94A8F}"/>
              </a:ext>
            </a:extLst>
          </p:cNvPr>
          <p:cNvSpPr/>
          <p:nvPr/>
        </p:nvSpPr>
        <p:spPr>
          <a:xfrm>
            <a:off x="6297561" y="1150374"/>
            <a:ext cx="5242660" cy="546378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9" name="TextBox 8">
            <a:extLst>
              <a:ext uri="{FF2B5EF4-FFF2-40B4-BE49-F238E27FC236}">
                <a16:creationId xmlns:a16="http://schemas.microsoft.com/office/drawing/2014/main" id="{B584762A-D116-1D08-99DD-596A700F4EB6}"/>
              </a:ext>
            </a:extLst>
          </p:cNvPr>
          <p:cNvSpPr txBox="1"/>
          <p:nvPr/>
        </p:nvSpPr>
        <p:spPr>
          <a:xfrm>
            <a:off x="651779" y="1681664"/>
            <a:ext cx="5090260" cy="5016758"/>
          </a:xfrm>
          <a:prstGeom prst="rect">
            <a:avLst/>
          </a:prstGeom>
          <a:noFill/>
        </p:spPr>
        <p:txBody>
          <a:bodyPr wrap="square" rtlCol="0">
            <a:spAutoFit/>
          </a:bodyPr>
          <a:lstStyle/>
          <a:p>
            <a:pPr lvl="0" algn="ctr"/>
            <a:r>
              <a:rPr lang="en-IN" sz="2000" dirty="0" b="1">
                <a:latin typeface="Calibri" panose="020F0502020204030204" pitchFamily="34" charset="0"/>
                <a:ea typeface="Calibri" panose="020F0502020204030204" pitchFamily="34" charset="0"/>
                <a:cs typeface="Calibri" panose="020F0502020204030204" pitchFamily="34" charset="0"/>
              </a:rPr>
              <a:t>ADVANTAGES</a:t>
            </a:r>
          </a:p>
          <a:p>
            <a:pPr lvl="0" algn="ctr"/>
            <a:r>
              <a:rPr lang="en-IN" sz="1600" dirty="0">
                <a:latin typeface="Calibri" panose="020F0502020204030204" pitchFamily="34" charset="0"/>
                <a:ea typeface="Calibri" panose="020F0502020204030204" pitchFamily="34" charset="0"/>
                <a:cs typeface="Calibri" panose="020F0502020204030204" pitchFamily="34" charset="0"/>
              </a:rPr>
              <a:t/>
            </a:r>
          </a:p>
          <a:p>
            <a:pPr lvl="0"/>
            <a:r>
              <a:rPr lang="en-IN" sz="1600" dirty="0" b="1"/>
              <a:t>Adapts to the Doctor</a:t>
            </a:r>
            <a:r>
              <a:rPr lang="en-IN" sz="1600" dirty="0"/>
              <a:t> – doctor-chosen modes, never assumed from seniority.</a:t>
            </a:r>
          </a:p>
          <a:p>
            <a:pPr lvl="0"/>
            <a:r>
              <a:rPr lang="en-IN" sz="1600" dirty="0" b="1"/>
              <a:t>Adaptive Routing</a:t>
            </a:r>
            <a:r>
              <a:rPr lang="en-IN" sz="1600" dirty="0"/>
              <a:t> – 50% less time, 75% fewer modules on our benchmark.</a:t>
            </a:r>
          </a:p>
          <a:p>
            <a:pPr lvl="0"/>
            <a:r>
              <a:rPr lang="en-IN" sz="1600" dirty="0" b="1"/>
              <a:t>Explainable</a:t>
            </a:r>
            <a:r>
              <a:rPr lang="en-IN" sz="1600" dirty="0"/>
              <a:t> – heatmap, why it matters, cited evidence, draft report.</a:t>
            </a:r>
          </a:p>
          <a:p>
            <a:pPr lvl="0"/>
            <a:r>
              <a:rPr lang="en-IN" sz="1600" dirty="0" b="1"/>
              <a:t>Honest Uncertainty</a:t>
            </a:r>
            <a:r>
              <a:rPr lang="en-IN" sz="1600" dirty="0"/>
              <a:t> – confidence per finding; abstains instead of guessing.</a:t>
            </a:r>
          </a:p>
          <a:p>
            <a:pPr lvl="0"/>
            <a:r>
              <a:rPr lang="en-IN" sz="1600" dirty="0" b="1"/>
              <a:t>Doctor in Control</a:t>
            </a:r>
            <a:r>
              <a:rPr lang="en-IN" sz="1600" dirty="0"/>
              <a:t> – AI suggests; the doctor decides and signs.</a:t>
            </a:r>
          </a:p>
          <a:p>
            <a:pPr lvl="0"/>
            <a:r>
              <a:rPr lang="en-IN" sz="1600" dirty="0" b="1"/>
              <a:t>Traceable &amp; Fair</a:t>
            </a:r>
            <a:r>
              <a:rPr lang="en-IN" sz="1600" dirty="0"/>
              <a:t> – audit chain, de-identification, bias reduction.</a:t>
            </a:r>
          </a:p>
        </p:txBody>
      </p:sp>
      <p:sp>
        <p:nvSpPr>
          <p:cNvPr id="10" name="TextBox 9">
            <a:extLst>
              <a:ext uri="{FF2B5EF4-FFF2-40B4-BE49-F238E27FC236}">
                <a16:creationId xmlns:a16="http://schemas.microsoft.com/office/drawing/2014/main" id="{6CD28014-BB52-DF2A-1729-5203702B8281}"/>
              </a:ext>
            </a:extLst>
          </p:cNvPr>
          <p:cNvSpPr txBox="1"/>
          <p:nvPr/>
        </p:nvSpPr>
        <p:spPr>
          <a:xfrm>
            <a:off x="6396917" y="1681663"/>
            <a:ext cx="5043947" cy="4401205"/>
          </a:xfrm>
          <a:prstGeom prst="rect">
            <a:avLst/>
          </a:prstGeom>
          <a:noFill/>
        </p:spPr>
        <p:txBody>
          <a:bodyPr wrap="square" rtlCol="0">
            <a:spAutoFit/>
          </a:bodyPr>
          <a:lstStyle/>
          <a:p>
            <a:pPr algn="ctr"/>
            <a:r>
              <a:rPr lang="en-IN" sz="2000" dirty="0" b="1">
                <a:latin typeface="Calibri" panose="020F0502020204030204" pitchFamily="34" charset="0"/>
                <a:ea typeface="Calibri" panose="020F0502020204030204" pitchFamily="34" charset="0"/>
                <a:cs typeface="Calibri" panose="020F0502020204030204" pitchFamily="34" charset="0"/>
              </a:rPr>
              <a:t>LIMITATIONS</a:t>
            </a:r>
          </a:p>
          <a:p>
            <a:r>
              <a:rPr lang="en-IN" sz="1600" dirty="0">
                <a:latin typeface="Calibri" panose="020F0502020204030204" pitchFamily="34" charset="0"/>
                <a:ea typeface="Calibri" panose="020F0502020204030204" pitchFamily="34" charset="0"/>
                <a:cs typeface="Calibri" panose="020F0502020204030204" pitchFamily="34" charset="0"/>
              </a:rPr>
              <a:t/>
            </a:r>
          </a:p>
          <a:p>
            <a:pPr lvl="0"/>
            <a:r>
              <a:rPr lang="en-IN" sz="1600" dirty="0" b="1"/>
              <a:t>Data Dependent</a:t>
            </a:r>
            <a:r>
              <a:rPr lang="en-IN" sz="1600" dirty="0"/>
              <a:t> – real-image check: sensitivity 0.80, specificity 0.44 (50 films).</a:t>
            </a:r>
          </a:p>
          <a:p>
            <a:pPr lvl="0"/>
            <a:r>
              <a:rPr lang="en-IN" sz="1600" dirty="0" b="1"/>
              <a:t>False Results</a:t>
            </a:r>
            <a:r>
              <a:rPr lang="en-IN" sz="1600" dirty="0"/>
              <a:t> – false positives (e.g. vessels as nodules) still occur.</a:t>
            </a:r>
          </a:p>
          <a:p>
            <a:pPr lvl="0"/>
            <a:r>
              <a:rPr lang="en-IN" sz="1600" dirty="0" b="1"/>
              <a:t>Generalization</a:t>
            </a:r>
            <a:r>
              <a:rPr lang="en-IN" sz="1600" dirty="0"/>
              <a:t> – performance may vary across hospitals and devices.</a:t>
            </a:r>
          </a:p>
          <a:p>
            <a:pPr lvl="0"/>
            <a:r>
              <a:rPr lang="en-IN" sz="1600" dirty="0" b="1"/>
              <a:t>Routing Complexity</a:t>
            </a:r>
            <a:r>
              <a:rPr lang="en-IN" sz="1600" dirty="0"/>
              <a:t> – thresholds must be tuned per clinical context.</a:t>
            </a:r>
          </a:p>
          <a:p>
            <a:pPr lvl="0"/>
            <a:r>
              <a:rPr lang="en-IN" sz="1600" dirty="0" b="1"/>
              <a:t>Hallucination Risk</a:t>
            </a:r>
            <a:r>
              <a:rPr lang="en-IN" sz="1600" dirty="0"/>
              <a:t> – LLM text is fact-checked, but still needs review.</a:t>
            </a:r>
          </a:p>
          <a:p>
            <a:pPr lvl="0"/>
            <a:r>
              <a:rPr lang="en-IN" sz="1600" dirty="0" b="1"/>
              <a:t>Clinical Validation</a:t>
            </a:r>
            <a:r>
              <a:rPr lang="en-IN" sz="1600" dirty="0"/>
              <a:t> – a radiologist reader study is still required.</a:t>
            </a:r>
          </a:p>
        </p:txBody>
      </p:sp>
    </p:spTree>
    <p:extLst>
      <p:ext uri="{BB962C8B-B14F-4D97-AF65-F5344CB8AC3E}">
        <p14:creationId xmlns:p14="http://schemas.microsoft.com/office/powerpoint/2010/main" val="3730457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9BA6A-09CC-0731-361B-6ADB738C07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6DE32B-6BB2-05B2-AD9D-EFF630252D04}"/>
              </a:ext>
            </a:extLst>
          </p:cNvPr>
          <p:cNvSpPr>
            <a:spLocks noGrp="1"/>
          </p:cNvSpPr>
          <p:nvPr>
            <p:ph type="title"/>
          </p:nvPr>
        </p:nvSpPr>
        <p:spPr/>
        <p:txBody>
          <a:bodyPr/>
          <a:lstStyle/>
          <a:p>
            <a:r>
              <a:rPr lang="en-IN" dirty="0"/>
              <a:t>Technical Description</a:t>
            </a:r>
            <a:endParaRPr lang="en-US" dirty="0"/>
          </a:p>
        </p:txBody>
      </p:sp>
      <p:pic>
        <p:nvPicPr>
          <p:cNvPr id="4" name="Picture 3">
            <a:extLst>
              <a:ext uri="{FF2B5EF4-FFF2-40B4-BE49-F238E27FC236}">
                <a16:creationId xmlns:a16="http://schemas.microsoft.com/office/drawing/2014/main" id="{4BC7C73E-5C60-6F4F-0D03-B5D5DD07E0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37301" y="243840"/>
            <a:ext cx="1790699" cy="488373"/>
          </a:xfrm>
          <a:prstGeom prst="rect">
            <a:avLst/>
          </a:prstGeom>
        </p:spPr>
      </p:pic>
      <p:sp>
        <p:nvSpPr>
          <p:cNvPr id="5" name="Stage 1"/>
          <p:cNvSpPr/>
          <p:nvPr/>
        </p:nvSpPr>
        <p:spPr>
          <a:xfrm>
            <a:off x="502920" y="1188720"/>
            <a:ext cx="1874519" cy="603504"/>
          </a:xfrm>
          <a:prstGeom prst="roundRect">
            <a:avLst>
              <a:gd name="adj" fmla="val 12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a:solidFill>
                  <a:srgbClr val="FFFFFF"/>
                </a:solidFill>
              </a:rPr>
              <a:t>1. Preprocess</a:t>
            </a:r>
          </a:p>
        </p:txBody>
      </p:sp>
      <p:sp>
        <p:nvSpPr>
          <p:cNvPr id="6" name="Stage 1 text"/>
          <p:cNvSpPr/>
          <p:nvPr/>
        </p:nvSpPr>
        <p:spPr>
          <a:xfrm>
            <a:off x="2468880" y="1188720"/>
            <a:ext cx="48463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l"/>
            <a:r>
              <a:rPr sz="1300" b="0">
                <a:solidFill>
                  <a:srgbClr val="0E2841"/>
                </a:solidFill>
              </a:rPr>
              <a:t>Load PNG / DICOM, strip identifiers, find the lungs</a:t>
            </a:r>
          </a:p>
        </p:txBody>
      </p:sp>
      <p:sp>
        <p:nvSpPr>
          <p:cNvPr id="7" name="Stage 2"/>
          <p:cNvSpPr/>
          <p:nvPr/>
        </p:nvSpPr>
        <p:spPr>
          <a:xfrm>
            <a:off x="502920" y="1856232"/>
            <a:ext cx="1874519" cy="603504"/>
          </a:xfrm>
          <a:prstGeom prst="roundRect">
            <a:avLst>
              <a:gd name="adj" fmla="val 12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a:solidFill>
                  <a:srgbClr val="FFFFFF"/>
                </a:solidFill>
              </a:rPr>
              <a:t>2. Quality Gate</a:t>
            </a:r>
          </a:p>
        </p:txBody>
      </p:sp>
      <p:sp>
        <p:nvSpPr>
          <p:cNvPr id="8" name="Stage 2 text"/>
          <p:cNvSpPr/>
          <p:nvPr/>
        </p:nvSpPr>
        <p:spPr>
          <a:xfrm>
            <a:off x="2468880" y="1856232"/>
            <a:ext cx="48463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l"/>
            <a:r>
              <a:rPr sz="1300" b="0">
                <a:solidFill>
                  <a:srgbClr val="0E2841"/>
                </a:solidFill>
              </a:rPr>
              <a:t>Blur, contrast, exposure, coverage – fail → human review</a:t>
            </a:r>
          </a:p>
        </p:txBody>
      </p:sp>
      <p:sp>
        <p:nvSpPr>
          <p:cNvPr id="9" name="Stage 3"/>
          <p:cNvSpPr/>
          <p:nvPr/>
        </p:nvSpPr>
        <p:spPr>
          <a:xfrm>
            <a:off x="502920" y="2523744"/>
            <a:ext cx="1874519" cy="603504"/>
          </a:xfrm>
          <a:prstGeom prst="roundRect">
            <a:avLst>
              <a:gd name="adj" fmla="val 12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a:solidFill>
                  <a:srgbClr val="FFFFFF"/>
                </a:solidFill>
              </a:rPr>
              <a:t>3. Fast Screen</a:t>
            </a:r>
          </a:p>
        </p:txBody>
      </p:sp>
      <p:sp>
        <p:nvSpPr>
          <p:cNvPr id="10" name="Stage 3 text"/>
          <p:cNvSpPr/>
          <p:nvPr/>
        </p:nvSpPr>
        <p:spPr>
          <a:xfrm>
            <a:off x="2468880" y="2523744"/>
            <a:ext cx="48463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l"/>
            <a:r>
              <a:rPr sz="1300" b="0">
                <a:solidFill>
                  <a:srgbClr val="0E2841"/>
                </a:solidFill>
              </a:rPr>
              <a:t>Measurements + DenseNet-121 → 4 group scores</a:t>
            </a:r>
          </a:p>
        </p:txBody>
      </p:sp>
      <p:sp>
        <p:nvSpPr>
          <p:cNvPr id="11" name="Stage 4"/>
          <p:cNvSpPr/>
          <p:nvPr/>
        </p:nvSpPr>
        <p:spPr>
          <a:xfrm>
            <a:off x="502920" y="3191256"/>
            <a:ext cx="1874519" cy="603504"/>
          </a:xfrm>
          <a:prstGeom prst="roundRect">
            <a:avLst>
              <a:gd name="adj" fmla="val 12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a:solidFill>
                  <a:srgbClr val="FFFFFF"/>
                </a:solidFill>
              </a:rPr>
              <a:t>4. Adaptive Router</a:t>
            </a:r>
          </a:p>
        </p:txBody>
      </p:sp>
      <p:sp>
        <p:nvSpPr>
          <p:cNvPr id="12" name="Stage 4 text"/>
          <p:cNvSpPr/>
          <p:nvPr/>
        </p:nvSpPr>
        <p:spPr>
          <a:xfrm>
            <a:off x="2468880" y="3191256"/>
            <a:ext cx="48463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l"/>
            <a:r>
              <a:rPr sz="1300" b="0">
                <a:solidFill>
                  <a:srgbClr val="0E2841"/>
                </a:solidFill>
              </a:rPr>
              <a:t>Context thresholds, early exit, borderline band</a:t>
            </a:r>
          </a:p>
        </p:txBody>
      </p:sp>
      <p:sp>
        <p:nvSpPr>
          <p:cNvPr id="13" name="Stage 5"/>
          <p:cNvSpPr/>
          <p:nvPr/>
        </p:nvSpPr>
        <p:spPr>
          <a:xfrm>
            <a:off x="502920" y="3858768"/>
            <a:ext cx="1874519" cy="603504"/>
          </a:xfrm>
          <a:prstGeom prst="roundRect">
            <a:avLst>
              <a:gd name="adj" fmla="val 12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a:solidFill>
                  <a:srgbClr val="FFFFFF"/>
                </a:solidFill>
              </a:rPr>
              <a:t>5. Specialists</a:t>
            </a:r>
          </a:p>
        </p:txBody>
      </p:sp>
      <p:sp>
        <p:nvSpPr>
          <p:cNvPr id="14" name="Stage 5 text"/>
          <p:cNvSpPr/>
          <p:nvPr/>
        </p:nvSpPr>
        <p:spPr>
          <a:xfrm>
            <a:off x="2468880" y="3858768"/>
            <a:ext cx="48463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l"/>
            <a:r>
              <a:rPr sz="1300" b="0">
                <a:solidFill>
                  <a:srgbClr val="0E2841"/>
                </a:solidFill>
              </a:rPr>
              <a:t>Cardiac · Pleural · Parenchyma · Nodule (+ Grad-CAM)</a:t>
            </a:r>
          </a:p>
        </p:txBody>
      </p:sp>
      <p:sp>
        <p:nvSpPr>
          <p:cNvPr id="15" name="Stage 6"/>
          <p:cNvSpPr/>
          <p:nvPr/>
        </p:nvSpPr>
        <p:spPr>
          <a:xfrm>
            <a:off x="502920" y="4526280"/>
            <a:ext cx="1874519" cy="603504"/>
          </a:xfrm>
          <a:prstGeom prst="roundRect">
            <a:avLst>
              <a:gd name="adj" fmla="val 12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a:solidFill>
                  <a:srgbClr val="FFFFFF"/>
                </a:solidFill>
              </a:rPr>
              <a:t>6. Confidence</a:t>
            </a:r>
          </a:p>
        </p:txBody>
      </p:sp>
      <p:sp>
        <p:nvSpPr>
          <p:cNvPr id="16" name="Stage 6 text"/>
          <p:cNvSpPr/>
          <p:nvPr/>
        </p:nvSpPr>
        <p:spPr>
          <a:xfrm>
            <a:off x="2468880" y="4526280"/>
            <a:ext cx="48463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l"/>
            <a:r>
              <a:rPr sz="1300" b="0">
                <a:solidFill>
                  <a:srgbClr val="0E2841"/>
                </a:solidFill>
              </a:rPr>
              <a:t>TTA stability · agreement · quality · abstain</a:t>
            </a:r>
          </a:p>
        </p:txBody>
      </p:sp>
      <p:sp>
        <p:nvSpPr>
          <p:cNvPr id="17" name="Stage 7"/>
          <p:cNvSpPr/>
          <p:nvPr/>
        </p:nvSpPr>
        <p:spPr>
          <a:xfrm>
            <a:off x="502920" y="5193792"/>
            <a:ext cx="1874519" cy="603504"/>
          </a:xfrm>
          <a:prstGeom prst="roundRect">
            <a:avLst>
              <a:gd name="adj" fmla="val 12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a:solidFill>
                  <a:srgbClr val="FFFFFF"/>
                </a:solidFill>
              </a:rPr>
              <a:t>7. Explain (RAG)</a:t>
            </a:r>
          </a:p>
        </p:txBody>
      </p:sp>
      <p:sp>
        <p:nvSpPr>
          <p:cNvPr id="18" name="Stage 7 text"/>
          <p:cNvSpPr/>
          <p:nvPr/>
        </p:nvSpPr>
        <p:spPr>
          <a:xfrm>
            <a:off x="2468880" y="5193792"/>
            <a:ext cx="48463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l"/>
            <a:r>
              <a:rPr sz="1300" b="0">
                <a:solidFill>
                  <a:srgbClr val="0E2841"/>
                </a:solidFill>
              </a:rPr>
              <a:t>Brief / standard / detailed + guideline citations</a:t>
            </a:r>
          </a:p>
        </p:txBody>
      </p:sp>
      <p:sp>
        <p:nvSpPr>
          <p:cNvPr id="19" name="Stage 8"/>
          <p:cNvSpPr/>
          <p:nvPr/>
        </p:nvSpPr>
        <p:spPr>
          <a:xfrm>
            <a:off x="502920" y="5861303"/>
            <a:ext cx="1874519" cy="603504"/>
          </a:xfrm>
          <a:prstGeom prst="roundRect">
            <a:avLst>
              <a:gd name="adj" fmla="val 12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a:solidFill>
                  <a:srgbClr val="FFFFFF"/>
                </a:solidFill>
              </a:rPr>
              <a:t>8. Doctor &amp; Audit</a:t>
            </a:r>
          </a:p>
        </p:txBody>
      </p:sp>
      <p:sp>
        <p:nvSpPr>
          <p:cNvPr id="20" name="Stage 8 text"/>
          <p:cNvSpPr/>
          <p:nvPr/>
        </p:nvSpPr>
        <p:spPr>
          <a:xfrm>
            <a:off x="2468880" y="5861303"/>
            <a:ext cx="48463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l"/>
            <a:r>
              <a:rPr sz="1300" b="0">
                <a:solidFill>
                  <a:srgbClr val="0E2841"/>
                </a:solidFill>
              </a:rPr>
              <a:t>Accept / Correct / Reject / Question → hash chain</a:t>
            </a:r>
          </a:p>
        </p:txBody>
      </p:sp>
      <p:sp>
        <p:nvSpPr>
          <p:cNvPr id="21" name="Stack heading"/>
          <p:cNvSpPr/>
          <p:nvPr/>
        </p:nvSpPr>
        <p:spPr>
          <a:xfrm>
            <a:off x="7726679" y="1188720"/>
            <a:ext cx="3977639"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400" b="1">
                <a:solidFill>
                  <a:srgbClr val="0E2841"/>
                </a:solidFill>
              </a:rPr>
              <a:t>TECH STACK</a:t>
            </a:r>
          </a:p>
        </p:txBody>
      </p:sp>
      <p:sp>
        <p:nvSpPr>
          <p:cNvPr id="22" name="Stack Desktop UI"/>
          <p:cNvSpPr/>
          <p:nvPr/>
        </p:nvSpPr>
        <p:spPr>
          <a:xfrm>
            <a:off x="7726679" y="1691640"/>
            <a:ext cx="1938528" cy="1097280"/>
          </a:xfrm>
          <a:prstGeom prst="roundRect">
            <a:avLst>
              <a:gd name="adj" fmla="val 12000"/>
            </a:avLst>
          </a:prstGeom>
          <a:solidFill>
            <a:srgbClr val="E8F1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a:solidFill>
                  <a:srgbClr val="0E2841"/>
                </a:solidFill>
              </a:rPr>
              <a:t>Desktop UI</a:t>
            </a:r>
          </a:p>
          <a:p>
            <a:pPr algn="ctr"/>
            <a:r>
              <a:rPr sz="1200" b="0">
                <a:solidFill>
                  <a:srgbClr val="0E2841"/>
                </a:solidFill>
              </a:rPr>
              <a:t>PyQt6</a:t>
            </a:r>
          </a:p>
        </p:txBody>
      </p:sp>
      <p:sp>
        <p:nvSpPr>
          <p:cNvPr id="23" name="Stack Imaging"/>
          <p:cNvSpPr/>
          <p:nvPr/>
        </p:nvSpPr>
        <p:spPr>
          <a:xfrm>
            <a:off x="9756648" y="1691640"/>
            <a:ext cx="1938528" cy="1097280"/>
          </a:xfrm>
          <a:prstGeom prst="roundRect">
            <a:avLst>
              <a:gd name="adj" fmla="val 12000"/>
            </a:avLst>
          </a:prstGeom>
          <a:solidFill>
            <a:srgbClr val="E8F1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a:solidFill>
                  <a:srgbClr val="0E2841"/>
                </a:solidFill>
              </a:rPr>
              <a:t>Imaging</a:t>
            </a:r>
          </a:p>
          <a:p>
            <a:pPr algn="ctr"/>
            <a:r>
              <a:rPr sz="1200" b="0">
                <a:solidFill>
                  <a:srgbClr val="0E2841"/>
                </a:solidFill>
              </a:rPr>
              <a:t>NumPy · SciPy · OpenCV</a:t>
            </a:r>
          </a:p>
        </p:txBody>
      </p:sp>
      <p:sp>
        <p:nvSpPr>
          <p:cNvPr id="24" name="Stack DICOM"/>
          <p:cNvSpPr/>
          <p:nvPr/>
        </p:nvSpPr>
        <p:spPr>
          <a:xfrm>
            <a:off x="7726679" y="2898648"/>
            <a:ext cx="1938528" cy="1097280"/>
          </a:xfrm>
          <a:prstGeom prst="roundRect">
            <a:avLst>
              <a:gd name="adj" fmla="val 12000"/>
            </a:avLst>
          </a:prstGeom>
          <a:solidFill>
            <a:srgbClr val="E8F1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a:solidFill>
                  <a:srgbClr val="0E2841"/>
                </a:solidFill>
              </a:rPr>
              <a:t>DICOM</a:t>
            </a:r>
          </a:p>
          <a:p>
            <a:pPr algn="ctr"/>
            <a:r>
              <a:rPr sz="1200" b="0">
                <a:solidFill>
                  <a:srgbClr val="0E2841"/>
                </a:solidFill>
              </a:rPr>
              <a:t>pydicom (de-identification)</a:t>
            </a:r>
          </a:p>
        </p:txBody>
      </p:sp>
      <p:sp>
        <p:nvSpPr>
          <p:cNvPr id="25" name="Stack Deep model"/>
          <p:cNvSpPr/>
          <p:nvPr/>
        </p:nvSpPr>
        <p:spPr>
          <a:xfrm>
            <a:off x="9756648" y="2898648"/>
            <a:ext cx="1938528" cy="1097280"/>
          </a:xfrm>
          <a:prstGeom prst="roundRect">
            <a:avLst>
              <a:gd name="adj" fmla="val 12000"/>
            </a:avLst>
          </a:prstGeom>
          <a:solidFill>
            <a:srgbClr val="E8F1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a:solidFill>
                  <a:srgbClr val="0E2841"/>
                </a:solidFill>
              </a:rPr>
              <a:t>Deep model</a:t>
            </a:r>
          </a:p>
          <a:p>
            <a:pPr algn="ctr"/>
            <a:r>
              <a:rPr sz="1200" b="0">
                <a:solidFill>
                  <a:srgbClr val="0E2841"/>
                </a:solidFill>
              </a:rPr>
              <a:t>PyTorch · TorchXRayVision</a:t>
            </a:r>
          </a:p>
        </p:txBody>
      </p:sp>
      <p:sp>
        <p:nvSpPr>
          <p:cNvPr id="26" name="Stack Classifier"/>
          <p:cNvSpPr/>
          <p:nvPr/>
        </p:nvSpPr>
        <p:spPr>
          <a:xfrm>
            <a:off x="7726679" y="4105656"/>
            <a:ext cx="1938528" cy="1097280"/>
          </a:xfrm>
          <a:prstGeom prst="roundRect">
            <a:avLst>
              <a:gd name="adj" fmla="val 12000"/>
            </a:avLst>
          </a:prstGeom>
          <a:solidFill>
            <a:srgbClr val="E8F1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a:solidFill>
                  <a:srgbClr val="0E2841"/>
                </a:solidFill>
              </a:rPr>
              <a:t>Classifier</a:t>
            </a:r>
          </a:p>
          <a:p>
            <a:pPr algn="ctr"/>
            <a:r>
              <a:rPr sz="1200" b="0">
                <a:solidFill>
                  <a:srgbClr val="0E2841"/>
                </a:solidFill>
              </a:rPr>
              <a:t>DenseNet-121 + Grad-CAM</a:t>
            </a:r>
          </a:p>
        </p:txBody>
      </p:sp>
      <p:sp>
        <p:nvSpPr>
          <p:cNvPr id="27" name="Stack Medical RAG"/>
          <p:cNvSpPr/>
          <p:nvPr/>
        </p:nvSpPr>
        <p:spPr>
          <a:xfrm>
            <a:off x="9756648" y="4105656"/>
            <a:ext cx="1938528" cy="1097280"/>
          </a:xfrm>
          <a:prstGeom prst="roundRect">
            <a:avLst>
              <a:gd name="adj" fmla="val 12000"/>
            </a:avLst>
          </a:prstGeom>
          <a:solidFill>
            <a:srgbClr val="E8F1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a:solidFill>
                  <a:srgbClr val="0E2841"/>
                </a:solidFill>
              </a:rPr>
              <a:t>Medical RAG</a:t>
            </a:r>
          </a:p>
          <a:p>
            <a:pPr algn="ctr"/>
            <a:r>
              <a:rPr sz="1200" b="0">
                <a:solidFill>
                  <a:srgbClr val="0E2841"/>
                </a:solidFill>
              </a:rPr>
              <a:t>BM25 over cited guidelines</a:t>
            </a:r>
          </a:p>
        </p:txBody>
      </p:sp>
      <p:sp>
        <p:nvSpPr>
          <p:cNvPr id="28" name="Stack LLM (optional)"/>
          <p:cNvSpPr/>
          <p:nvPr/>
        </p:nvSpPr>
        <p:spPr>
          <a:xfrm>
            <a:off x="7726679" y="5312664"/>
            <a:ext cx="1938528" cy="1097280"/>
          </a:xfrm>
          <a:prstGeom prst="roundRect">
            <a:avLst>
              <a:gd name="adj" fmla="val 12000"/>
            </a:avLst>
          </a:prstGeom>
          <a:solidFill>
            <a:srgbClr val="E8F1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a:solidFill>
                  <a:srgbClr val="0E2841"/>
                </a:solidFill>
              </a:rPr>
              <a:t>LLM (optional)</a:t>
            </a:r>
          </a:p>
          <a:p>
            <a:pPr algn="ctr"/>
            <a:r>
              <a:rPr sz="1200" b="0">
                <a:solidFill>
                  <a:srgbClr val="0E2841"/>
                </a:solidFill>
              </a:rPr>
              <a:t>Ollama, fact-checked</a:t>
            </a:r>
          </a:p>
        </p:txBody>
      </p:sp>
      <p:sp>
        <p:nvSpPr>
          <p:cNvPr id="29" name="Stack Storage"/>
          <p:cNvSpPr/>
          <p:nvPr/>
        </p:nvSpPr>
        <p:spPr>
          <a:xfrm>
            <a:off x="9756648" y="5312664"/>
            <a:ext cx="1938528" cy="1097280"/>
          </a:xfrm>
          <a:prstGeom prst="roundRect">
            <a:avLst>
              <a:gd name="adj" fmla="val 12000"/>
            </a:avLst>
          </a:prstGeom>
          <a:solidFill>
            <a:srgbClr val="E8F1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a:solidFill>
                  <a:srgbClr val="0E2841"/>
                </a:solidFill>
              </a:rPr>
              <a:t>Storage</a:t>
            </a:r>
          </a:p>
          <a:p>
            <a:pPr algn="ctr"/>
            <a:r>
              <a:rPr sz="1200" b="0">
                <a:solidFill>
                  <a:srgbClr val="0E2841"/>
                </a:solidFill>
              </a:rPr>
              <a:t>SQLite · SHA-256 audit</a:t>
            </a:r>
          </a:p>
        </p:txBody>
      </p:sp>
    </p:spTree>
    <p:extLst>
      <p:ext uri="{BB962C8B-B14F-4D97-AF65-F5344CB8AC3E}">
        <p14:creationId xmlns:p14="http://schemas.microsoft.com/office/powerpoint/2010/main" val="3872111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071F2-82E5-16F9-4CA8-1E0A96CE4B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3468CF-C729-EACD-6CBE-B12A19AD30D8}"/>
              </a:ext>
            </a:extLst>
          </p:cNvPr>
          <p:cNvSpPr>
            <a:spLocks noGrp="1"/>
          </p:cNvSpPr>
          <p:nvPr>
            <p:ph type="title"/>
          </p:nvPr>
        </p:nvSpPr>
        <p:spPr/>
        <p:txBody>
          <a:bodyPr/>
          <a:lstStyle/>
          <a:p>
            <a:r>
              <a:rPr lang="en-IN" dirty="0"/>
              <a:t>Implementation Plan</a:t>
            </a:r>
            <a:endParaRPr lang="en-US" dirty="0"/>
          </a:p>
        </p:txBody>
      </p:sp>
      <p:pic>
        <p:nvPicPr>
          <p:cNvPr id="4" name="Picture 3">
            <a:extLst>
              <a:ext uri="{FF2B5EF4-FFF2-40B4-BE49-F238E27FC236}">
                <a16:creationId xmlns:a16="http://schemas.microsoft.com/office/drawing/2014/main" id="{D7ABD342-F248-D351-F5ED-90B5C20D1C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37301" y="243840"/>
            <a:ext cx="1790699" cy="488373"/>
          </a:xfrm>
          <a:prstGeom prst="rect">
            <a:avLst/>
          </a:prstGeom>
        </p:spPr>
      </p:pic>
      <p:sp>
        <p:nvSpPr>
          <p:cNvPr id="5" name="Phase 1"/>
          <p:cNvSpPr/>
          <p:nvPr/>
        </p:nvSpPr>
        <p:spPr>
          <a:xfrm>
            <a:off x="502920" y="1188720"/>
            <a:ext cx="3566160" cy="22402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lstStyle/>
          <a:p>
            <a:pPr algn="l">
              <a:spcAft>
                <a:spcPts val="800"/>
              </a:spcAft>
            </a:pPr>
            <a:r>
              <a:rPr sz="1400" b="1">
                <a:solidFill>
                  <a:srgbClr val="FFFFFF"/>
                </a:solidFill>
              </a:rPr>
              <a:t>Phase 1 — Data Preparation ✓</a:t>
            </a:r>
          </a:p>
          <a:p>
            <a:pPr algn="l" marL="146304" indent="-128016">
              <a:spcAft>
                <a:spcPts val="400"/>
              </a:spcAft>
              <a:buChar char="•"/>
            </a:pPr>
            <a:r>
              <a:rPr sz="1400" b="0">
                <a:solidFill>
                  <a:srgbClr val="FFFFFF"/>
                </a:solidFill>
              </a:rPr>
              <a:t>Synthetic phantom set with ground truth</a:t>
            </a:r>
          </a:p>
          <a:p>
            <a:pPr algn="l" marL="146304" indent="-128016">
              <a:spcAft>
                <a:spcPts val="400"/>
              </a:spcAft>
              <a:buChar char="•"/>
            </a:pPr>
            <a:r>
              <a:rPr sz="1400" b="0">
                <a:solidFill>
                  <a:srgbClr val="FFFFFF"/>
                </a:solidFill>
              </a:rPr>
              <a:t>DICOM loading + de-identification</a:t>
            </a:r>
          </a:p>
          <a:p>
            <a:pPr algn="l" marL="146304" indent="-128016">
              <a:spcAft>
                <a:spcPts val="400"/>
              </a:spcAft>
              <a:buChar char="•"/>
            </a:pPr>
            <a:r>
              <a:rPr sz="1400" b="0">
                <a:solidFill>
                  <a:srgbClr val="FFFFFF"/>
                </a:solidFill>
              </a:rPr>
              <a:t>labels.csv loader for CheXpert / MIMIC</a:t>
            </a:r>
          </a:p>
        </p:txBody>
      </p:sp>
      <p:sp>
        <p:nvSpPr>
          <p:cNvPr id="6" name="Phase 2"/>
          <p:cNvSpPr/>
          <p:nvPr/>
        </p:nvSpPr>
        <p:spPr>
          <a:xfrm>
            <a:off x="4306824" y="1188720"/>
            <a:ext cx="3566160" cy="22402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lstStyle/>
          <a:p>
            <a:pPr algn="l">
              <a:spcAft>
                <a:spcPts val="800"/>
              </a:spcAft>
            </a:pPr>
            <a:r>
              <a:rPr sz="1400" b="1">
                <a:solidFill>
                  <a:srgbClr val="FFFFFF"/>
                </a:solidFill>
              </a:rPr>
              <a:t>Phase 2 — Initial AI Models ✓</a:t>
            </a:r>
          </a:p>
          <a:p>
            <a:pPr algn="l" marL="146304" indent="-128016">
              <a:spcAft>
                <a:spcPts val="400"/>
              </a:spcAft>
              <a:buChar char="•"/>
            </a:pPr>
            <a:r>
              <a:rPr sz="1400" b="0">
                <a:solidFill>
                  <a:srgbClr val="FFFFFF"/>
                </a:solidFill>
              </a:rPr>
              <a:t>PSPNet + classical lung segmentation</a:t>
            </a:r>
          </a:p>
          <a:p>
            <a:pPr algn="l" marL="146304" indent="-128016">
              <a:spcAft>
                <a:spcPts val="400"/>
              </a:spcAft>
              <a:buChar char="•"/>
            </a:pPr>
            <a:r>
              <a:rPr sz="1400" b="0">
                <a:solidFill>
                  <a:srgbClr val="FFFFFF"/>
                </a:solidFill>
              </a:rPr>
              <a:t>Measurement screen + DenseNet-121</a:t>
            </a:r>
          </a:p>
          <a:p>
            <a:pPr algn="l" marL="146304" indent="-128016">
              <a:spcAft>
                <a:spcPts val="400"/>
              </a:spcAft>
              <a:buChar char="•"/>
            </a:pPr>
            <a:r>
              <a:rPr sz="1400" b="0">
                <a:solidFill>
                  <a:srgbClr val="FFFFFF"/>
                </a:solidFill>
              </a:rPr>
              <a:t>4 region-specific specialist modules</a:t>
            </a:r>
          </a:p>
        </p:txBody>
      </p:sp>
      <p:sp>
        <p:nvSpPr>
          <p:cNvPr id="7" name="Phase 3"/>
          <p:cNvSpPr/>
          <p:nvPr/>
        </p:nvSpPr>
        <p:spPr>
          <a:xfrm>
            <a:off x="8110727" y="1188720"/>
            <a:ext cx="3566160" cy="22402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lstStyle/>
          <a:p>
            <a:pPr algn="l">
              <a:spcAft>
                <a:spcPts val="800"/>
              </a:spcAft>
            </a:pPr>
            <a:r>
              <a:rPr sz="1400" b="1">
                <a:solidFill>
                  <a:srgbClr val="FFFFFF"/>
                </a:solidFill>
              </a:rPr>
              <a:t>Phase 3 — Adaptive Routing ✓</a:t>
            </a:r>
          </a:p>
          <a:p>
            <a:pPr algn="l" marL="146304" indent="-128016">
              <a:spcAft>
                <a:spcPts val="400"/>
              </a:spcAft>
              <a:buChar char="•"/>
            </a:pPr>
            <a:r>
              <a:rPr sz="1400" b="0">
                <a:solidFill>
                  <a:srgbClr val="FFFFFF"/>
                </a:solidFill>
              </a:rPr>
              <a:t>Context thresholds + early exit</a:t>
            </a:r>
          </a:p>
          <a:p>
            <a:pPr algn="l" marL="146304" indent="-128016">
              <a:spcAft>
                <a:spcPts val="400"/>
              </a:spcAft>
              <a:buChar char="•"/>
            </a:pPr>
            <a:r>
              <a:rPr sz="1400" b="0">
                <a:solidFill>
                  <a:srgbClr val="FFFFFF"/>
                </a:solidFill>
              </a:rPr>
              <a:t>Test-time augmentation confidence</a:t>
            </a:r>
          </a:p>
          <a:p>
            <a:pPr algn="l" marL="146304" indent="-128016">
              <a:spcAft>
                <a:spcPts val="400"/>
              </a:spcAft>
              <a:buChar char="•"/>
            </a:pPr>
            <a:r>
              <a:rPr sz="1400" b="0">
                <a:solidFill>
                  <a:srgbClr val="FFFFFF"/>
                </a:solidFill>
              </a:rPr>
              <a:t>Abstention + temperature scaling</a:t>
            </a:r>
          </a:p>
        </p:txBody>
      </p:sp>
      <p:sp>
        <p:nvSpPr>
          <p:cNvPr id="8" name="Phase 4"/>
          <p:cNvSpPr/>
          <p:nvPr/>
        </p:nvSpPr>
        <p:spPr>
          <a:xfrm>
            <a:off x="2404872" y="3840480"/>
            <a:ext cx="3566160" cy="22402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lstStyle/>
          <a:p>
            <a:pPr algn="l">
              <a:spcAft>
                <a:spcPts val="800"/>
              </a:spcAft>
            </a:pPr>
            <a:r>
              <a:rPr sz="1400" b="1">
                <a:solidFill>
                  <a:srgbClr val="FFFFFF"/>
                </a:solidFill>
              </a:rPr>
              <a:t>Phase 4 — Doctor Interface ✓</a:t>
            </a:r>
          </a:p>
          <a:p>
            <a:pPr algn="l" marL="146304" indent="-128016">
              <a:spcAft>
                <a:spcPts val="400"/>
              </a:spcAft>
              <a:buChar char="•"/>
            </a:pPr>
            <a:r>
              <a:rPr sz="1400" b="0">
                <a:solidFill>
                  <a:srgbClr val="FFFFFF"/>
                </a:solidFill>
              </a:rPr>
              <a:t>Doctor-chosen support modes</a:t>
            </a:r>
          </a:p>
          <a:p>
            <a:pPr algn="l" marL="146304" indent="-128016">
              <a:spcAft>
                <a:spcPts val="400"/>
              </a:spcAft>
              <a:buChar char="•"/>
            </a:pPr>
            <a:r>
              <a:rPr sz="1400" b="0">
                <a:solidFill>
                  <a:srgbClr val="FFFFFF"/>
                </a:solidFill>
              </a:rPr>
              <a:t>Recommendations + draft report (GenAI)</a:t>
            </a:r>
          </a:p>
          <a:p>
            <a:pPr algn="l" marL="146304" indent="-128016">
              <a:spcAft>
                <a:spcPts val="400"/>
              </a:spcAft>
              <a:buChar char="•"/>
            </a:pPr>
            <a:r>
              <a:rPr sz="1400" b="0">
                <a:solidFill>
                  <a:srgbClr val="FFFFFF"/>
                </a:solidFill>
              </a:rPr>
              <a:t>Feedback-trained ML, audit, bias reduction</a:t>
            </a:r>
          </a:p>
        </p:txBody>
      </p:sp>
      <p:sp>
        <p:nvSpPr>
          <p:cNvPr id="9" name="Phase 5"/>
          <p:cNvSpPr/>
          <p:nvPr/>
        </p:nvSpPr>
        <p:spPr>
          <a:xfrm>
            <a:off x="6208776" y="3840480"/>
            <a:ext cx="3566160" cy="22402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lstStyle/>
          <a:p>
            <a:pPr algn="l">
              <a:spcAft>
                <a:spcPts val="800"/>
              </a:spcAft>
            </a:pPr>
            <a:r>
              <a:rPr sz="1400" b="1">
                <a:solidFill>
                  <a:srgbClr val="FFFFFF"/>
                </a:solidFill>
              </a:rPr>
              <a:t>Phase 5 — Evaluation ✓ / next</a:t>
            </a:r>
          </a:p>
          <a:p>
            <a:pPr algn="l" marL="146304" indent="-128016">
              <a:spcAft>
                <a:spcPts val="400"/>
              </a:spcAft>
              <a:buChar char="•"/>
            </a:pPr>
            <a:r>
              <a:rPr sz="1400" b="0">
                <a:solidFill>
                  <a:srgbClr val="FFFFFF"/>
                </a:solidFill>
              </a:rPr>
              <a:t>Fixed vs adaptive + Doctor + AI simulation</a:t>
            </a:r>
          </a:p>
          <a:p>
            <a:pPr algn="l" marL="146304" indent="-128016">
              <a:spcAft>
                <a:spcPts val="400"/>
              </a:spcAft>
              <a:buChar char="•"/>
            </a:pPr>
            <a:r>
              <a:rPr sz="1400" b="0">
                <a:solidFill>
                  <a:srgbClr val="FFFFFF"/>
                </a:solidFill>
              </a:rPr>
              <a:t>Real-image check (50 films)</a:t>
            </a:r>
          </a:p>
          <a:p>
            <a:pPr algn="l" marL="146304" indent="-128016">
              <a:spcAft>
                <a:spcPts val="400"/>
              </a:spcAft>
              <a:buChar char="•"/>
            </a:pPr>
            <a:r>
              <a:rPr sz="1400" b="0">
                <a:solidFill>
                  <a:srgbClr val="FFFFFF"/>
                </a:solidFill>
              </a:rPr>
              <a:t>Next: CheXpert + radiologist reader study</a:t>
            </a:r>
          </a:p>
        </p:txBody>
      </p:sp>
    </p:spTree>
    <p:extLst>
      <p:ext uri="{BB962C8B-B14F-4D97-AF65-F5344CB8AC3E}">
        <p14:creationId xmlns:p14="http://schemas.microsoft.com/office/powerpoint/2010/main" val="2320652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9801-AA0D-B824-7D12-7A67D079A7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D55A1B-98BB-4C96-3D46-F7C277642659}"/>
              </a:ext>
            </a:extLst>
          </p:cNvPr>
          <p:cNvSpPr>
            <a:spLocks noGrp="1"/>
          </p:cNvSpPr>
          <p:nvPr>
            <p:ph type="title"/>
          </p:nvPr>
        </p:nvSpPr>
        <p:spPr/>
        <p:txBody>
          <a:bodyPr/>
          <a:lstStyle/>
          <a:p>
            <a:r>
              <a:rPr lang="en-IN" dirty="0"/>
              <a:t>Cost Estimate</a:t>
            </a:r>
            <a:endParaRPr lang="en-US" dirty="0"/>
          </a:p>
        </p:txBody>
      </p:sp>
      <p:pic>
        <p:nvPicPr>
          <p:cNvPr id="4" name="Picture 3">
            <a:extLst>
              <a:ext uri="{FF2B5EF4-FFF2-40B4-BE49-F238E27FC236}">
                <a16:creationId xmlns:a16="http://schemas.microsoft.com/office/drawing/2014/main" id="{3790F702-E452-B943-EB28-AD4E42FBD5A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37301" y="243840"/>
            <a:ext cx="1790699" cy="488373"/>
          </a:xfrm>
          <a:prstGeom prst="rect">
            <a:avLst/>
          </a:prstGeom>
        </p:spPr>
      </p:pic>
      <p:graphicFrame>
        <p:nvGraphicFramePr>
          <p:cNvPr id="5" name="Table 4">
            <a:extLst>
              <a:ext uri="{FF2B5EF4-FFF2-40B4-BE49-F238E27FC236}">
                <a16:creationId xmlns:a16="http://schemas.microsoft.com/office/drawing/2014/main" id="{D28F6EDC-03CE-8F9E-2AFF-F65131DFCF64}"/>
              </a:ext>
            </a:extLst>
          </p:cNvPr>
          <p:cNvGraphicFramePr>
            <a:graphicFrameLocks noGrp="1"/>
          </p:cNvGraphicFramePr>
          <p:nvPr>
            <p:extLst>
              <p:ext uri="{D42A27DB-BD31-4B8C-83A1-F6EECF244321}">
                <p14:modId xmlns:p14="http://schemas.microsoft.com/office/powerpoint/2010/main" val="2845165898"/>
              </p:ext>
            </p:extLst>
          </p:nvPr>
        </p:nvGraphicFramePr>
        <p:xfrm>
          <a:off x="838200" y="1240151"/>
          <a:ext cx="10515600" cy="5258976"/>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1330295969"/>
                    </a:ext>
                  </a:extLst>
                </a:gridCol>
                <a:gridCol w="5257800">
                  <a:extLst>
                    <a:ext uri="{9D8B030D-6E8A-4147-A177-3AD203B41FA5}">
                      <a16:colId xmlns:a16="http://schemas.microsoft.com/office/drawing/2014/main" val="2949657605"/>
                    </a:ext>
                  </a:extLst>
                </a:gridCol>
              </a:tblGrid>
              <a:tr h="657372">
                <a:tc>
                  <a:txBody>
                    <a:bodyPr/>
                    <a:lstStyle/>
                    <a:p>
                      <a:pPr algn="ctr">
                        <a:buNone/>
                      </a:pPr>
                      <a:r>
                        <a:rPr lang="en-IN" b="1" dirty="0"/>
                        <a:t>COMPONENT</a:t>
                      </a:r>
                    </a:p>
                  </a:txBody>
                  <a:tcPr anchor="ctr"/>
                </a:tc>
                <a:tc>
                  <a:txBody>
                    <a:bodyPr/>
                    <a:lstStyle/>
                    <a:p>
                      <a:pPr algn="ctr">
                        <a:buNone/>
                      </a:pPr>
                      <a:r>
                        <a:rPr lang="en-IN" b="1" dirty="0"/>
                        <a:t>ESTIMATED COST</a:t>
                      </a:r>
                    </a:p>
                  </a:txBody>
                  <a:tcPr anchor="ctr"/>
                </a:tc>
                <a:extLst>
                  <a:ext uri="{0D108BD9-81ED-4DB2-BD59-A6C34878D82A}">
                    <a16:rowId xmlns:a16="http://schemas.microsoft.com/office/drawing/2014/main" val="1865946974"/>
                  </a:ext>
                </a:extLst>
              </a:tr>
              <a:tr h="657372">
                <a:tc>
                  <a:txBody>
                    <a:bodyPr/>
                    <a:lstStyle/>
                    <a:p>
                      <a:pPr>
                        <a:buNone/>
                      </a:pPr>
                      <a:r>
                        <a:rPr lang="en-IN"/>
                        <a:t>Public Medical Datasets</a:t>
                      </a:r>
                    </a:p>
                  </a:txBody>
                  <a:tcPr anchor="ctr"/>
                </a:tc>
                <a:tc>
                  <a:txBody>
                    <a:bodyPr/>
                    <a:lstStyle/>
                    <a:p>
                      <a:pPr algn="ctr">
                        <a:buNone/>
                      </a:pPr>
                      <a:r>
                        <a:rPr lang="en-IN"/>
                        <a:t>₹0</a:t>
                      </a:r>
                    </a:p>
                  </a:txBody>
                  <a:tcPr anchor="ctr"/>
                </a:tc>
                <a:extLst>
                  <a:ext uri="{0D108BD9-81ED-4DB2-BD59-A6C34878D82A}">
                    <a16:rowId xmlns:a16="http://schemas.microsoft.com/office/drawing/2014/main" val="2621503680"/>
                  </a:ext>
                </a:extLst>
              </a:tr>
              <a:tr h="657372">
                <a:tc>
                  <a:txBody>
                    <a:bodyPr/>
                    <a:lstStyle/>
                    <a:p>
                      <a:pPr>
                        <a:buNone/>
                      </a:pPr>
                      <a:r>
                        <a:rPr lang="en-IN"/>
                        <a:t>Python / PyQt6 / PyTorch / OpenCV</a:t>
                      </a:r>
                    </a:p>
                  </a:txBody>
                  <a:tcPr anchor="ctr"/>
                </a:tc>
                <a:tc>
                  <a:txBody>
                    <a:bodyPr/>
                    <a:lstStyle/>
                    <a:p>
                      <a:pPr algn="ctr">
                        <a:buNone/>
                      </a:pPr>
                      <a:r>
                        <a:rPr lang="en-IN"/>
                        <a:t>₹0</a:t>
                      </a:r>
                    </a:p>
                  </a:txBody>
                  <a:tcPr anchor="ctr"/>
                </a:tc>
                <a:extLst>
                  <a:ext uri="{0D108BD9-81ED-4DB2-BD59-A6C34878D82A}">
                    <a16:rowId xmlns:a16="http://schemas.microsoft.com/office/drawing/2014/main" val="3982999264"/>
                  </a:ext>
                </a:extLst>
              </a:tr>
              <a:tr h="657372">
                <a:tc>
                  <a:txBody>
                    <a:bodyPr/>
                    <a:lstStyle/>
                    <a:p>
                      <a:pPr>
                        <a:buNone/>
                      </a:pPr>
                      <a:r>
                        <a:rPr lang="en-IN"/>
                        <a:t>RAG &amp; Open-Source Models</a:t>
                      </a:r>
                    </a:p>
                  </a:txBody>
                  <a:tcPr anchor="ctr"/>
                </a:tc>
                <a:tc>
                  <a:txBody>
                    <a:bodyPr/>
                    <a:lstStyle/>
                    <a:p>
                      <a:pPr algn="ctr">
                        <a:buNone/>
                      </a:pPr>
                      <a:r>
                        <a:rPr lang="en-IN"/>
                        <a:t>₹0</a:t>
                      </a:r>
                    </a:p>
                  </a:txBody>
                  <a:tcPr anchor="ctr"/>
                </a:tc>
                <a:extLst>
                  <a:ext uri="{0D108BD9-81ED-4DB2-BD59-A6C34878D82A}">
                    <a16:rowId xmlns:a16="http://schemas.microsoft.com/office/drawing/2014/main" val="1646117474"/>
                  </a:ext>
                </a:extLst>
              </a:tr>
              <a:tr h="657372">
                <a:tc>
                  <a:txBody>
                    <a:bodyPr/>
                    <a:lstStyle/>
                    <a:p>
                      <a:pPr>
                        <a:buNone/>
                      </a:pPr>
                      <a:r>
                        <a:rPr lang="en-IN"/>
                        <a:t>Development Tools</a:t>
                      </a:r>
                    </a:p>
                  </a:txBody>
                  <a:tcPr anchor="ctr"/>
                </a:tc>
                <a:tc>
                  <a:txBody>
                    <a:bodyPr/>
                    <a:lstStyle/>
                    <a:p>
                      <a:pPr algn="ctr">
                        <a:buNone/>
                      </a:pPr>
                      <a:r>
                        <a:rPr lang="en-IN"/>
                        <a:t>₹0</a:t>
                      </a:r>
                    </a:p>
                  </a:txBody>
                  <a:tcPr anchor="ctr"/>
                </a:tc>
                <a:extLst>
                  <a:ext uri="{0D108BD9-81ED-4DB2-BD59-A6C34878D82A}">
                    <a16:rowId xmlns:a16="http://schemas.microsoft.com/office/drawing/2014/main" val="2586647805"/>
                  </a:ext>
                </a:extLst>
              </a:tr>
              <a:tr h="657372">
                <a:tc>
                  <a:txBody>
                    <a:bodyPr/>
                    <a:lstStyle/>
                    <a:p>
                      <a:pPr>
                        <a:buNone/>
                      </a:pPr>
                      <a:r>
                        <a:rPr lang="en-IN"/>
                        <a:t>Local/College Computing</a:t>
                      </a:r>
                    </a:p>
                  </a:txBody>
                  <a:tcPr anchor="ctr"/>
                </a:tc>
                <a:tc>
                  <a:txBody>
                    <a:bodyPr/>
                    <a:lstStyle/>
                    <a:p>
                      <a:pPr algn="ctr">
                        <a:buNone/>
                      </a:pPr>
                      <a:r>
                        <a:rPr lang="en-IN"/>
                        <a:t>₹0</a:t>
                      </a:r>
                    </a:p>
                  </a:txBody>
                  <a:tcPr anchor="ctr"/>
                </a:tc>
                <a:extLst>
                  <a:ext uri="{0D108BD9-81ED-4DB2-BD59-A6C34878D82A}">
                    <a16:rowId xmlns:a16="http://schemas.microsoft.com/office/drawing/2014/main" val="907226726"/>
                  </a:ext>
                </a:extLst>
              </a:tr>
              <a:tr h="657372">
                <a:tc>
                  <a:txBody>
                    <a:bodyPr/>
                    <a:lstStyle/>
                    <a:p>
                      <a:pPr>
                        <a:buNone/>
                      </a:pPr>
                      <a:r>
                        <a:rPr lang="en-IN"/>
                        <a:t>Cloud GPU/API (if required)</a:t>
                      </a:r>
                    </a:p>
                  </a:txBody>
                  <a:tcPr anchor="ctr"/>
                </a:tc>
                <a:tc>
                  <a:txBody>
                    <a:bodyPr/>
                    <a:lstStyle/>
                    <a:p>
                      <a:pPr algn="ctr">
                        <a:buNone/>
                      </a:pPr>
                      <a:r>
                        <a:rPr lang="en-IN"/>
                        <a:t>₹2,000–₹5,000</a:t>
                      </a:r>
                    </a:p>
                  </a:txBody>
                  <a:tcPr anchor="ctr"/>
                </a:tc>
                <a:extLst>
                  <a:ext uri="{0D108BD9-81ED-4DB2-BD59-A6C34878D82A}">
                    <a16:rowId xmlns:a16="http://schemas.microsoft.com/office/drawing/2014/main" val="2973387054"/>
                  </a:ext>
                </a:extLst>
              </a:tr>
              <a:tr h="657372">
                <a:tc>
                  <a:txBody>
                    <a:bodyPr/>
                    <a:lstStyle/>
                    <a:p>
                      <a:pPr>
                        <a:buNone/>
                      </a:pPr>
                      <a:r>
                        <a:rPr lang="en-IN"/>
                        <a:t>Estimated Total</a:t>
                      </a:r>
                    </a:p>
                  </a:txBody>
                  <a:tcPr anchor="ctr"/>
                </a:tc>
                <a:tc>
                  <a:txBody>
                    <a:bodyPr/>
                    <a:lstStyle/>
                    <a:p>
                      <a:pPr algn="ctr">
                        <a:buNone/>
                      </a:pPr>
                      <a:r>
                        <a:rPr lang="en-IN" dirty="0"/>
                        <a:t>₹2,000–₹5,000</a:t>
                      </a:r>
                    </a:p>
                  </a:txBody>
                  <a:tcPr anchor="ctr"/>
                </a:tc>
                <a:extLst>
                  <a:ext uri="{0D108BD9-81ED-4DB2-BD59-A6C34878D82A}">
                    <a16:rowId xmlns:a16="http://schemas.microsoft.com/office/drawing/2014/main" val="724155452"/>
                  </a:ext>
                </a:extLst>
              </a:tr>
            </a:tbl>
          </a:graphicData>
        </a:graphic>
      </p:graphicFrame>
    </p:spTree>
    <p:extLst>
      <p:ext uri="{BB962C8B-B14F-4D97-AF65-F5344CB8AC3E}">
        <p14:creationId xmlns:p14="http://schemas.microsoft.com/office/powerpoint/2010/main" val="989794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DAFA7-DCA6-D27E-CDBE-EF0A2A42DB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BBB954-EDE4-B068-D79B-2162C46BDFE9}"/>
              </a:ext>
            </a:extLst>
          </p:cNvPr>
          <p:cNvSpPr>
            <a:spLocks noGrp="1"/>
          </p:cNvSpPr>
          <p:nvPr>
            <p:ph type="title"/>
          </p:nvPr>
        </p:nvSpPr>
        <p:spPr/>
        <p:txBody>
          <a:bodyPr/>
          <a:lstStyle/>
          <a:p>
            <a:r>
              <a:rPr lang="en-IN" dirty="0"/>
              <a:t>References</a:t>
            </a:r>
            <a:endParaRPr lang="en-US" dirty="0"/>
          </a:p>
        </p:txBody>
      </p:sp>
      <p:sp>
        <p:nvSpPr>
          <p:cNvPr id="3" name="Text Placeholder 2">
            <a:extLst>
              <a:ext uri="{FF2B5EF4-FFF2-40B4-BE49-F238E27FC236}">
                <a16:creationId xmlns:a16="http://schemas.microsoft.com/office/drawing/2014/main" id="{A2637C8F-FB90-6C7F-CECC-4D3E93B7D91A}"/>
              </a:ext>
            </a:extLst>
          </p:cNvPr>
          <p:cNvSpPr>
            <a:spLocks noGrp="1"/>
          </p:cNvSpPr>
          <p:nvPr>
            <p:ph type="body" sz="quarter" idx="11"/>
          </p:nvPr>
        </p:nvSpPr>
        <p:spPr/>
        <p:txBody>
          <a:bodyPr>
            <a:normAutofit fontScale="92500" lnSpcReduction="20000"/>
          </a:bodyPr>
          <a:lstStyle/>
          <a:p>
            <a:pPr lvl="0">
              <a:lnSpc>
                <a:spcPct val="110000"/>
              </a:lnSpc>
            </a:pPr>
            <a:r>
              <a:rPr lang="en-IN" dirty="0" err="1"/>
              <a:t>CheXpert</a:t>
            </a:r>
            <a:r>
              <a:rPr lang="en-IN" dirty="0"/>
              <a:t> – Stanford ML Group</a:t>
            </a:r>
            <a:br>
              <a:rPr lang="en-IN" dirty="0"/>
            </a:br>
            <a:r>
              <a:rPr lang="en-IN" dirty="0" err="1">
                <a:hlinkClick r:id="rId2"/>
              </a:rPr>
              <a:t>CheXpert</a:t>
            </a:r>
            <a:r>
              <a:rPr lang="en-IN" dirty="0">
                <a:hlinkClick r:id="rId2"/>
              </a:rPr>
              <a:t> Dataset &amp; Research</a:t>
            </a:r>
            <a:r>
              <a:rPr lang="en-IN" dirty="0"/>
              <a:t> </a:t>
            </a:r>
          </a:p>
          <a:p>
            <a:pPr lvl="0">
              <a:lnSpc>
                <a:spcPct val="110000"/>
              </a:lnSpc>
            </a:pPr>
            <a:r>
              <a:rPr lang="en-IN" dirty="0"/>
              <a:t>Human-AI Symbiosis in Chest Radiography – Radiology</a:t>
            </a:r>
            <a:br>
              <a:rPr lang="en-IN" dirty="0"/>
            </a:br>
            <a:r>
              <a:rPr lang="en-IN" dirty="0">
                <a:hlinkClick r:id="rId3"/>
              </a:rPr>
              <a:t>Human-AI Symbiosis: Chest Radiography</a:t>
            </a:r>
            <a:r>
              <a:rPr lang="en-IN" dirty="0"/>
              <a:t> </a:t>
            </a:r>
          </a:p>
          <a:p>
            <a:pPr lvl="0">
              <a:lnSpc>
                <a:spcPct val="110000"/>
              </a:lnSpc>
            </a:pPr>
            <a:r>
              <a:rPr lang="en-IN" dirty="0"/>
              <a:t>Human–Machine Partnership for Chest Radiograph Diagnosis</a:t>
            </a:r>
            <a:br>
              <a:rPr lang="en-IN" dirty="0"/>
            </a:br>
            <a:r>
              <a:rPr lang="en-IN" dirty="0">
                <a:hlinkClick r:id="rId4"/>
              </a:rPr>
              <a:t>Human–Machine Partnership Study</a:t>
            </a:r>
            <a:r>
              <a:rPr lang="en-IN" dirty="0"/>
              <a:t> </a:t>
            </a:r>
          </a:p>
          <a:p>
            <a:pPr lvl="0">
              <a:lnSpc>
                <a:spcPct val="110000"/>
              </a:lnSpc>
            </a:pPr>
            <a:r>
              <a:rPr lang="en-IN" dirty="0"/>
              <a:t>AI Explanation Types and Physician Trust – Radiology</a:t>
            </a:r>
            <a:br>
              <a:rPr lang="en-IN" dirty="0"/>
            </a:br>
            <a:r>
              <a:rPr lang="en-IN" dirty="0">
                <a:hlinkClick r:id="rId5"/>
              </a:rPr>
              <a:t>AI Explanations and Physician Trust</a:t>
            </a:r>
            <a:r>
              <a:rPr lang="en-IN" dirty="0"/>
              <a:t> </a:t>
            </a:r>
          </a:p>
          <a:p>
            <a:pPr lvl="0">
              <a:lnSpc>
                <a:spcPct val="110000"/>
              </a:lnSpc>
            </a:pPr>
            <a:r>
              <a:rPr lang="en-IN" dirty="0"/>
              <a:t>Calibration-Based Explainability for Medical Images</a:t>
            </a:r>
            <a:br>
              <a:rPr lang="en-IN" dirty="0"/>
            </a:br>
            <a:r>
              <a:rPr lang="en-IN" dirty="0">
                <a:hlinkClick r:id="rId6"/>
              </a:rPr>
              <a:t>Calibration-Based Counterfactual Explanations</a:t>
            </a:r>
            <a:endParaRPr lang="en-IN" dirty="0"/>
          </a:p>
          <a:p>
            <a:pPr lvl="0">
              <a:lnSpc>
                <a:spcPct val="110000"/>
              </a:lnSpc>
            </a:pPr>
            <a:r>
              <a:rPr lang="en-IN" dirty="0"/>
              <a:t>TorchXRayVision – Cohen et al., MIDL 2022</a:t>
            </a:r>
            <a:br>
              <a:rPr lang="en-IN" dirty="0"/>
            </a:br>
            <a:r>
              <a:rPr lang="en-IN" dirty="0">
                <a:hlinkClick r:id="rId8"/>
              </a:rPr>
              <a:t>TorchXRayVision Library &amp; Models</a:t>
            </a:r>
            <a:r>
              <a:rPr lang="en-IN" dirty="0"/>
              <a:t> </a:t>
            </a:r>
          </a:p>
          <a:p>
            <a:pPr lvl="0">
              <a:lnSpc>
                <a:spcPct val="110000"/>
              </a:lnSpc>
            </a:pPr>
            <a:r>
              <a:rPr lang="en-IN" dirty="0"/>
              <a:t>Fleischner Society 2017 – Incidental Pulmonary Nodules</a:t>
            </a:r>
            <a:br>
              <a:rPr lang="en-IN" dirty="0"/>
            </a:br>
            <a:r>
              <a:rPr lang="en-IN" dirty="0">
                <a:hlinkClick r:id="rId9"/>
              </a:rPr>
              <a:t>Fleischner Nodule Guidelines</a:t>
            </a:r>
            <a:r>
              <a:rPr lang="en-IN" dirty="0"/>
              <a:t> </a:t>
            </a:r>
          </a:p>
          <a:p>
            <a:pPr lvl="0">
              <a:lnSpc>
                <a:spcPct val="110000"/>
              </a:lnSpc>
            </a:pPr>
            <a:r>
              <a:rPr lang="en-IN" dirty="0"/>
              <a:t>Underdiagnosis Bias in Chest X-ray AI – Nature Medicine</a:t>
            </a:r>
            <a:br>
              <a:rPr lang="en-IN" dirty="0"/>
            </a:br>
            <a:r>
              <a:rPr lang="en-IN" dirty="0">
                <a:hlinkClick r:id="rId10"/>
              </a:rPr>
              <a:t>AI Underdiagnosis Bias Study</a:t>
            </a:r>
            <a:r>
              <a:rPr lang="en-IN" dirty="0"/>
              <a:t> </a:t>
            </a:r>
          </a:p>
        </p:txBody>
      </p:sp>
      <p:pic>
        <p:nvPicPr>
          <p:cNvPr id="4" name="Picture 3">
            <a:extLst>
              <a:ext uri="{FF2B5EF4-FFF2-40B4-BE49-F238E27FC236}">
                <a16:creationId xmlns:a16="http://schemas.microsoft.com/office/drawing/2014/main" id="{DC47B609-4A18-EBCA-1B5D-222DC68BD6D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937301" y="243840"/>
            <a:ext cx="1790699" cy="488373"/>
          </a:xfrm>
          <a:prstGeom prst="rect">
            <a:avLst/>
          </a:prstGeom>
        </p:spPr>
      </p:pic>
    </p:spTree>
    <p:extLst>
      <p:ext uri="{BB962C8B-B14F-4D97-AF65-F5344CB8AC3E}">
        <p14:creationId xmlns:p14="http://schemas.microsoft.com/office/powerpoint/2010/main" val="1691867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a:t>
            </a:r>
          </a:p>
        </p:txBody>
      </p:sp>
      <p:sp>
        <p:nvSpPr>
          <p:cNvPr id="3" name="Text Placeholder 2"/>
          <p:cNvSpPr>
            <a:spLocks noGrp="1"/>
          </p:cNvSpPr>
          <p:nvPr>
            <p:ph type="body" sz="quarter" idx="11"/>
          </p:nvPr>
        </p:nvSpPr>
        <p:spPr>
          <a:xfrm>
            <a:off x="499379" y="1240151"/>
            <a:ext cx="11235421" cy="5209810"/>
          </a:xfrm>
        </p:spPr>
        <p:txBody>
          <a:bodyPr>
            <a:normAutofit fontScale="77500" lnSpcReduction="20000"/>
          </a:bodyPr>
          <a:lstStyle/>
          <a:p>
            <a:pPr marL="0" indent="0" algn="just">
              <a:lnSpc>
                <a:spcPct val="120000"/>
              </a:lnSpc>
              <a:buNone/>
            </a:pPr>
            <a:r>
              <a:rPr lang="en-IN" dirty="0"/>
              <a:t>Doctors need different kinds of help, and the right help also depends on urgency and image quality. MEDSCAN is a working Adaptive AI chest X-ray assistant. It checks scan quality first and sends poor films to a human. It screens each scan once and routes only suspicious findings to specialist modules for the heart, pleura, lung zones and nodules. Deep learning (DenseNet-121, PSPNet segmentation) is fused with interpretable measurements. Every finding carries a probability, a confidence, why it may matter and its limits, and the engine abstains when unsure. Each doctor chooses how MEDSCAN helps them - Guided, Concise, Second opinion or Evidence-first - with no assumption about ability. Generative AI drafts a fact-checked report with cited evidence, a recommendation engine proposes next steps, and a machine-learning model retrains on doctors' Accept, Correct and Reject decisions. Decisions are kept in a hash-chained audit trail, patient data is de-identified, and subgroup thresholds reduce bias. Adaptive routing cut analysis time by 50% with no loss of accuracy on our benchmark. In simulation, doctors who used the AI's confidence beat both the AI and their own solo read. On 50 real films, pneumonia sensitivity was 0.80.</a:t>
            </a:r>
          </a:p>
        </p:txBody>
      </p:sp>
    </p:spTree>
    <p:extLst>
      <p:ext uri="{BB962C8B-B14F-4D97-AF65-F5344CB8AC3E}">
        <p14:creationId xmlns:p14="http://schemas.microsoft.com/office/powerpoint/2010/main" val="11026003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D489BA4-5ED2-C4A7-38EE-0082661BE1FD}"/>
              </a:ext>
            </a:extLst>
          </p:cNvPr>
          <p:cNvSpPr>
            <a:spLocks noGrp="1"/>
          </p:cNvSpPr>
          <p:nvPr>
            <p:ph type="title"/>
          </p:nvPr>
        </p:nvSpPr>
        <p:spPr>
          <a:xfrm>
            <a:off x="8456757" y="2772942"/>
            <a:ext cx="3340981" cy="1325563"/>
          </a:xfrm>
        </p:spPr>
        <p:txBody>
          <a:bodyPr>
            <a:normAutofit/>
          </a:bodyPr>
          <a:lstStyle/>
          <a:p>
            <a:pPr algn="r"/>
            <a:r>
              <a:rPr lang="en-US" sz="4000" dirty="0"/>
              <a:t>Thank You</a:t>
            </a:r>
          </a:p>
        </p:txBody>
      </p:sp>
    </p:spTree>
    <p:extLst>
      <p:ext uri="{BB962C8B-B14F-4D97-AF65-F5344CB8AC3E}">
        <p14:creationId xmlns:p14="http://schemas.microsoft.com/office/powerpoint/2010/main" val="2327632174"/>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Stack: ML · DL · Generative AI</a:t>
            </a:r>
          </a:p>
        </p:txBody>
      </p:sp>
      <p:pic>
        <p:nvPicPr>
          <p:cNvPr id="3" name="Picture 2" descr="image.png"/>
          <p:cNvPicPr>
            <a:picLocks noChangeAspect="1"/>
          </p:cNvPicPr>
          <p:nvPr/>
        </p:nvPicPr>
        <p:blipFill>
          <a:blip r:embed="rId2"/>
          <a:stretch>
            <a:fillRect/>
          </a:stretch>
        </p:blipFill>
        <p:spPr>
          <a:xfrm>
            <a:off x="9937301" y="243840"/>
            <a:ext cx="1790699" cy="488373"/>
          </a:xfrm>
          <a:prstGeom prst="rect">
            <a:avLst/>
          </a:prstGeom>
        </p:spPr>
      </p:pic>
      <p:sp>
        <p:nvSpPr>
          <p:cNvPr id="4" name="MACHINE LEARNING head"/>
          <p:cNvSpPr/>
          <p:nvPr/>
        </p:nvSpPr>
        <p:spPr>
          <a:xfrm>
            <a:off x="502920" y="1188720"/>
            <a:ext cx="3621024"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600" b="1">
                <a:solidFill>
                  <a:srgbClr val="FFFFFF"/>
                </a:solidFill>
              </a:rPr>
              <a:t>MACHINE LEARNING</a:t>
            </a:r>
          </a:p>
        </p:txBody>
      </p:sp>
      <p:sp>
        <p:nvSpPr>
          <p:cNvPr id="5" name="MACHINE LEARNING body"/>
          <p:cNvSpPr/>
          <p:nvPr/>
        </p:nvSpPr>
        <p:spPr>
          <a:xfrm>
            <a:off x="502920" y="1847088"/>
            <a:ext cx="3621024" cy="3246120"/>
          </a:xfrm>
          <a:prstGeom prst="roundRect">
            <a:avLst>
              <a:gd name="adj" fmla="val 12000"/>
            </a:avLst>
          </a:prstGeom>
          <a:solidFill>
            <a:srgbClr val="E8F1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marL="146304" indent="-128016">
              <a:spcAft>
                <a:spcPts val="800"/>
              </a:spcAft>
              <a:buChar char="•"/>
            </a:pPr>
            <a:r>
              <a:rPr sz="1500" b="0">
                <a:solidFill>
                  <a:srgbClr val="0E2841"/>
                </a:solidFill>
              </a:rPr>
              <a:t>Feedback-trained logistic model</a:t>
            </a:r>
          </a:p>
          <a:p>
            <a:pPr algn="l" marL="146304" indent="-128016">
              <a:spcAft>
                <a:spcPts val="800"/>
              </a:spcAft>
              <a:buChar char="•"/>
            </a:pPr>
            <a:r>
              <a:rPr sz="1500" b="0">
                <a:solidFill>
                  <a:srgbClr val="0E2841"/>
                </a:solidFill>
              </a:rPr>
              <a:t>Learns from Accept / Correct / Reject / Add</a:t>
            </a:r>
          </a:p>
          <a:p>
            <a:pPr algn="l" marL="146304" indent="-128016">
              <a:spcAft>
                <a:spcPts val="800"/>
              </a:spcAft>
              <a:buChar char="•"/>
            </a:pPr>
            <a:r>
              <a:rPr sz="1500" b="0">
                <a:solidFill>
                  <a:srgbClr val="0E2841"/>
                </a:solidFill>
              </a:rPr>
              <a:t>5-fold cross-validated; retrained at every sign-off</a:t>
            </a:r>
          </a:p>
          <a:p>
            <a:pPr algn="l" marL="146304" indent="-128016">
              <a:spcAft>
                <a:spcPts val="800"/>
              </a:spcAft>
              <a:buChar char="•"/>
            </a:pPr>
            <a:r>
              <a:rPr sz="1500" b="0">
                <a:solidFill>
                  <a:srgbClr val="0E2841"/>
                </a:solidFill>
              </a:rPr>
              <a:t>Calibrated: temperature scaling + subgroup thresholds (bias reduction)</a:t>
            </a:r>
          </a:p>
        </p:txBody>
      </p:sp>
      <p:sp>
        <p:nvSpPr>
          <p:cNvPr id="6" name="DEEP LEARNING head"/>
          <p:cNvSpPr/>
          <p:nvPr/>
        </p:nvSpPr>
        <p:spPr>
          <a:xfrm>
            <a:off x="4306824" y="1188720"/>
            <a:ext cx="3621024"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600" b="1">
                <a:solidFill>
                  <a:srgbClr val="FFFFFF"/>
                </a:solidFill>
              </a:rPr>
              <a:t>DEEP LEARNING</a:t>
            </a:r>
          </a:p>
        </p:txBody>
      </p:sp>
      <p:sp>
        <p:nvSpPr>
          <p:cNvPr id="7" name="DEEP LEARNING body"/>
          <p:cNvSpPr/>
          <p:nvPr/>
        </p:nvSpPr>
        <p:spPr>
          <a:xfrm>
            <a:off x="4306824" y="1847088"/>
            <a:ext cx="3621024" cy="3246120"/>
          </a:xfrm>
          <a:prstGeom prst="roundRect">
            <a:avLst>
              <a:gd name="adj" fmla="val 12000"/>
            </a:avLst>
          </a:prstGeom>
          <a:solidFill>
            <a:srgbClr val="E8F1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marL="146304" indent="-128016">
              <a:spcAft>
                <a:spcPts val="800"/>
              </a:spcAft>
              <a:buChar char="•"/>
            </a:pPr>
            <a:r>
              <a:rPr sz="1500" b="0">
                <a:solidFill>
                  <a:srgbClr val="0E2841"/>
                </a:solidFill>
              </a:rPr>
              <a:t>DenseNet-121 (TorchXRayVision): 18 findings</a:t>
            </a:r>
          </a:p>
          <a:p>
            <a:pPr algn="l" marL="146304" indent="-128016">
              <a:spcAft>
                <a:spcPts val="800"/>
              </a:spcAft>
              <a:buChar char="•"/>
            </a:pPr>
            <a:r>
              <a:rPr sz="1500" b="0">
                <a:solidFill>
                  <a:srgbClr val="0E2841"/>
                </a:solidFill>
              </a:rPr>
              <a:t>PSPNet: lung + heart segmentation</a:t>
            </a:r>
          </a:p>
          <a:p>
            <a:pPr algn="l" marL="146304" indent="-128016">
              <a:spcAft>
                <a:spcPts val="800"/>
              </a:spcAft>
              <a:buChar char="•"/>
            </a:pPr>
            <a:r>
              <a:rPr sz="1500" b="0">
                <a:solidFill>
                  <a:srgbClr val="0E2841"/>
                </a:solidFill>
              </a:rPr>
              <a:t>Grad-CAM heatmaps for routed findings</a:t>
            </a:r>
          </a:p>
          <a:p>
            <a:pPr algn="l" marL="146304" indent="-128016">
              <a:spcAft>
                <a:spcPts val="800"/>
              </a:spcAft>
              <a:buChar char="•"/>
            </a:pPr>
            <a:r>
              <a:rPr sz="1500" b="0">
                <a:solidFill>
                  <a:srgbClr val="0E2841"/>
                </a:solidFill>
              </a:rPr>
              <a:t>Fused with measurements (CTR, zones, angles)</a:t>
            </a:r>
          </a:p>
        </p:txBody>
      </p:sp>
      <p:sp>
        <p:nvSpPr>
          <p:cNvPr id="8" name="GENERATIVE AI head"/>
          <p:cNvSpPr/>
          <p:nvPr/>
        </p:nvSpPr>
        <p:spPr>
          <a:xfrm>
            <a:off x="8110728" y="1188720"/>
            <a:ext cx="3621024"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600" b="1">
                <a:solidFill>
                  <a:srgbClr val="FFFFFF"/>
                </a:solidFill>
              </a:rPr>
              <a:t>GENERATIVE AI</a:t>
            </a:r>
          </a:p>
        </p:txBody>
      </p:sp>
      <p:sp>
        <p:nvSpPr>
          <p:cNvPr id="9" name="GENERATIVE AI body"/>
          <p:cNvSpPr/>
          <p:nvPr/>
        </p:nvSpPr>
        <p:spPr>
          <a:xfrm>
            <a:off x="8110728" y="1847088"/>
            <a:ext cx="3621024" cy="3246120"/>
          </a:xfrm>
          <a:prstGeom prst="roundRect">
            <a:avLst>
              <a:gd name="adj" fmla="val 12000"/>
            </a:avLst>
          </a:prstGeom>
          <a:solidFill>
            <a:srgbClr val="E8F1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marL="146304" indent="-128016">
              <a:spcAft>
                <a:spcPts val="800"/>
              </a:spcAft>
              <a:buChar char="•"/>
            </a:pPr>
            <a:r>
              <a:rPr sz="1500" b="0">
                <a:solidFill>
                  <a:srgbClr val="0E2841"/>
                </a:solidFill>
              </a:rPr>
              <a:t>Draft radiology report: findings, impression, next steps</a:t>
            </a:r>
          </a:p>
          <a:p>
            <a:pPr algn="l" marL="146304" indent="-128016">
              <a:spcAft>
                <a:spcPts val="800"/>
              </a:spcAft>
              <a:buChar char="•"/>
            </a:pPr>
            <a:r>
              <a:rPr sz="1500" b="0">
                <a:solidFill>
                  <a:srgbClr val="0E2841"/>
                </a:solidFill>
              </a:rPr>
              <a:t>Medical RAG: cited guideline passages</a:t>
            </a:r>
          </a:p>
          <a:p>
            <a:pPr algn="l" marL="146304" indent="-128016">
              <a:spcAft>
                <a:spcPts val="800"/>
              </a:spcAft>
              <a:buChar char="•"/>
            </a:pPr>
            <a:r>
              <a:rPr sz="1500" b="0">
                <a:solidFill>
                  <a:srgbClr val="0E2841"/>
                </a:solidFill>
              </a:rPr>
              <a:t>Explanation depth set by the doctor's chosen mode</a:t>
            </a:r>
          </a:p>
          <a:p>
            <a:pPr algn="l" marL="146304" indent="-128016">
              <a:spcAft>
                <a:spcPts val="800"/>
              </a:spcAft>
              <a:buChar char="•"/>
            </a:pPr>
            <a:r>
              <a:rPr sz="1500" b="0">
                <a:solidFill>
                  <a:srgbClr val="0E2841"/>
                </a:solidFill>
              </a:rPr>
              <a:t>Fact-checked: invented numbers or findings are rejected</a:t>
            </a:r>
          </a:p>
        </p:txBody>
      </p:sp>
      <p:sp>
        <p:nvSpPr>
          <p:cNvPr id="10" name="Stack flow"/>
          <p:cNvSpPr/>
          <p:nvPr/>
        </p:nvSpPr>
        <p:spPr>
          <a:xfrm>
            <a:off x="502920" y="5303520"/>
            <a:ext cx="11155680"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54864" bIns="54864"/>
          <a:lstStyle/>
          <a:p>
            <a:pPr algn="l"/>
            <a:r>
              <a:rPr sz="1500" b="1">
                <a:solidFill>
                  <a:srgbClr val="0E2841"/>
                </a:solidFill>
              </a:rPr>
              <a:t>Recommendation engine</a:t>
            </a:r>
            <a:r>
              <a:rPr sz="1500" b="0">
                <a:solidFill>
                  <a:srgbClr val="0E2841"/>
                </a:solidFill>
              </a:rPr>
              <a:t> on top: urgency tier, next test, follow-up and referral per finding, adjusted for confidence, nodule size, clinical context and patterns across findings (e.g. cardiomegaly + effusion → one heart-failure work-up).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Prototype Results</a:t>
            </a:r>
          </a:p>
        </p:txBody>
      </p:sp>
      <p:pic>
        <p:nvPicPr>
          <p:cNvPr id="3" name="Picture 2" descr="image.png"/>
          <p:cNvPicPr>
            <a:picLocks noChangeAspect="1"/>
          </p:cNvPicPr>
          <p:nvPr/>
        </p:nvPicPr>
        <p:blipFill>
          <a:blip r:embed="rId2"/>
          <a:stretch>
            <a:fillRect/>
          </a:stretch>
        </p:blipFill>
        <p:spPr>
          <a:xfrm>
            <a:off x="9937301" y="243840"/>
            <a:ext cx="1790699" cy="488373"/>
          </a:xfrm>
          <a:prstGeom prst="rect">
            <a:avLst/>
          </a:prstGeom>
        </p:spPr>
      </p:pic>
      <p:graphicFrame>
        <p:nvGraphicFramePr>
          <p:cNvPr id="4" name="Chart 3"/>
          <p:cNvGraphicFramePr>
            <a:graphicFrameLocks noGrp="1"/>
          </p:cNvGraphicFramePr>
          <p:nvPr/>
        </p:nvGraphicFramePr>
        <p:xfrm>
          <a:off x="502920" y="1143000"/>
          <a:ext cx="6675120" cy="4663440"/>
        </p:xfrm>
        <a:graphic>
          <a:graphicData uri="http://schemas.openxmlformats.org/drawingml/2006/chart">
            <c:chart xmlns:c="http://schemas.openxmlformats.org/drawingml/2006/chart" r:id="rId3"/>
          </a:graphicData>
        </a:graphic>
      </p:graphicFrame>
      <p:sp>
        <p:nvSpPr>
          <p:cNvPr id="5" name="Stat 1"/>
          <p:cNvSpPr/>
          <p:nvPr/>
        </p:nvSpPr>
        <p:spPr>
          <a:xfrm>
            <a:off x="7543800" y="1188720"/>
            <a:ext cx="2011680" cy="1737360"/>
          </a:xfrm>
          <a:prstGeom prst="roundRect">
            <a:avLst>
              <a:gd name="adj" fmla="val 12000"/>
            </a:avLst>
          </a:prstGeom>
          <a:solidFill>
            <a:srgbClr val="E8F1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3200" b="1">
                <a:solidFill>
                  <a:schemeClr val="accent1"/>
                </a:solidFill>
              </a:rPr>
              <a:t>−50%</a:t>
            </a:r>
          </a:p>
          <a:p>
            <a:pPr algn="ctr"/>
            <a:r>
              <a:rPr sz="1300" b="0">
                <a:solidFill>
                  <a:srgbClr val="0E2841"/>
                </a:solidFill>
              </a:rPr>
              <a:t>analysis time</a:t>
            </a:r>
          </a:p>
        </p:txBody>
      </p:sp>
      <p:sp>
        <p:nvSpPr>
          <p:cNvPr id="6" name="Stat 2"/>
          <p:cNvSpPr/>
          <p:nvPr/>
        </p:nvSpPr>
        <p:spPr>
          <a:xfrm>
            <a:off x="9646920" y="1188720"/>
            <a:ext cx="2011680" cy="1737360"/>
          </a:xfrm>
          <a:prstGeom prst="roundRect">
            <a:avLst>
              <a:gd name="adj" fmla="val 12000"/>
            </a:avLst>
          </a:prstGeom>
          <a:solidFill>
            <a:srgbClr val="E8F1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3200" b="1">
                <a:solidFill>
                  <a:schemeClr val="accent1"/>
                </a:solidFill>
              </a:rPr>
              <a:t>−75%</a:t>
            </a:r>
          </a:p>
          <a:p>
            <a:pPr algn="ctr"/>
            <a:r>
              <a:rPr sz="1300" b="0">
                <a:solidFill>
                  <a:srgbClr val="0E2841"/>
                </a:solidFill>
              </a:rPr>
              <a:t>specialist modules &amp; model calls</a:t>
            </a:r>
          </a:p>
        </p:txBody>
      </p:sp>
      <p:sp>
        <p:nvSpPr>
          <p:cNvPr id="7" name="Stat 3"/>
          <p:cNvSpPr/>
          <p:nvPr/>
        </p:nvSpPr>
        <p:spPr>
          <a:xfrm>
            <a:off x="7543800" y="3063239"/>
            <a:ext cx="2011680" cy="1737360"/>
          </a:xfrm>
          <a:prstGeom prst="roundRect">
            <a:avLst>
              <a:gd name="adj" fmla="val 12000"/>
            </a:avLst>
          </a:prstGeom>
          <a:solidFill>
            <a:srgbClr val="E8F1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3200" b="1">
                <a:solidFill>
                  <a:schemeClr val="accent1"/>
                </a:solidFill>
              </a:rPr>
              <a:t>1.00</a:t>
            </a:r>
          </a:p>
          <a:p>
            <a:pPr algn="ctr"/>
            <a:r>
              <a:rPr sz="1300" b="0">
                <a:solidFill>
                  <a:srgbClr val="0E2841"/>
                </a:solidFill>
              </a:rPr>
              <a:t>sensitivity &amp; specificity – unchanged</a:t>
            </a:r>
          </a:p>
        </p:txBody>
      </p:sp>
      <p:sp>
        <p:nvSpPr>
          <p:cNvPr id="8" name="Stat 4"/>
          <p:cNvSpPr/>
          <p:nvPr/>
        </p:nvSpPr>
        <p:spPr>
          <a:xfrm>
            <a:off x="9646920" y="3063239"/>
            <a:ext cx="2011680" cy="1737360"/>
          </a:xfrm>
          <a:prstGeom prst="roundRect">
            <a:avLst>
              <a:gd name="adj" fmla="val 12000"/>
            </a:avLst>
          </a:prstGeom>
          <a:solidFill>
            <a:srgbClr val="E8F1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3200" b="1">
                <a:solidFill>
                  <a:schemeClr val="accent1"/>
                </a:solidFill>
              </a:rPr>
              <a:t>24%</a:t>
            </a:r>
          </a:p>
          <a:p>
            <a:pPr algn="ctr"/>
            <a:r>
              <a:rPr sz="1300" b="0">
                <a:solidFill>
                  <a:srgbClr val="0E2841"/>
                </a:solidFill>
              </a:rPr>
              <a:t>scans exit early, no specialist</a:t>
            </a:r>
          </a:p>
        </p:txBody>
      </p:sp>
      <p:sp>
        <p:nvSpPr>
          <p:cNvPr id="9" name="Benchmark note"/>
          <p:cNvSpPr/>
          <p:nvPr/>
        </p:nvSpPr>
        <p:spPr>
          <a:xfrm>
            <a:off x="7543800" y="4983480"/>
            <a:ext cx="411480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54864" bIns="54864"/>
          <a:lstStyle/>
          <a:p>
            <a:pPr algn="l"/>
            <a:r>
              <a:rPr sz="1100" b="0">
                <a:solidFill>
                  <a:srgbClr val="555F6B"/>
                </a:solidFill>
              </a:rPr>
              <a:t>Benchmark: 25 synthetic chest X-ray phantoms with ground truth (6 findings + 3 poor-quality scans), built-in engine. Not clinical performance.</a:t>
            </a:r>
          </a:p>
        </p:txBody>
      </p:sp>
      <p:sp>
        <p:nvSpPr>
          <p:cNvPr id="10" name="Results caption"/>
          <p:cNvSpPr/>
          <p:nvPr/>
        </p:nvSpPr>
        <p:spPr>
          <a:xfrm>
            <a:off x="502920" y="5897880"/>
            <a:ext cx="1115568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54864" bIns="54864"/>
          <a:lstStyle/>
          <a:p>
            <a:pPr algn="l"/>
            <a:r>
              <a:rPr sz="1300" b="1">
                <a:solidFill>
                  <a:srgbClr val="0E2841"/>
                </a:solidFill>
              </a:rPr>
              <a:t>Same scans, same engine – only the router differs. </a:t>
            </a:r>
            <a:r>
              <a:rPr sz="1300" b="0">
                <a:solidFill>
                  <a:srgbClr val="0E2841"/>
                </a:solidFill>
              </a:rPr>
              <a:t>Quality gate caught 3 of 3 poor scans; findings localised to the correct side.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Doctor + AI Results</a:t>
            </a:r>
          </a:p>
        </p:txBody>
      </p:sp>
      <p:pic>
        <p:nvPicPr>
          <p:cNvPr id="3" name="Picture 2" descr="image.png"/>
          <p:cNvPicPr>
            <a:picLocks noChangeAspect="1"/>
          </p:cNvPicPr>
          <p:nvPr/>
        </p:nvPicPr>
        <p:blipFill>
          <a:blip r:embed="rId2"/>
          <a:stretch>
            <a:fillRect/>
          </a:stretch>
        </p:blipFill>
        <p:spPr>
          <a:xfrm>
            <a:off x="9937301" y="243840"/>
            <a:ext cx="1790699" cy="488373"/>
          </a:xfrm>
          <a:prstGeom prst="rect">
            <a:avLst/>
          </a:prstGeom>
        </p:spPr>
      </p:pic>
      <p:graphicFrame>
        <p:nvGraphicFramePr>
          <p:cNvPr id="4" name="Chart 3"/>
          <p:cNvGraphicFramePr>
            <a:graphicFrameLocks noGrp="1"/>
          </p:cNvGraphicFramePr>
          <p:nvPr/>
        </p:nvGraphicFramePr>
        <p:xfrm>
          <a:off x="502920" y="1143000"/>
          <a:ext cx="6675120" cy="4343400"/>
        </p:xfrm>
        <a:graphic>
          <a:graphicData uri="http://schemas.openxmlformats.org/drawingml/2006/chart">
            <c:chart xmlns:c="http://schemas.openxmlformats.org/drawingml/2006/chart" r:id="rId3"/>
          </a:graphicData>
        </a:graphic>
      </p:graphicFrame>
      <p:sp>
        <p:nvSpPr>
          <p:cNvPr id="5" name="Chart caption"/>
          <p:cNvSpPr/>
          <p:nvPr/>
        </p:nvSpPr>
        <p:spPr>
          <a:xfrm>
            <a:off x="502920" y="5532120"/>
            <a:ext cx="66751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54864" bIns="54864"/>
          <a:lstStyle/>
          <a:p>
            <a:pPr algn="l"/>
            <a:r>
              <a:rPr sz="1100" b="0">
                <a:solidFill>
                  <a:srgbClr val="555F6B"/>
                </a:solidFill>
              </a:rPr>
              <a:t>Accuracy · simulated readers who follow the AI only when its confidence ≥ 0.75 · AI at real-world 15% error</a:t>
            </a:r>
          </a:p>
        </p:txBody>
      </p:sp>
      <p:sp>
        <p:nvSpPr>
          <p:cNvPr id="6" name="Team stat 1"/>
          <p:cNvSpPr/>
          <p:nvPr/>
        </p:nvSpPr>
        <p:spPr>
          <a:xfrm>
            <a:off x="7543800" y="1188720"/>
            <a:ext cx="4114800" cy="1097280"/>
          </a:xfrm>
          <a:prstGeom prst="roundRect">
            <a:avLst>
              <a:gd name="adj" fmla="val 12000"/>
            </a:avLst>
          </a:prstGeom>
          <a:solidFill>
            <a:srgbClr val="E8F1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2400" b="1">
                <a:solidFill>
                  <a:schemeClr val="accent1"/>
                </a:solidFill>
              </a:rPr>
              <a:t>0.27 vs 0.86</a:t>
            </a:r>
          </a:p>
          <a:p>
            <a:pPr algn="ctr"/>
            <a:r>
              <a:rPr sz="1200" b="0">
                <a:solidFill>
                  <a:srgbClr val="0E2841"/>
                </a:solidFill>
              </a:rPr>
              <a:t>automation bias: confidence-guided vs over-trusting readers</a:t>
            </a:r>
          </a:p>
        </p:txBody>
      </p:sp>
      <p:sp>
        <p:nvSpPr>
          <p:cNvPr id="7" name="Team stat 2"/>
          <p:cNvSpPr/>
          <p:nvPr/>
        </p:nvSpPr>
        <p:spPr>
          <a:xfrm>
            <a:off x="7543800" y="2395728"/>
            <a:ext cx="4114800" cy="1097280"/>
          </a:xfrm>
          <a:prstGeom prst="roundRect">
            <a:avLst>
              <a:gd name="adj" fmla="val 12000"/>
            </a:avLst>
          </a:prstGeom>
          <a:solidFill>
            <a:srgbClr val="E8F1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2400" b="1">
                <a:solidFill>
                  <a:schemeClr val="accent1"/>
                </a:solidFill>
              </a:rPr>
              <a:t>0.89</a:t>
            </a:r>
          </a:p>
          <a:p>
            <a:pPr algn="ctr"/>
            <a:r>
              <a:rPr sz="1200" b="0">
                <a:solidFill>
                  <a:srgbClr val="0E2841"/>
                </a:solidFill>
              </a:rPr>
              <a:t>rescue rate: doctor errors fixed by a correct AI call</a:t>
            </a:r>
          </a:p>
        </p:txBody>
      </p:sp>
      <p:sp>
        <p:nvSpPr>
          <p:cNvPr id="8" name="Team stat 3"/>
          <p:cNvSpPr/>
          <p:nvPr/>
        </p:nvSpPr>
        <p:spPr>
          <a:xfrm>
            <a:off x="7543800" y="3602736"/>
            <a:ext cx="4114800" cy="1097280"/>
          </a:xfrm>
          <a:prstGeom prst="roundRect">
            <a:avLst>
              <a:gd name="adj" fmla="val 12000"/>
            </a:avLst>
          </a:prstGeom>
          <a:solidFill>
            <a:srgbClr val="E8F1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2400" b="1">
                <a:solidFill>
                  <a:schemeClr val="accent1"/>
                </a:solidFill>
              </a:rPr>
              <a:t>0.80</a:t>
            </a:r>
          </a:p>
          <a:p>
            <a:pPr algn="ctr"/>
            <a:r>
              <a:rPr sz="1200" b="0">
                <a:solidFill>
                  <a:srgbClr val="0E2841"/>
                </a:solidFill>
              </a:rPr>
              <a:t>pneumonia sensitivity on 50 real chest X-rays (AUC 0.74)</a:t>
            </a:r>
          </a:p>
        </p:txBody>
      </p:sp>
      <p:sp>
        <p:nvSpPr>
          <p:cNvPr id="9" name="Team stat 4"/>
          <p:cNvSpPr/>
          <p:nvPr/>
        </p:nvSpPr>
        <p:spPr>
          <a:xfrm>
            <a:off x="7543800" y="4809744"/>
            <a:ext cx="4114800" cy="1097280"/>
          </a:xfrm>
          <a:prstGeom prst="roundRect">
            <a:avLst>
              <a:gd name="adj" fmla="val 12000"/>
            </a:avLst>
          </a:prstGeom>
          <a:solidFill>
            <a:srgbClr val="E8F1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2400" b="1">
                <a:solidFill>
                  <a:schemeClr val="accent1"/>
                </a:solidFill>
              </a:rPr>
              <a:t>49 / 50</a:t>
            </a:r>
          </a:p>
          <a:p>
            <a:pPr algn="ctr"/>
            <a:r>
              <a:rPr sz="1200" b="0">
                <a:solidFill>
                  <a:srgbClr val="0E2841"/>
                </a:solidFill>
              </a:rPr>
              <a:t>real films passed the quality gate after learned segmentation</a:t>
            </a:r>
          </a:p>
        </p:txBody>
      </p:sp>
      <p:sp>
        <p:nvSpPr>
          <p:cNvPr id="10" name="Team note"/>
          <p:cNvSpPr/>
          <p:nvPr/>
        </p:nvSpPr>
        <p:spPr>
          <a:xfrm>
            <a:off x="502920" y="5943600"/>
            <a:ext cx="1115568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54864" bIns="54864"/>
          <a:lstStyle/>
          <a:p>
            <a:pPr algn="l"/>
            <a:r>
              <a:rPr sz="1300" b="1">
                <a:solidFill>
                  <a:srgbClr val="0E2841"/>
                </a:solidFill>
              </a:rPr>
              <a:t>Doctor + AI beats either alone when the doctor uses the AI's confidence; </a:t>
            </a:r>
            <a:r>
              <a:rPr sz="1300" b="0">
                <a:solidFill>
                  <a:srgbClr val="0E2841"/>
                </a:solidFill>
              </a:rPr>
              <a:t>over-trust erases the gain - hence blinded first read and confidence on every finding.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Prototype Screens</a:t>
            </a:r>
          </a:p>
        </p:txBody>
      </p:sp>
      <p:pic>
        <p:nvPicPr>
          <p:cNvPr id="3" name="Picture 2" descr="image.png"/>
          <p:cNvPicPr>
            <a:picLocks noChangeAspect="1"/>
          </p:cNvPicPr>
          <p:nvPr/>
        </p:nvPicPr>
        <p:blipFill>
          <a:blip r:embed="rId2"/>
          <a:stretch>
            <a:fillRect/>
          </a:stretch>
        </p:blipFill>
        <p:spPr>
          <a:xfrm>
            <a:off x="9937301" y="243840"/>
            <a:ext cx="1790699" cy="488373"/>
          </a:xfrm>
          <a:prstGeom prst="rect">
            <a:avLst/>
          </a:prstGeom>
        </p:spPr>
      </p:pic>
      <p:pic>
        <p:nvPicPr>
          <p:cNvPr id="4" name="Picture 3" descr="05b-review-guided.png"/>
          <p:cNvPicPr>
            <a:picLocks noChangeAspect="1"/>
          </p:cNvPicPr>
          <p:nvPr/>
        </p:nvPicPr>
        <p:blipFill>
          <a:blip r:embed="rId3"/>
          <a:stretch>
            <a:fillRect/>
          </a:stretch>
        </p:blipFill>
        <p:spPr>
          <a:xfrm>
            <a:off x="354990" y="1234440"/>
            <a:ext cx="5736539" cy="3383280"/>
          </a:xfrm>
          <a:prstGeom prst="rect">
            <a:avLst/>
          </a:prstGeom>
          <a:ln>
            <a:solidFill>
              <a:srgbClr val="D1D5DB"/>
            </a:solidFill>
          </a:ln>
        </p:spPr>
      </p:pic>
      <p:sp>
        <p:nvSpPr>
          <p:cNvPr id="5" name="Caption 1"/>
          <p:cNvSpPr/>
          <p:nvPr/>
        </p:nvSpPr>
        <p:spPr>
          <a:xfrm>
            <a:off x="502920" y="4709160"/>
            <a:ext cx="5440680"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54864" bIns="54864"/>
          <a:lstStyle/>
          <a:p>
            <a:pPr algn="ctr"/>
            <a:r>
              <a:rPr sz="1300" b="0">
                <a:solidFill>
                  <a:srgbClr val="0E2841"/>
                </a:solidFill>
              </a:rPr>
              <a:t>Review – Guided mode: why it matters, checklist</a:t>
            </a:r>
          </a:p>
        </p:txBody>
      </p:sp>
      <p:pic>
        <p:nvPicPr>
          <p:cNvPr id="6" name="Picture 5" descr="06-dashboard.png"/>
          <p:cNvPicPr>
            <a:picLocks noChangeAspect="1"/>
          </p:cNvPicPr>
          <p:nvPr/>
        </p:nvPicPr>
        <p:blipFill>
          <a:blip r:embed="rId4"/>
          <a:stretch>
            <a:fillRect/>
          </a:stretch>
        </p:blipFill>
        <p:spPr>
          <a:xfrm>
            <a:off x="6113221" y="1234440"/>
            <a:ext cx="5650078" cy="3383280"/>
          </a:xfrm>
          <a:prstGeom prst="rect">
            <a:avLst/>
          </a:prstGeom>
          <a:ln>
            <a:solidFill>
              <a:srgbClr val="D1D5DB"/>
            </a:solidFill>
          </a:ln>
        </p:spPr>
      </p:pic>
      <p:sp>
        <p:nvSpPr>
          <p:cNvPr id="7" name="Caption 2"/>
          <p:cNvSpPr/>
          <p:nvPr/>
        </p:nvSpPr>
        <p:spPr>
          <a:xfrm>
            <a:off x="6217920" y="4709160"/>
            <a:ext cx="5440680"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54864" bIns="54864"/>
          <a:lstStyle/>
          <a:p>
            <a:pPr algn="ctr"/>
            <a:r>
              <a:rPr sz="1300" b="0">
                <a:solidFill>
                  <a:srgbClr val="0E2841"/>
                </a:solidFill>
              </a:rPr>
              <a:t>Dashboard – trend, finding profile, filters</a:t>
            </a:r>
          </a:p>
        </p:txBody>
      </p:sp>
      <p:sp>
        <p:nvSpPr>
          <p:cNvPr id="8" name="Screens note"/>
          <p:cNvSpPr/>
          <p:nvPr/>
        </p:nvSpPr>
        <p:spPr>
          <a:xfrm>
            <a:off x="502920" y="5349240"/>
            <a:ext cx="11155680" cy="1005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54864" bIns="54864"/>
          <a:lstStyle/>
          <a:p>
            <a:pPr algn="l"/>
            <a:r>
              <a:rPr sz="1400" b="1">
                <a:solidFill>
                  <a:srgbClr val="0E2841"/>
                </a:solidFill>
              </a:rPr>
              <a:t>Desktop app (PyQt6): </a:t>
            </a:r>
            <a:r>
              <a:rPr sz="1400" b="0">
                <a:solidFill>
                  <a:srgbClr val="0E2841"/>
                </a:solidFill>
              </a:rPr>
              <a:t>doctor-chosen support modes · live 8-stage pipeline · Accept / Correct / Reject / Question · recommendations and draft report · Doctor + AI simulation · bias reduction · hash-chained audit trail.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321</TotalTime>
  <Words>920</Words>
  <Application>Microsoft Office PowerPoint</Application>
  <PresentationFormat>Widescreen</PresentationFormat>
  <Paragraphs>132</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Calibri</vt:lpstr>
      <vt:lpstr>Office Theme</vt:lpstr>
      <vt:lpstr>PowerPoint Presentation</vt:lpstr>
      <vt:lpstr>Challenge Statement</vt:lpstr>
      <vt:lpstr>Concept / Proposed Solution </vt:lpstr>
      <vt:lpstr>Pros and Cons of the solution</vt:lpstr>
      <vt:lpstr>Technical Description</vt:lpstr>
      <vt:lpstr>Implementation Plan</vt:lpstr>
      <vt:lpstr>Cost Estimate</vt:lpstr>
      <vt:lpstr>References</vt:lpstr>
      <vt:lpstr>Abstract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Pauline Gifty Simon Solomon Raj</dc:creator>
  <cp:lastModifiedBy>VARUN M</cp:lastModifiedBy>
  <cp:revision>57</cp:revision>
  <dcterms:created xsi:type="dcterms:W3CDTF">2025-05-02T07:02:53Z</dcterms:created>
  <dcterms:modified xsi:type="dcterms:W3CDTF">2026-10-03T13:41:38Z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bb46c77-3b58-4101-b463-cd3b3d516e4a_Enabled">
    <vt:lpwstr>true</vt:lpwstr>
  </property>
  <property fmtid="{D5CDD505-2E9C-101B-9397-08002B2CF9AE}" pid="3" name="MSIP_Label_3bb46c77-3b58-4101-b463-cd3b3d516e4a_SetDate">
    <vt:lpwstr>2025-11-10T08:24:40Z</vt:lpwstr>
  </property>
  <property fmtid="{D5CDD505-2E9C-101B-9397-08002B2CF9AE}" pid="4" name="MSIP_Label_3bb46c77-3b58-4101-b463-cd3b3d516e4a_Method">
    <vt:lpwstr>Privileged</vt:lpwstr>
  </property>
  <property fmtid="{D5CDD505-2E9C-101B-9397-08002B2CF9AE}" pid="5" name="MSIP_Label_3bb46c77-3b58-4101-b463-cd3b3d516e4a_Name">
    <vt:lpwstr>Non-Business</vt:lpwstr>
  </property>
  <property fmtid="{D5CDD505-2E9C-101B-9397-08002B2CF9AE}" pid="6" name="MSIP_Label_3bb46c77-3b58-4101-b463-cd3b3d516e4a_SiteId">
    <vt:lpwstr>311b3378-8e8a-4b5e-a33f-e80a3d8ba60a</vt:lpwstr>
  </property>
  <property fmtid="{D5CDD505-2E9C-101B-9397-08002B2CF9AE}" pid="7" name="MSIP_Label_3bb46c77-3b58-4101-b463-cd3b3d516e4a_ActionId">
    <vt:lpwstr>32140557-dc45-4034-95f2-51fdd23dee9d</vt:lpwstr>
  </property>
  <property fmtid="{D5CDD505-2E9C-101B-9397-08002B2CF9AE}" pid="8" name="MSIP_Label_3bb46c77-3b58-4101-b463-cd3b3d516e4a_ContentBits">
    <vt:lpwstr>0</vt:lpwstr>
  </property>
  <property fmtid="{D5CDD505-2E9C-101B-9397-08002B2CF9AE}" pid="9" name="MSIP_Label_3bb46c77-3b58-4101-b463-cd3b3d516e4a_Tag">
    <vt:lpwstr>10, 0, 1, 1</vt:lpwstr>
  </property>
</Properties>
</file>